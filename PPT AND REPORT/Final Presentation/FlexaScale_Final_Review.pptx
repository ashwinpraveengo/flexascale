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 id="2147483660" r:id="rId2"/>
  </p:sldMasterIdLst>
  <p:notesMasterIdLst>
    <p:notesMasterId r:id="rId22"/>
  </p:notesMasterIdLst>
  <p:sldIdLst>
    <p:sldId id="261" r:id="rId3"/>
    <p:sldId id="328" r:id="rId4"/>
    <p:sldId id="329" r:id="rId5"/>
    <p:sldId id="330" r:id="rId6"/>
    <p:sldId id="339" r:id="rId7"/>
    <p:sldId id="331" r:id="rId8"/>
    <p:sldId id="346" r:id="rId27"/>
    <p:sldId id="332" r:id="rId9"/>
    <p:sldId id="333" r:id="rId10"/>
    <p:sldId id="334" r:id="rId11"/>
    <p:sldId id="347" r:id="rId28"/>
    <p:sldId id="335" r:id="rId12"/>
    <p:sldId id="340" r:id="rId13"/>
    <p:sldId id="336" r:id="rId14"/>
    <p:sldId id="350" r:id="rId31"/>
    <p:sldId id="349" r:id="rId30"/>
    <p:sldId id="348" r:id="rId29"/>
    <p:sldId id="341" r:id="rId15"/>
    <p:sldId id="342" r:id="rId16"/>
    <p:sldId id="343" r:id="rId17"/>
    <p:sldId id="344" r:id="rId18"/>
    <p:sldId id="345" r:id="rId19"/>
    <p:sldId id="351" r:id="rId32"/>
    <p:sldId id="337" r:id="rId20"/>
    <p:sldId id="33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2" d="100"/>
          <a:sy n="82" d="100"/>
        </p:scale>
        <p:origin x="49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7.xml"/><Relationship Id="rId28" Type="http://schemas.openxmlformats.org/officeDocument/2006/relationships/slide" Target="slides/slide11.xml"/><Relationship Id="rId29" Type="http://schemas.openxmlformats.org/officeDocument/2006/relationships/slide" Target="slides/slide17.xml"/><Relationship Id="rId30" Type="http://schemas.openxmlformats.org/officeDocument/2006/relationships/slide" Target="slides/slide16.xml"/><Relationship Id="rId31" Type="http://schemas.openxmlformats.org/officeDocument/2006/relationships/slide" Target="slides/slide15.xml"/><Relationship Id="rId32"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Replica-hours</c:v>
                </c:pt>
              </c:strCache>
            </c:strRef>
          </c:tx>
          <c:dPt>
            <c:idx val="0"/>
            <c:spPr>
              <a:solidFill>
                <a:srgbClr val="6B7A8F"/>
              </a:solidFill>
            </c:spPr>
          </c:dPt>
          <c:dPt>
            <c:idx val="1"/>
            <c:spPr>
              <a:solidFill>
                <a:srgbClr val="2A7F62"/>
              </a:solidFill>
            </c:spPr>
          </c:dPt>
          <c:dPt>
            <c:idx val="2"/>
            <c:spPr>
              <a:solidFill>
                <a:srgbClr val="A4123F"/>
              </a:solidFill>
            </c:spPr>
          </c:dPt>
          <c:dPt>
            <c:idx val="3"/>
            <c:spPr>
              <a:solidFill>
                <a:srgbClr val="D9860B"/>
              </a:solidFill>
            </c:spPr>
          </c:dPt>
          <c:cat>
            <c:strRef>
              <c:f>Sheet1!$A$2:$A$5</c:f>
              <c:strCache>
                <c:ptCount val="4"/>
                <c:pt idx="0">
                  <c:v>Default HPA</c:v>
                </c:pt>
                <c:pt idx="1">
                  <c:v>Tuned HPA</c:v>
                </c:pt>
                <c:pt idx="2">
                  <c:v>FlexaScale RL</c:v>
                </c:pt>
                <c:pt idx="3">
                  <c:v>FlexaScale Auto</c:v>
                </c:pt>
              </c:strCache>
            </c:strRef>
          </c:cat>
          <c:val>
            <c:numRef>
              <c:f>Sheet1!$B$2:$B$5</c:f>
              <c:numCache>
                <c:formatCode>General</c:formatCode>
                <c:ptCount val="4"/>
                <c:pt idx="0">
                  <c:v>1.512</c:v>
                </c:pt>
                <c:pt idx="1">
                  <c:v>1.366</c:v>
                </c:pt>
                <c:pt idx="2">
                  <c:v>1.368</c:v>
                </c:pt>
                <c:pt idx="3">
                  <c:v>1.365</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5E7EB"/>
            </a:solidFill>
          </a:ln>
        </c:spPr>
        <c:txPr>
          <a:bodyPr/>
          <a:lstStyle/>
          <a:p>
            <a:pPr>
              <a:defRPr sz="11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100">
          <a:solidFill>
            <a:srgbClr val="222222"/>
          </a:solidFill>
          <a:latin typeface="Georgi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a:solidFill>
                  <a:srgbClr val="6E0B2A"/>
                </a:solidFill>
              </a:rPr>
              <a:t>Total ready replicas (16 services); spike from 75 s to 195 s</a:t>
            </a:r>
          </a:p>
        </c:rich>
      </c:tx>
      <c:layout/>
      <c:overlay val="0"/>
    </c:title>
    <c:plotArea>
      <c:scatterChart>
        <c:scatterStyle val="lineMarker"/>
        <c:varyColors val="0"/>
        <c:ser>
          <c:idx val="0"/>
          <c:order val="0"/>
          <c:tx>
            <c:strRef>
              <c:f>Sheet1!$B$1</c:f>
              <c:strCache>
                <c:ptCount val="1"/>
                <c:pt idx="0">
                  <c:v>Default HPA</c:v>
                </c:pt>
              </c:strCache>
            </c:strRef>
          </c:tx>
          <c:spPr>
            <a:ln w="31750">
              <a:solidFill>
                <a:srgbClr val="6B7A8F"/>
              </a:solidFill>
            </a:ln>
          </c:spPr>
          <c:marker>
            <c:symbol val="none"/>
          </c:marker>
          <c:xVal>
            <c:numRef>
              <c:f>Sheet1!$A$2:$A$64</c:f>
              <c:numCache>
                <c:formatCode>General</c:formatCode>
                <c:ptCount val="63"/>
                <c:pt idx="0">
                  <c:v>0.0</c:v>
                </c:pt>
                <c:pt idx="1">
                  <c:v>5.0</c:v>
                </c:pt>
                <c:pt idx="2">
                  <c:v>10.0</c:v>
                </c:pt>
                <c:pt idx="3">
                  <c:v>15.0</c:v>
                </c:pt>
                <c:pt idx="4">
                  <c:v>20.0</c:v>
                </c:pt>
                <c:pt idx="5">
                  <c:v>25.0</c:v>
                </c:pt>
                <c:pt idx="6">
                  <c:v>30.0</c:v>
                </c:pt>
                <c:pt idx="7">
                  <c:v>35.1</c:v>
                </c:pt>
                <c:pt idx="8">
                  <c:v>40.1</c:v>
                </c:pt>
                <c:pt idx="9">
                  <c:v>45.1</c:v>
                </c:pt>
                <c:pt idx="10">
                  <c:v>50.1</c:v>
                </c:pt>
                <c:pt idx="11">
                  <c:v>55.1</c:v>
                </c:pt>
                <c:pt idx="12">
                  <c:v>60.1</c:v>
                </c:pt>
                <c:pt idx="13">
                  <c:v>65.1</c:v>
                </c:pt>
                <c:pt idx="14">
                  <c:v>70.1</c:v>
                </c:pt>
                <c:pt idx="15">
                  <c:v>75.1</c:v>
                </c:pt>
                <c:pt idx="16">
                  <c:v>80.1</c:v>
                </c:pt>
                <c:pt idx="17">
                  <c:v>85.1</c:v>
                </c:pt>
                <c:pt idx="18">
                  <c:v>90.1</c:v>
                </c:pt>
                <c:pt idx="19">
                  <c:v>95.1</c:v>
                </c:pt>
                <c:pt idx="20">
                  <c:v>100.1</c:v>
                </c:pt>
                <c:pt idx="21">
                  <c:v>105.2</c:v>
                </c:pt>
                <c:pt idx="22">
                  <c:v>110.2</c:v>
                </c:pt>
                <c:pt idx="23">
                  <c:v>115.2</c:v>
                </c:pt>
                <c:pt idx="24">
                  <c:v>120.2</c:v>
                </c:pt>
                <c:pt idx="25">
                  <c:v>125.2</c:v>
                </c:pt>
                <c:pt idx="26">
                  <c:v>130.2</c:v>
                </c:pt>
                <c:pt idx="27">
                  <c:v>135.2</c:v>
                </c:pt>
                <c:pt idx="28">
                  <c:v>140.2</c:v>
                </c:pt>
                <c:pt idx="29">
                  <c:v>145.2</c:v>
                </c:pt>
                <c:pt idx="30">
                  <c:v>150.2</c:v>
                </c:pt>
                <c:pt idx="31">
                  <c:v>155.2</c:v>
                </c:pt>
                <c:pt idx="32">
                  <c:v>160.2</c:v>
                </c:pt>
                <c:pt idx="33">
                  <c:v>165.2</c:v>
                </c:pt>
                <c:pt idx="34">
                  <c:v>170.2</c:v>
                </c:pt>
                <c:pt idx="35">
                  <c:v>175.2</c:v>
                </c:pt>
                <c:pt idx="36">
                  <c:v>180.3</c:v>
                </c:pt>
                <c:pt idx="37">
                  <c:v>185.3</c:v>
                </c:pt>
                <c:pt idx="38">
                  <c:v>190.3</c:v>
                </c:pt>
                <c:pt idx="39">
                  <c:v>195.3</c:v>
                </c:pt>
                <c:pt idx="40">
                  <c:v>200.3</c:v>
                </c:pt>
                <c:pt idx="41">
                  <c:v>205.3</c:v>
                </c:pt>
                <c:pt idx="42">
                  <c:v>210.3</c:v>
                </c:pt>
                <c:pt idx="43">
                  <c:v>215.3</c:v>
                </c:pt>
                <c:pt idx="44">
                  <c:v>220.3</c:v>
                </c:pt>
                <c:pt idx="45">
                  <c:v>225.3</c:v>
                </c:pt>
                <c:pt idx="46">
                  <c:v>230.3</c:v>
                </c:pt>
                <c:pt idx="47">
                  <c:v>235.3</c:v>
                </c:pt>
                <c:pt idx="48">
                  <c:v>240.3</c:v>
                </c:pt>
                <c:pt idx="49">
                  <c:v>245.4</c:v>
                </c:pt>
                <c:pt idx="50">
                  <c:v>250.4</c:v>
                </c:pt>
                <c:pt idx="51">
                  <c:v>255.4</c:v>
                </c:pt>
                <c:pt idx="52">
                  <c:v>260.4</c:v>
                </c:pt>
                <c:pt idx="53">
                  <c:v>265.4</c:v>
                </c:pt>
                <c:pt idx="54">
                  <c:v>270.4</c:v>
                </c:pt>
                <c:pt idx="55">
                  <c:v>275.4</c:v>
                </c:pt>
                <c:pt idx="56">
                  <c:v>280.4</c:v>
                </c:pt>
                <c:pt idx="57">
                  <c:v>285.4</c:v>
                </c:pt>
                <c:pt idx="58">
                  <c:v>290.4</c:v>
                </c:pt>
                <c:pt idx="59">
                  <c:v>295.4</c:v>
                </c:pt>
                <c:pt idx="60">
                  <c:v>300.4</c:v>
                </c:pt>
                <c:pt idx="61">
                  <c:v>305.4</c:v>
                </c:pt>
                <c:pt idx="62">
                  <c:v>306.0</c:v>
                </c:pt>
              </c:numCache>
            </c:numRef>
          </c:xVal>
          <c:yVal>
            <c:numRef>
              <c:f>Sheet1!$B$2:$B$64</c:f>
              <c:numCache>
                <c:formatCode>General</c:formatCode>
                <c:ptCount val="63"/>
                <c:pt idx="0">
                  <c:v>16</c:v>
                </c:pt>
                <c:pt idx="1">
                  <c:v>16</c:v>
                </c:pt>
                <c:pt idx="2">
                  <c:v>16</c:v>
                </c:pt>
                <c:pt idx="3">
                  <c:v>16</c:v>
                </c:pt>
                <c:pt idx="4">
                  <c:v>16</c:v>
                </c:pt>
                <c:pt idx="5">
                  <c:v>16</c:v>
                </c:pt>
                <c:pt idx="6">
                  <c:v>16</c:v>
                </c:pt>
                <c:pt idx="7">
                  <c:v>16</c:v>
                </c:pt>
                <c:pt idx="8">
                  <c:v>16</c:v>
                </c:pt>
                <c:pt idx="9">
                  <c:v>16</c:v>
                </c:pt>
                <c:pt idx="10">
                  <c:v>16</c:v>
                </c:pt>
                <c:pt idx="11">
                  <c:v>16</c:v>
                </c:pt>
                <c:pt idx="12">
                  <c:v>16</c:v>
                </c:pt>
                <c:pt idx="13">
                  <c:v>16</c:v>
                </c:pt>
                <c:pt idx="14">
                  <c:v>16</c:v>
                </c:pt>
                <c:pt idx="15">
                  <c:v>17</c:v>
                </c:pt>
                <c:pt idx="16">
                  <c:v>17</c:v>
                </c:pt>
                <c:pt idx="17">
                  <c:v>17</c:v>
                </c:pt>
                <c:pt idx="18">
                  <c:v>17</c:v>
                </c:pt>
                <c:pt idx="19">
                  <c:v>17</c:v>
                </c:pt>
                <c:pt idx="20">
                  <c:v>17</c:v>
                </c:pt>
                <c:pt idx="21">
                  <c:v>17</c:v>
                </c:pt>
                <c:pt idx="22">
                  <c:v>17</c:v>
                </c:pt>
                <c:pt idx="23">
                  <c:v>17</c:v>
                </c:pt>
                <c:pt idx="24">
                  <c:v>17</c:v>
                </c:pt>
                <c:pt idx="25">
                  <c:v>17</c:v>
                </c:pt>
                <c:pt idx="26">
                  <c:v>17</c:v>
                </c:pt>
                <c:pt idx="27">
                  <c:v>17</c:v>
                </c:pt>
                <c:pt idx="28">
                  <c:v>17</c:v>
                </c:pt>
                <c:pt idx="29">
                  <c:v>24</c:v>
                </c:pt>
                <c:pt idx="30">
                  <c:v>24</c:v>
                </c:pt>
                <c:pt idx="31">
                  <c:v>24</c:v>
                </c:pt>
                <c:pt idx="32">
                  <c:v>24</c:v>
                </c:pt>
                <c:pt idx="33">
                  <c:v>24</c:v>
                </c:pt>
                <c:pt idx="34">
                  <c:v>24</c:v>
                </c:pt>
                <c:pt idx="35">
                  <c:v>24</c:v>
                </c:pt>
                <c:pt idx="36">
                  <c:v>24</c:v>
                </c:pt>
                <c:pt idx="37">
                  <c:v>24</c:v>
                </c:pt>
                <c:pt idx="38">
                  <c:v>24</c:v>
                </c:pt>
                <c:pt idx="39">
                  <c:v>27</c:v>
                </c:pt>
                <c:pt idx="40">
                  <c:v>27</c:v>
                </c:pt>
                <c:pt idx="41">
                  <c:v>27</c:v>
                </c:pt>
                <c:pt idx="42">
                  <c:v>27</c:v>
                </c:pt>
                <c:pt idx="43">
                  <c:v>27</c:v>
                </c:pt>
                <c:pt idx="44">
                  <c:v>27</c:v>
                </c:pt>
                <c:pt idx="45">
                  <c:v>27</c:v>
                </c:pt>
                <c:pt idx="46">
                  <c:v>27</c:v>
                </c:pt>
                <c:pt idx="47">
                  <c:v>27</c:v>
                </c:pt>
                <c:pt idx="48">
                  <c:v>27</c:v>
                </c:pt>
                <c:pt idx="49">
                  <c:v>27</c:v>
                </c:pt>
                <c:pt idx="50">
                  <c:v>27</c:v>
                </c:pt>
                <c:pt idx="51">
                  <c:v>27</c:v>
                </c:pt>
                <c:pt idx="52">
                  <c:v>27</c:v>
                </c:pt>
                <c:pt idx="53">
                  <c:v>27</c:v>
                </c:pt>
                <c:pt idx="54">
                  <c:v>27</c:v>
                </c:pt>
                <c:pt idx="55">
                  <c:v>27</c:v>
                </c:pt>
                <c:pt idx="56">
                  <c:v>27</c:v>
                </c:pt>
                <c:pt idx="57">
                  <c:v>27</c:v>
                </c:pt>
                <c:pt idx="58">
                  <c:v>27</c:v>
                </c:pt>
                <c:pt idx="59">
                  <c:v>27</c:v>
                </c:pt>
                <c:pt idx="60">
                  <c:v>27</c:v>
                </c:pt>
                <c:pt idx="61">
                  <c:v>27</c:v>
                </c:pt>
                <c:pt idx="62">
                  <c:v>27</c:v>
                </c:pt>
              </c:numCache>
            </c:numRef>
          </c:yVal>
          <c:smooth val="0"/>
        </c:ser>
        <c:ser>
          <c:idx val="1"/>
          <c:order val="1"/>
          <c:tx>
            <c:strRef>
              <c:f>Sheet1!$B$66</c:f>
              <c:strCache>
                <c:ptCount val="1"/>
                <c:pt idx="0">
                  <c:v>Tuned HPA</c:v>
                </c:pt>
              </c:strCache>
            </c:strRef>
          </c:tx>
          <c:spPr>
            <a:ln w="31750">
              <a:solidFill>
                <a:srgbClr val="2A7F62"/>
              </a:solidFill>
            </a:ln>
          </c:spPr>
          <c:marker>
            <c:symbol val="none"/>
          </c:marker>
          <c:xVal>
            <c:numRef>
              <c:f>Sheet1!$A$67:$A$129</c:f>
              <c:numCache>
                <c:formatCode>General</c:formatCode>
                <c:ptCount val="63"/>
                <c:pt idx="0">
                  <c:v>0.0</c:v>
                </c:pt>
                <c:pt idx="1">
                  <c:v>5.0</c:v>
                </c:pt>
                <c:pt idx="2">
                  <c:v>10.0</c:v>
                </c:pt>
                <c:pt idx="3">
                  <c:v>15.0</c:v>
                </c:pt>
                <c:pt idx="4">
                  <c:v>20.0</c:v>
                </c:pt>
                <c:pt idx="5">
                  <c:v>25.0</c:v>
                </c:pt>
                <c:pt idx="6">
                  <c:v>30.0</c:v>
                </c:pt>
                <c:pt idx="7">
                  <c:v>35.1</c:v>
                </c:pt>
                <c:pt idx="8">
                  <c:v>40.1</c:v>
                </c:pt>
                <c:pt idx="9">
                  <c:v>45.1</c:v>
                </c:pt>
                <c:pt idx="10">
                  <c:v>50.1</c:v>
                </c:pt>
                <c:pt idx="11">
                  <c:v>55.1</c:v>
                </c:pt>
                <c:pt idx="12">
                  <c:v>60.1</c:v>
                </c:pt>
                <c:pt idx="13">
                  <c:v>65.1</c:v>
                </c:pt>
                <c:pt idx="14">
                  <c:v>70.1</c:v>
                </c:pt>
                <c:pt idx="15">
                  <c:v>75.1</c:v>
                </c:pt>
                <c:pt idx="16">
                  <c:v>80.1</c:v>
                </c:pt>
                <c:pt idx="17">
                  <c:v>85.1</c:v>
                </c:pt>
                <c:pt idx="18">
                  <c:v>90.2</c:v>
                </c:pt>
                <c:pt idx="19">
                  <c:v>95.2</c:v>
                </c:pt>
                <c:pt idx="20">
                  <c:v>100.2</c:v>
                </c:pt>
                <c:pt idx="21">
                  <c:v>105.2</c:v>
                </c:pt>
                <c:pt idx="22">
                  <c:v>110.2</c:v>
                </c:pt>
                <c:pt idx="23">
                  <c:v>115.2</c:v>
                </c:pt>
                <c:pt idx="24">
                  <c:v>120.2</c:v>
                </c:pt>
                <c:pt idx="25">
                  <c:v>125.2</c:v>
                </c:pt>
                <c:pt idx="26">
                  <c:v>130.2</c:v>
                </c:pt>
                <c:pt idx="27">
                  <c:v>135.2</c:v>
                </c:pt>
                <c:pt idx="28">
                  <c:v>140.2</c:v>
                </c:pt>
                <c:pt idx="29">
                  <c:v>145.2</c:v>
                </c:pt>
                <c:pt idx="30">
                  <c:v>150.3</c:v>
                </c:pt>
                <c:pt idx="31">
                  <c:v>155.3</c:v>
                </c:pt>
                <c:pt idx="32">
                  <c:v>160.3</c:v>
                </c:pt>
                <c:pt idx="33">
                  <c:v>165.3</c:v>
                </c:pt>
                <c:pt idx="34">
                  <c:v>170.3</c:v>
                </c:pt>
                <c:pt idx="35">
                  <c:v>175.3</c:v>
                </c:pt>
                <c:pt idx="36">
                  <c:v>180.3</c:v>
                </c:pt>
                <c:pt idx="37">
                  <c:v>185.3</c:v>
                </c:pt>
                <c:pt idx="38">
                  <c:v>190.3</c:v>
                </c:pt>
                <c:pt idx="39">
                  <c:v>195.3</c:v>
                </c:pt>
                <c:pt idx="40">
                  <c:v>200.3</c:v>
                </c:pt>
                <c:pt idx="41">
                  <c:v>205.4</c:v>
                </c:pt>
                <c:pt idx="42">
                  <c:v>210.4</c:v>
                </c:pt>
                <c:pt idx="43">
                  <c:v>215.4</c:v>
                </c:pt>
                <c:pt idx="44">
                  <c:v>220.4</c:v>
                </c:pt>
                <c:pt idx="45">
                  <c:v>225.4</c:v>
                </c:pt>
                <c:pt idx="46">
                  <c:v>230.4</c:v>
                </c:pt>
                <c:pt idx="47">
                  <c:v>235.4</c:v>
                </c:pt>
                <c:pt idx="48">
                  <c:v>240.4</c:v>
                </c:pt>
                <c:pt idx="49">
                  <c:v>245.4</c:v>
                </c:pt>
                <c:pt idx="50">
                  <c:v>250.4</c:v>
                </c:pt>
                <c:pt idx="51">
                  <c:v>255.5</c:v>
                </c:pt>
                <c:pt idx="52">
                  <c:v>260.5</c:v>
                </c:pt>
                <c:pt idx="53">
                  <c:v>265.5</c:v>
                </c:pt>
                <c:pt idx="54">
                  <c:v>270.5</c:v>
                </c:pt>
                <c:pt idx="55">
                  <c:v>275.5</c:v>
                </c:pt>
                <c:pt idx="56">
                  <c:v>280.5</c:v>
                </c:pt>
                <c:pt idx="57">
                  <c:v>285.5</c:v>
                </c:pt>
                <c:pt idx="58">
                  <c:v>290.5</c:v>
                </c:pt>
                <c:pt idx="59">
                  <c:v>295.5</c:v>
                </c:pt>
                <c:pt idx="60">
                  <c:v>300.5</c:v>
                </c:pt>
                <c:pt idx="61">
                  <c:v>305.6</c:v>
                </c:pt>
                <c:pt idx="62">
                  <c:v>306.0</c:v>
                </c:pt>
              </c:numCache>
            </c:numRef>
          </c:xVal>
          <c:yVal>
            <c:numRef>
              <c:f>Sheet1!$B$67:$B$129</c:f>
              <c:numCache>
                <c:formatCode>General</c:formatCode>
                <c:ptCount val="63"/>
                <c:pt idx="0">
                  <c:v>16</c:v>
                </c:pt>
                <c:pt idx="1">
                  <c:v>16</c:v>
                </c:pt>
                <c:pt idx="2">
                  <c:v>16</c:v>
                </c:pt>
                <c:pt idx="3">
                  <c:v>16</c:v>
                </c:pt>
                <c:pt idx="4">
                  <c:v>16</c:v>
                </c:pt>
                <c:pt idx="5">
                  <c:v>16</c:v>
                </c:pt>
                <c:pt idx="6">
                  <c:v>16</c:v>
                </c:pt>
                <c:pt idx="7">
                  <c:v>16</c:v>
                </c:pt>
                <c:pt idx="8">
                  <c:v>16</c:v>
                </c:pt>
                <c:pt idx="9">
                  <c:v>16</c:v>
                </c:pt>
                <c:pt idx="10">
                  <c:v>16</c:v>
                </c:pt>
                <c:pt idx="11">
                  <c:v>16</c:v>
                </c:pt>
                <c:pt idx="12">
                  <c:v>16</c:v>
                </c:pt>
                <c:pt idx="13">
                  <c:v>16</c:v>
                </c:pt>
                <c:pt idx="14">
                  <c:v>16</c:v>
                </c:pt>
                <c:pt idx="15">
                  <c:v>16</c:v>
                </c:pt>
                <c:pt idx="16">
                  <c:v>16</c:v>
                </c:pt>
                <c:pt idx="17">
                  <c:v>16</c:v>
                </c:pt>
                <c:pt idx="18">
                  <c:v>16</c:v>
                </c:pt>
                <c:pt idx="19">
                  <c:v>16</c:v>
                </c:pt>
                <c:pt idx="20">
                  <c:v>16</c:v>
                </c:pt>
                <c:pt idx="21">
                  <c:v>16</c:v>
                </c:pt>
                <c:pt idx="22">
                  <c:v>16</c:v>
                </c:pt>
                <c:pt idx="23">
                  <c:v>16</c:v>
                </c:pt>
                <c:pt idx="24">
                  <c:v>16</c:v>
                </c:pt>
                <c:pt idx="25">
                  <c:v>16</c:v>
                </c:pt>
                <c:pt idx="26">
                  <c:v>16</c:v>
                </c:pt>
                <c:pt idx="27">
                  <c:v>16</c:v>
                </c:pt>
                <c:pt idx="28">
                  <c:v>16</c:v>
                </c:pt>
                <c:pt idx="29">
                  <c:v>16</c:v>
                </c:pt>
                <c:pt idx="30">
                  <c:v>16</c:v>
                </c:pt>
                <c:pt idx="31">
                  <c:v>16</c:v>
                </c:pt>
                <c:pt idx="32">
                  <c:v>16</c:v>
                </c:pt>
                <c:pt idx="33">
                  <c:v>16</c:v>
                </c:pt>
                <c:pt idx="34">
                  <c:v>16</c:v>
                </c:pt>
                <c:pt idx="35">
                  <c:v>16</c:v>
                </c:pt>
                <c:pt idx="36">
                  <c:v>16</c:v>
                </c:pt>
                <c:pt idx="37">
                  <c:v>16</c:v>
                </c:pt>
                <c:pt idx="38">
                  <c:v>16</c:v>
                </c:pt>
                <c:pt idx="39">
                  <c:v>16</c:v>
                </c:pt>
                <c:pt idx="40">
                  <c:v>17</c:v>
                </c:pt>
                <c:pt idx="41">
                  <c:v>17</c:v>
                </c:pt>
                <c:pt idx="42">
                  <c:v>17</c:v>
                </c:pt>
                <c:pt idx="43">
                  <c:v>17</c:v>
                </c:pt>
                <c:pt idx="44">
                  <c:v>17</c:v>
                </c:pt>
                <c:pt idx="45">
                  <c:v>17</c:v>
                </c:pt>
                <c:pt idx="46">
                  <c:v>17</c:v>
                </c:pt>
                <c:pt idx="47">
                  <c:v>17</c:v>
                </c:pt>
                <c:pt idx="48">
                  <c:v>17</c:v>
                </c:pt>
                <c:pt idx="49">
                  <c:v>17</c:v>
                </c:pt>
                <c:pt idx="50">
                  <c:v>17</c:v>
                </c:pt>
                <c:pt idx="51">
                  <c:v>17</c:v>
                </c:pt>
                <c:pt idx="52">
                  <c:v>17</c:v>
                </c:pt>
                <c:pt idx="53">
                  <c:v>17</c:v>
                </c:pt>
                <c:pt idx="54">
                  <c:v>17</c:v>
                </c:pt>
                <c:pt idx="55">
                  <c:v>17</c:v>
                </c:pt>
                <c:pt idx="56">
                  <c:v>17</c:v>
                </c:pt>
                <c:pt idx="57">
                  <c:v>17</c:v>
                </c:pt>
                <c:pt idx="58">
                  <c:v>17</c:v>
                </c:pt>
                <c:pt idx="59">
                  <c:v>16</c:v>
                </c:pt>
                <c:pt idx="60">
                  <c:v>16</c:v>
                </c:pt>
                <c:pt idx="61">
                  <c:v>16</c:v>
                </c:pt>
                <c:pt idx="62">
                  <c:v>16</c:v>
                </c:pt>
              </c:numCache>
            </c:numRef>
          </c:yVal>
          <c:smooth val="0"/>
        </c:ser>
        <c:ser>
          <c:idx val="2"/>
          <c:order val="2"/>
          <c:tx>
            <c:strRef>
              <c:f>Sheet1!$B$131</c:f>
              <c:strCache>
                <c:ptCount val="1"/>
                <c:pt idx="0">
                  <c:v>FlexaScale Auto</c:v>
                </c:pt>
              </c:strCache>
            </c:strRef>
          </c:tx>
          <c:spPr>
            <a:ln w="31750">
              <a:solidFill>
                <a:srgbClr val="D9860B"/>
              </a:solidFill>
            </a:ln>
          </c:spPr>
          <c:marker>
            <c:symbol val="none"/>
          </c:marker>
          <c:xVal>
            <c:numRef>
              <c:f>Sheet1!$A$132:$A$194</c:f>
              <c:numCache>
                <c:formatCode>General</c:formatCode>
                <c:ptCount val="63"/>
                <c:pt idx="0">
                  <c:v>0.0</c:v>
                </c:pt>
                <c:pt idx="1">
                  <c:v>5.0</c:v>
                </c:pt>
                <c:pt idx="2">
                  <c:v>10.0</c:v>
                </c:pt>
                <c:pt idx="3">
                  <c:v>15.0</c:v>
                </c:pt>
                <c:pt idx="4">
                  <c:v>20.0</c:v>
                </c:pt>
                <c:pt idx="5">
                  <c:v>25.0</c:v>
                </c:pt>
                <c:pt idx="6">
                  <c:v>30.0</c:v>
                </c:pt>
                <c:pt idx="7">
                  <c:v>35.1</c:v>
                </c:pt>
                <c:pt idx="8">
                  <c:v>40.1</c:v>
                </c:pt>
                <c:pt idx="9">
                  <c:v>45.1</c:v>
                </c:pt>
                <c:pt idx="10">
                  <c:v>50.1</c:v>
                </c:pt>
                <c:pt idx="11">
                  <c:v>55.1</c:v>
                </c:pt>
                <c:pt idx="12">
                  <c:v>60.1</c:v>
                </c:pt>
                <c:pt idx="13">
                  <c:v>65.1</c:v>
                </c:pt>
                <c:pt idx="14">
                  <c:v>70.1</c:v>
                </c:pt>
                <c:pt idx="15">
                  <c:v>75.1</c:v>
                </c:pt>
                <c:pt idx="16">
                  <c:v>80.1</c:v>
                </c:pt>
                <c:pt idx="17">
                  <c:v>85.1</c:v>
                </c:pt>
                <c:pt idx="18">
                  <c:v>90.2</c:v>
                </c:pt>
                <c:pt idx="19">
                  <c:v>95.2</c:v>
                </c:pt>
                <c:pt idx="20">
                  <c:v>100.2</c:v>
                </c:pt>
                <c:pt idx="21">
                  <c:v>105.2</c:v>
                </c:pt>
                <c:pt idx="22">
                  <c:v>110.2</c:v>
                </c:pt>
                <c:pt idx="23">
                  <c:v>115.2</c:v>
                </c:pt>
                <c:pt idx="24">
                  <c:v>120.2</c:v>
                </c:pt>
                <c:pt idx="25">
                  <c:v>125.2</c:v>
                </c:pt>
                <c:pt idx="26">
                  <c:v>130.2</c:v>
                </c:pt>
                <c:pt idx="27">
                  <c:v>135.2</c:v>
                </c:pt>
                <c:pt idx="28">
                  <c:v>140.2</c:v>
                </c:pt>
                <c:pt idx="29">
                  <c:v>145.2</c:v>
                </c:pt>
                <c:pt idx="30">
                  <c:v>150.2</c:v>
                </c:pt>
                <c:pt idx="31">
                  <c:v>155.2</c:v>
                </c:pt>
                <c:pt idx="32">
                  <c:v>160.2</c:v>
                </c:pt>
                <c:pt idx="33">
                  <c:v>165.3</c:v>
                </c:pt>
                <c:pt idx="34">
                  <c:v>170.3</c:v>
                </c:pt>
                <c:pt idx="35">
                  <c:v>175.3</c:v>
                </c:pt>
                <c:pt idx="36">
                  <c:v>180.3</c:v>
                </c:pt>
                <c:pt idx="37">
                  <c:v>185.3</c:v>
                </c:pt>
                <c:pt idx="38">
                  <c:v>190.3</c:v>
                </c:pt>
                <c:pt idx="39">
                  <c:v>195.3</c:v>
                </c:pt>
                <c:pt idx="40">
                  <c:v>200.3</c:v>
                </c:pt>
                <c:pt idx="41">
                  <c:v>205.3</c:v>
                </c:pt>
                <c:pt idx="42">
                  <c:v>210.3</c:v>
                </c:pt>
                <c:pt idx="43">
                  <c:v>215.3</c:v>
                </c:pt>
                <c:pt idx="44">
                  <c:v>220.3</c:v>
                </c:pt>
                <c:pt idx="45">
                  <c:v>225.4</c:v>
                </c:pt>
                <c:pt idx="46">
                  <c:v>230.4</c:v>
                </c:pt>
                <c:pt idx="47">
                  <c:v>235.4</c:v>
                </c:pt>
                <c:pt idx="48">
                  <c:v>240.4</c:v>
                </c:pt>
                <c:pt idx="49">
                  <c:v>245.4</c:v>
                </c:pt>
                <c:pt idx="50">
                  <c:v>250.4</c:v>
                </c:pt>
                <c:pt idx="51">
                  <c:v>255.4</c:v>
                </c:pt>
                <c:pt idx="52">
                  <c:v>260.4</c:v>
                </c:pt>
                <c:pt idx="53">
                  <c:v>265.5</c:v>
                </c:pt>
                <c:pt idx="54">
                  <c:v>270.5</c:v>
                </c:pt>
                <c:pt idx="55">
                  <c:v>275.5</c:v>
                </c:pt>
                <c:pt idx="56">
                  <c:v>280.5</c:v>
                </c:pt>
                <c:pt idx="57">
                  <c:v>285.5</c:v>
                </c:pt>
                <c:pt idx="58">
                  <c:v>290.5</c:v>
                </c:pt>
                <c:pt idx="59">
                  <c:v>295.5</c:v>
                </c:pt>
                <c:pt idx="60">
                  <c:v>300.5</c:v>
                </c:pt>
                <c:pt idx="61">
                  <c:v>305.5</c:v>
                </c:pt>
                <c:pt idx="62">
                  <c:v>306.0</c:v>
                </c:pt>
              </c:numCache>
            </c:numRef>
          </c:xVal>
          <c:yVal>
            <c:numRef>
              <c:f>Sheet1!$B$132:$B$194</c:f>
              <c:numCache>
                <c:formatCode>General</c:formatCode>
                <c:ptCount val="63"/>
                <c:pt idx="0">
                  <c:v>16</c:v>
                </c:pt>
                <c:pt idx="1">
                  <c:v>16</c:v>
                </c:pt>
                <c:pt idx="2">
                  <c:v>16</c:v>
                </c:pt>
                <c:pt idx="3">
                  <c:v>16</c:v>
                </c:pt>
                <c:pt idx="4">
                  <c:v>16</c:v>
                </c:pt>
                <c:pt idx="5">
                  <c:v>16</c:v>
                </c:pt>
                <c:pt idx="6">
                  <c:v>16</c:v>
                </c:pt>
                <c:pt idx="7">
                  <c:v>16</c:v>
                </c:pt>
                <c:pt idx="8">
                  <c:v>16</c:v>
                </c:pt>
                <c:pt idx="9">
                  <c:v>16</c:v>
                </c:pt>
                <c:pt idx="10">
                  <c:v>16</c:v>
                </c:pt>
                <c:pt idx="11">
                  <c:v>17</c:v>
                </c:pt>
                <c:pt idx="12">
                  <c:v>17</c:v>
                </c:pt>
                <c:pt idx="13">
                  <c:v>17</c:v>
                </c:pt>
                <c:pt idx="14">
                  <c:v>17</c:v>
                </c:pt>
                <c:pt idx="15">
                  <c:v>17</c:v>
                </c:pt>
                <c:pt idx="16">
                  <c:v>17</c:v>
                </c:pt>
                <c:pt idx="17">
                  <c:v>17</c:v>
                </c:pt>
                <c:pt idx="18">
                  <c:v>17</c:v>
                </c:pt>
                <c:pt idx="19">
                  <c:v>17</c:v>
                </c:pt>
                <c:pt idx="20">
                  <c:v>17</c:v>
                </c:pt>
                <c:pt idx="21">
                  <c:v>17</c:v>
                </c:pt>
                <c:pt idx="22">
                  <c:v>17</c:v>
                </c:pt>
                <c:pt idx="23">
                  <c:v>17</c:v>
                </c:pt>
                <c:pt idx="24">
                  <c:v>17</c:v>
                </c:pt>
                <c:pt idx="25">
                  <c:v>17</c:v>
                </c:pt>
                <c:pt idx="26">
                  <c:v>17</c:v>
                </c:pt>
                <c:pt idx="27">
                  <c:v>17</c:v>
                </c:pt>
                <c:pt idx="28">
                  <c:v>17</c:v>
                </c:pt>
                <c:pt idx="29">
                  <c:v>17</c:v>
                </c:pt>
                <c:pt idx="30">
                  <c:v>17</c:v>
                </c:pt>
                <c:pt idx="31">
                  <c:v>17</c:v>
                </c:pt>
                <c:pt idx="32">
                  <c:v>17</c:v>
                </c:pt>
                <c:pt idx="33">
                  <c:v>17</c:v>
                </c:pt>
                <c:pt idx="34">
                  <c:v>17</c:v>
                </c:pt>
                <c:pt idx="35">
                  <c:v>17</c:v>
                </c:pt>
                <c:pt idx="36">
                  <c:v>17</c:v>
                </c:pt>
                <c:pt idx="37">
                  <c:v>17</c:v>
                </c:pt>
                <c:pt idx="38">
                  <c:v>17</c:v>
                </c:pt>
                <c:pt idx="39">
                  <c:v>17</c:v>
                </c:pt>
                <c:pt idx="40">
                  <c:v>17</c:v>
                </c:pt>
                <c:pt idx="41">
                  <c:v>17</c:v>
                </c:pt>
                <c:pt idx="42">
                  <c:v>17</c:v>
                </c:pt>
                <c:pt idx="43">
                  <c:v>17</c:v>
                </c:pt>
                <c:pt idx="44">
                  <c:v>17</c:v>
                </c:pt>
                <c:pt idx="45">
                  <c:v>17</c:v>
                </c:pt>
                <c:pt idx="46">
                  <c:v>17</c:v>
                </c:pt>
                <c:pt idx="47">
                  <c:v>16</c:v>
                </c:pt>
                <c:pt idx="48">
                  <c:v>16</c:v>
                </c:pt>
                <c:pt idx="49">
                  <c:v>16</c:v>
                </c:pt>
                <c:pt idx="50">
                  <c:v>16</c:v>
                </c:pt>
                <c:pt idx="51">
                  <c:v>16</c:v>
                </c:pt>
                <c:pt idx="52">
                  <c:v>16</c:v>
                </c:pt>
                <c:pt idx="53">
                  <c:v>16</c:v>
                </c:pt>
                <c:pt idx="54">
                  <c:v>16</c:v>
                </c:pt>
                <c:pt idx="55">
                  <c:v>16</c:v>
                </c:pt>
                <c:pt idx="56">
                  <c:v>16</c:v>
                </c:pt>
                <c:pt idx="57">
                  <c:v>16</c:v>
                </c:pt>
                <c:pt idx="58">
                  <c:v>16</c:v>
                </c:pt>
                <c:pt idx="59">
                  <c:v>16</c:v>
                </c:pt>
                <c:pt idx="60">
                  <c:v>16</c:v>
                </c:pt>
                <c:pt idx="61">
                  <c:v>16</c:v>
                </c:pt>
                <c:pt idx="62">
                  <c:v>16</c:v>
                </c:pt>
              </c:numCache>
            </c:numRef>
          </c:yVal>
          <c:smooth val="0"/>
        </c:ser>
        <c:axId val="-2128940872"/>
        <c:axId val="-2129643912"/>
      </c:scatterChart>
      <c:valAx>
        <c:axId val="-2128940872"/>
        <c:scaling>
          <c:orientation val="minMax"/>
          <c:max val="310.0"/>
          <c:min val="0.0"/>
        </c:scaling>
        <c:delete val="0"/>
        <c:axPos val="b"/>
        <c:numFmt formatCode="General" sourceLinked="1"/>
        <c:majorTickMark val="out"/>
        <c:minorTickMark val="none"/>
        <c:tickLblPos val="nextTo"/>
        <c:txPr>
          <a:bodyPr/>
          <a:lstStyle/>
          <a:p>
            <a:pPr>
              <a:defRPr sz="1100"/>
            </a:pPr>
          </a:p>
        </c:txPr>
        <c:crossAx val="-2129643912"/>
        <c:crosses val="autoZero"/>
        <c:crossBetween val="midCat"/>
        <c:majorUnit val="50.0"/>
      </c:valAx>
      <c:valAx>
        <c:axId val="-2129643912"/>
        <c:scaling>
          <c:orientation val="minMax"/>
          <c:max val="28.0"/>
          <c:min val="14.0"/>
        </c:scaling>
        <c:delete val="0"/>
        <c:axPos val="l"/>
        <c:majorGridlines>
          <c:spPr>
            <a:ln>
              <a:solidFill>
                <a:srgbClr val="E5E7EB"/>
              </a:solidFill>
            </a:ln>
          </c:spPr>
        </c:majorGridlines>
        <c:numFmt formatCode="General" sourceLinked="1"/>
        <c:majorTickMark val="out"/>
        <c:minorTickMark val="none"/>
        <c:tickLblPos val="nextTo"/>
        <c:txPr>
          <a:bodyPr/>
          <a:lstStyle/>
          <a:p>
            <a:pPr>
              <a:defRPr sz="1100"/>
            </a:pPr>
          </a:p>
        </c:txPr>
        <c:crossAx val="-2128940872"/>
        <c:crosses val="autoZero"/>
        <c:crossBetween val="midCat"/>
      </c:valAx>
    </c:plotArea>
    <c:legend>
      <c:legendPos val="b"/>
      <c:layout/>
      <c:overlay val="0"/>
      <c:txPr>
        <a:bodyPr/>
        <a:lstStyle/>
        <a:p>
          <a:pPr>
            <a:defRPr sz="1200"/>
          </a:pPr>
        </a:p>
      </c:txPr>
    </c:legend>
    <c:plotVisOnly val="1"/>
    <c:dispBlanksAs val="gap"/>
    <c:showDLblsOverMax val="0"/>
  </c:chart>
  <c:txPr>
    <a:bodyPr/>
    <a:lstStyle/>
    <a:p>
      <a:pPr>
        <a:defRPr sz="1100">
          <a:solidFill>
            <a:srgbClr val="222222"/>
          </a:solidFill>
          <a:latin typeface="Georgi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84B3B-E091-4218-B734-7F09C964D9E9}" type="datetimeFigureOut">
              <a:rPr lang="en-IN" smtClean="0"/>
              <a:t>18-10-2026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2D287-CFE8-45F7-B578-1940EAB6BD47}" type="slidenum">
              <a:rPr lang="en-IN" smtClean="0"/>
              <a:t>‹#›</a:t>
            </a:fld>
            <a:endParaRPr lang="en-IN"/>
          </a:p>
        </p:txBody>
      </p:sp>
    </p:spTree>
    <p:extLst>
      <p:ext uri="{BB962C8B-B14F-4D97-AF65-F5344CB8AC3E}">
        <p14:creationId xmlns:p14="http://schemas.microsoft.com/office/powerpoint/2010/main" val="145211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A1. Our project is FlexaScale, a reinforcement-learning autoscaler for microservices on Kubernetes, guided by Dr. Lakshmi Mohan. In the next twenty minutes we will show what we built, how we verified it on a live cluster, and what a fair evaluation against Kubernetes' own autoscaler found.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order we will follow, which is the order of the review template.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applications are split into microservices. Kubernetes runs them, and its Horizontal Pod Autoscaler adds or removes replicas by looking at one service's CPU. That rule is simple and safe, but it ignores how services call each other and it is slow to scale down. FlexaScale asks whether a learned policy that sees the whole call graph can do better, safely. The work maps to SDG 9 and SDG 12 through more efficient, reliable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at every ten-second step we choose replica counts for all services. We want the fewest replica-hours while keeping the end-to-end 95th-percentile latency under one second. Three practical requirements make it hard: safety, exclusive control with the HPA, and graceful fallback. The numbers at the bottom are our own measurements of where the default HPA wastes resources or misses a bottleneck.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set six objectives, each tied to how it is evaluated. O1 to O3 are about building the learned, dependency-aware framework; O4 is safety; O5 is a fair evaluation against both the default and a tuned HPA; O6 is deployment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reviewed twelve primary papers. The first group are learned and rule-based autoscalers. Gwydion is the closest to us: RL with dependency information on Kubernetes, but compared only with the default HPA.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group: FIRM and Sinan use learning to find the critical service; Autopilot shows how strong well-engineered rules are in production; GRAF uses a graph neural network; the Alibaba trace and DeathStarBench describe realistic workloads.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gaps stood out. Baselines are usually the default HPA. The coexistence of a learned controller with the native one is rarely designed. And the benefit of dependency information is seldom measured on its own. FlexaScale answers each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lists everything we used. Note the two laptops: the second one has a GPU, which we used to train the v9 policy and to run its pre-registered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upper panel is the application with its load generator and Prometheus. The middle panel is the FlexaScale operator, which runs every ten seconds: discovery, telemetry and features, the call graph, the GNN and PPO policy, the Auto arbiter, safety guards and execution. The lower panel is our control center. The four novelty points are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mode decides per service and per step. Rule one: if FlexaScale is unhealthy for a service, the HPA takes it immediately. Rule two checks policy confidence. Rule three is capacity first: under SLA risk, the controller that wants more replicas wins. Otherwise FlexaScale owns the service, after two consecutive steps. Every change also passes these guards.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one operator step. In the middle is how the policy is obtained: we fit a twin simulator to our own shop, start by imitating a simple threshold rule, fine-tune with PPO, select on validation workloads, and only then test once. The table gives the hyperparameters; the arrows show the smaller learning rate and clip after the warm start.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was designed to be fair. Each block runs all four controllers back to back under the same load, from the same starting state. The analysis rules, including the verdict table, were written before the first run. Runs disturbed by the host were excluded by a fixed rule and kept on record.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that Auto mode really hands services to FlexaScale. In the default run the policy proposed a scale-up of the order service, safety accepted it, the HPA was frozen and Kubernetes had two ready pods sixteen seconds later. With the SLA-risk setting, risky services went to the HPA while the rest stayed with FlexaScale. Cutting Prometheus or killing the operator returned every service to the HPA.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pre-registered results. Against the default HPA, FlexaScale used about seven and a half percent fewer replica-hours, with confidence intervals entirely below zero. But the latency check failed, so the formal verdict is on par. Against a tuned HPA the difference is essentially zero, and the tuned HPA alone gets the same saving.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clearest case. During a flash sale the default HPA reacted late, reached 27 replicas and kept them for five minutes. Auto, with the v9 policy, added one replica and held the rest: 23 percent fewer replica-hours and half the p95 latency. Note that the tuned HPA did almost the same, which is consistent with the pooled 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the closest systems, FlexaScale's distinctive parts are the coexistence with the HPA, the verified fallback and the fair baseline. Other papers report larger gains, but against the default HPA and on other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lesson: an autoscaler is only as good as the signal it reads and the thresholds calibrated for its machine. On the first laptop the order service was limited by database waits, not CPU, so CPU-based policies did not scale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objectives were met as a system. The honest scientific result is the last line: savings against the default HPA, parity with a tuned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useful next step is to give Auto mode a latency signal, followed by automatic calibration and stronger baselines.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member's main areas, as recorded in the repository's commit history.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QR code opens the repository. The live demo uses one command to start everything; then we run an Auto-mode flash sale from the Live lab page.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Live lab with tiles, the live autoscaling timeline and per-service replicas. Right: the Auto mode page after the SLA-risk run, showing which controller owned each service and why.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S6 covered exploration, the first literature review and a baseline. S7 covered the survey, design, implementation, training, evaluation and this report. S8 will add the enhancements, a larger evaluation, the paper and the final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references, in IEEE format, are in the project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14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96260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00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563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88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57986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45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6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9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54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17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89" y="6369932"/>
            <a:ext cx="12218977" cy="521007"/>
          </a:xfrm>
          <a:prstGeom prst="rect">
            <a:avLst/>
          </a:prstGeom>
        </p:spPr>
      </p:pic>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Tree>
    <p:extLst>
      <p:ext uri="{BB962C8B-B14F-4D97-AF65-F5344CB8AC3E}">
        <p14:creationId xmlns:p14="http://schemas.microsoft.com/office/powerpoint/2010/main" val="387529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3832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53456"/>
            <a:ext cx="12218977" cy="521007"/>
          </a:xfrm>
          <a:prstGeom prst="rect">
            <a:avLst/>
          </a:prstGeom>
        </p:spPr>
      </p:pic>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
        <p:nvSpPr>
          <p:cNvPr id="4" name="Slide Number Placeholder 6">
            <a:extLst>
              <a:ext uri="{FF2B5EF4-FFF2-40B4-BE49-F238E27FC236}">
                <a16:creationId xmlns:a16="http://schemas.microsoft.com/office/drawing/2014/main" id="{44B71D63-CC8F-7D5C-C54F-0439C001EC47}"/>
              </a:ext>
            </a:extLst>
          </p:cNvPr>
          <p:cNvSpPr>
            <a:spLocks noGrp="1"/>
          </p:cNvSpPr>
          <p:nvPr>
            <p:ph type="sldNum" sz="quarter" idx="12"/>
          </p:nvPr>
        </p:nvSpPr>
        <p:spPr>
          <a:xfrm>
            <a:off x="0" y="6525814"/>
            <a:ext cx="571499" cy="365125"/>
          </a:xfrm>
        </p:spPr>
        <p:txBody>
          <a:bodyPr/>
          <a:lstStyle>
            <a:lvl1pPr algn="l">
              <a:defRPr sz="1600" b="1">
                <a:solidFill>
                  <a:schemeClr val="bg1"/>
                </a:solidFill>
              </a:defRPr>
            </a:lvl1pPr>
          </a:lstStyle>
          <a:p>
            <a:fld id="{330EA680-D336-4FF7-8B7A-9848BB0A1C32}" type="slidenum">
              <a:rPr lang="en-US" smtClean="0"/>
              <a:pPr/>
              <a:t>‹#›</a:t>
            </a:fld>
            <a:endParaRPr lang="en-US"/>
          </a:p>
        </p:txBody>
      </p:sp>
      <p:sp>
        <p:nvSpPr>
          <p:cNvPr id="2" name="Slide Number Placeholder 6">
            <a:extLst>
              <a:ext uri="{FF2B5EF4-FFF2-40B4-BE49-F238E27FC236}">
                <a16:creationId xmlns:a16="http://schemas.microsoft.com/office/drawing/2014/main" id="{03E60720-4643-2A6C-4283-9BD3505F1DFE}"/>
              </a:ext>
            </a:extLst>
          </p:cNvPr>
          <p:cNvSpPr txBox="1">
            <a:spLocks/>
          </p:cNvSpPr>
          <p:nvPr userDrawn="1"/>
        </p:nvSpPr>
        <p:spPr>
          <a:xfrm>
            <a:off x="401263" y="6525813"/>
            <a:ext cx="1587335" cy="365125"/>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2262624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67970"/>
      </p:ext>
    </p:extLst>
  </p:cSld>
  <p:clrMap bg1="lt1" tx1="dk1" bg2="lt2" tx2="dk2" accent1="accent1" accent2="accent2" accent3="accent3" accent4="accent4" accent5="accent5" accent6="accent6" hlink="hlink" folHlink="folHlink"/>
  <p:sldLayoutIdLst>
    <p:sldLayoutId id="2147483687"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chart" Target="../charts/char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1999"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a:solidFill>
                  <a:prstClr val="white"/>
                </a:solidFill>
                <a:latin typeface="Calibri" panose="020F0502020204030204"/>
              </a:rPr>
              <a:t> </a:t>
            </a: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001154" y="2576466"/>
            <a:ext cx="3443174" cy="1104899"/>
          </a:xfrm>
          <a:prstGeom prst="rect">
            <a:avLst/>
          </a:prstGeom>
        </p:spPr>
      </p:pic>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4335124" y="2310508"/>
            <a:ext cx="0" cy="1636813"/>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4FF19762-9449-7F8E-ED51-CE92E43F0E91}"/>
              </a:ext>
            </a:extLst>
          </p:cNvPr>
          <p:cNvSpPr txBox="1"/>
          <p:nvPr/>
        </p:nvSpPr>
        <p:spPr>
          <a:xfrm>
            <a:off x="4892040" y="1783080"/>
            <a:ext cx="6949440" cy="822960"/>
          </a:xfrm>
          <a:prstGeom prst="rect">
            <a:avLst/>
          </a:prstGeom>
          <a:noFill/>
        </p:spPr>
        <p:txBody>
          <a:bodyPr wrap="square" lIns="91440" tIns="45720" rIns="91440" bIns="45720" rtlCol="0" anchor="t">
            <a:spAutoFit/>
          </a:bodyPr>
          <a:lstStyle/>
          <a:p>
            <a:pPr algn="ctr" defTabSz="457200"/>
            <a:r>
              <a:rPr lang="en-US" sz="4400" b="1" dirty="0">
                <a:solidFill>
                  <a:schemeClr val="bg1"/>
                </a:solidFill>
                <a:latin typeface="Segoe UI"/>
                <a:cs typeface="Segoe UI"/>
              </a:rPr>
              <a:t>FlexaScale</a:t>
            </a:r>
            <a:endParaRPr lang="en-US" sz="4000" b="1" dirty="0">
              <a:solidFill>
                <a:schemeClr val="bg1"/>
              </a:solidFill>
              <a:latin typeface="Georgia" panose="02040502050405020303" pitchFamily="18" charset="0"/>
            </a:endParaRPr>
          </a:p>
        </p:txBody>
      </p:sp>
      <p:sp>
        <p:nvSpPr>
          <p:cNvPr id="4" name="TextBox 3">
            <a:extLst>
              <a:ext uri="{FF2B5EF4-FFF2-40B4-BE49-F238E27FC236}">
                <a16:creationId xmlns:a16="http://schemas.microsoft.com/office/drawing/2014/main" id="{9F92AFA7-A803-1602-35C8-C21ED8130634}"/>
              </a:ext>
            </a:extLst>
          </p:cNvPr>
          <p:cNvSpPr txBox="1"/>
          <p:nvPr/>
        </p:nvSpPr>
        <p:spPr>
          <a:xfrm>
            <a:off x="4892040" y="4526280"/>
            <a:ext cx="6949440" cy="1371600"/>
          </a:xfrm>
          <a:prstGeom prst="rect">
            <a:avLst/>
          </a:prstGeom>
          <a:noFill/>
        </p:spPr>
        <p:txBody>
          <a:bodyPr wrap="square" lIns="91440" tIns="45720" rIns="91440" bIns="45720" rtlCol="0" anchor="t">
            <a:spAutoFit/>
          </a:bodyPr>
          <a:lstStyle/>
          <a:p>
            <a:pPr algn="ctr"/>
            <a:r>
              <a:rPr lang="en-US" dirty="0">
                <a:solidFill>
                  <a:schemeClr val="bg1"/>
                </a:solidFill>
                <a:latin typeface="Times New Roman" panose="02020603050405020304" pitchFamily="18" charset="0"/>
                <a:cs typeface="Times New Roman" panose="02020603050405020304" pitchFamily="18" charset="0"/>
              </a:rPr>
              <a:t>Atmakrishna K Raghavan   AM.SC.U4CSE23015</a:t>
            </a:r>
            <a:endParaRPr lang="en-IN" dirty="0">
              <a:solidFill>
                <a:schemeClr val="bg1"/>
              </a:solidFill>
              <a:latin typeface="Times New Roman" panose="02020603050405020304" pitchFamily="18" charset="0"/>
              <a:cs typeface="Times New Roman" panose="02020603050405020304" pitchFamily="18" charset="0"/>
            </a:endParaRPr>
          </a:p>
          <a:p>
            <a:pPr algn="ctr"/>
            <a:r>
              <a:rPr lang="en-US" dirty="0">
                <a:solidFill>
                  <a:schemeClr val="bg1"/>
                </a:solidFill>
                <a:latin typeface="Times New Roman" panose="02020603050405020304" pitchFamily="18" charset="0"/>
                <a:cs typeface="Times New Roman" panose="02020603050405020304" pitchFamily="18" charset="0"/>
              </a:rPr>
              <a:t>Dattanand U D   AM.SC.U4CSE23023</a:t>
            </a:r>
            <a:endParaRPr lang="en-IN" dirty="0">
              <a:solidFill>
                <a:schemeClr val="bg1"/>
              </a:solidFill>
              <a:latin typeface="Times New Roman" panose="02020603050405020304" pitchFamily="18" charset="0"/>
              <a:cs typeface="Times New Roman" panose="02020603050405020304" pitchFamily="18" charset="0"/>
            </a:endParaRPr>
          </a:p>
          <a:p>
            <a:pPr algn="ctr"/>
            <a:r>
              <a:rPr lang="en-US" dirty="0">
                <a:solidFill>
                  <a:schemeClr val="bg1"/>
                </a:solidFill>
                <a:latin typeface="Times New Roman" panose="02020603050405020304" pitchFamily="18" charset="0"/>
                <a:cs typeface="Times New Roman" panose="02020603050405020304" pitchFamily="18" charset="0"/>
              </a:rPr>
              <a:t>G O Ashwin Praveen   AM.SC.U4CSE23027</a:t>
            </a:r>
            <a:endParaRPr lang="en-IN" dirty="0">
              <a:solidFill>
                <a:schemeClr val="bg1"/>
              </a:solidFill>
              <a:latin typeface="Times New Roman" panose="02020603050405020304" pitchFamily="18" charset="0"/>
              <a:cs typeface="Times New Roman" panose="02020603050405020304" pitchFamily="18" charset="0"/>
            </a:endParaRPr>
          </a:p>
          <a:p>
            <a:pPr algn="ctr"/>
            <a:r>
              <a:rPr lang="en-US" dirty="0">
                <a:solidFill>
                  <a:schemeClr val="bg1"/>
                </a:solidFill>
                <a:latin typeface="Times New Roman" panose="02020603050405020304" pitchFamily="18" charset="0"/>
                <a:cs typeface="Times New Roman" panose="02020603050405020304" pitchFamily="18" charset="0"/>
              </a:rPr>
              <a:t>Ghanshyam S Sunil   AM.SC.U4CSE23029</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B1EF1F-2300-829E-6E9B-9FE25D611E45}"/>
              </a:ext>
            </a:extLst>
          </p:cNvPr>
          <p:cNvSpPr txBox="1"/>
          <p:nvPr/>
        </p:nvSpPr>
        <p:spPr>
          <a:xfrm>
            <a:off x="4892040" y="3703320"/>
            <a:ext cx="6949440" cy="685800"/>
          </a:xfrm>
          <a:prstGeom prst="rect">
            <a:avLst/>
          </a:prstGeom>
          <a:noFill/>
        </p:spPr>
        <p:txBody>
          <a:bodyPr wrap="square" lIns="91440" tIns="45720" rIns="91440" bIns="45720" rtlCol="0" anchor="t">
            <a:spAutoFit/>
          </a:bodyPr>
          <a:lstStyle/>
          <a:p>
            <a:pPr algn="ctr"/>
            <a:r>
              <a:rPr lang="en-IN" dirty="0">
                <a:solidFill>
                  <a:schemeClr val="bg1"/>
                </a:solidFill>
                <a:latin typeface="Times New Roman" panose="02020603050405020304" pitchFamily="18" charset="0"/>
                <a:cs typeface="Times New Roman" panose="02020603050405020304" pitchFamily="18" charset="0"/>
              </a:rPr>
              <a:t>Guided by</a:t>
            </a:r>
          </a:p>
          <a:p>
            <a:pPr algn="ctr"/>
            <a:r>
              <a:rPr lang="en-IN" dirty="0">
                <a:solidFill>
                  <a:schemeClr val="bg1"/>
                </a:solidFill>
                <a:latin typeface="Times New Roman" panose="02020603050405020304" pitchFamily="18" charset="0"/>
                <a:cs typeface="Times New Roman" panose="02020603050405020304" pitchFamily="18" charset="0"/>
              </a:rPr>
              <a:t>Dr. Lakshmi Mohan, Department of CSE</a:t>
            </a:r>
          </a:p>
        </p:txBody>
      </p:sp>
      <p:sp>
        <p:nvSpPr>
          <p:cNvPr id="8" name="TextBox 7">
            <a:extLst>
              <a:ext uri="{FF2B5EF4-FFF2-40B4-BE49-F238E27FC236}">
                <a16:creationId xmlns:a16="http://schemas.microsoft.com/office/drawing/2014/main" id="{2D8605FB-D7B1-40EF-3866-8637E8B7A023}"/>
              </a:ext>
            </a:extLst>
          </p:cNvPr>
          <p:cNvSpPr txBox="1"/>
          <p:nvPr/>
        </p:nvSpPr>
        <p:spPr>
          <a:xfrm>
            <a:off x="4857469" y="1051560"/>
            <a:ext cx="6118050" cy="584775"/>
          </a:xfrm>
          <a:prstGeom prst="rect">
            <a:avLst/>
          </a:prstGeom>
          <a:noFill/>
        </p:spPr>
        <p:txBody>
          <a:bodyPr wrap="square" lIns="91440" tIns="45720" rIns="91440" bIns="45720" rtlCol="0" anchor="t">
            <a:spAutoFit/>
          </a:bodyPr>
          <a:lstStyle/>
          <a:p>
            <a:pPr algn="ctr" defTabSz="457200"/>
            <a:r>
              <a:rPr lang="en-US" sz="3200" b="1" dirty="0">
                <a:solidFill>
                  <a:schemeClr val="bg1"/>
                </a:solidFill>
                <a:latin typeface="Arial Narrow" panose="020B0606020202030204" pitchFamily="34" charset="0"/>
                <a:cs typeface="Segoe UI"/>
              </a:rPr>
              <a:t>S7 PROJECT FINAL REVIEW</a:t>
            </a:r>
            <a:endParaRPr lang="en-US" sz="2800" b="1" dirty="0">
              <a:solidFill>
                <a:schemeClr val="bg1"/>
              </a:solidFill>
              <a:latin typeface="Arial Narrow" panose="020B0606020202030204" pitchFamily="34" charset="0"/>
            </a:endParaRPr>
          </a:p>
        </p:txBody>
      </p:sp>
      <p:sp>
        <p:nvSpPr>
          <p:cNvPr id="11" name="TextBox 10"/>
          <p:cNvSpPr txBox="1"/>
          <p:nvPr/>
        </p:nvSpPr>
        <p:spPr>
          <a:xfrm>
            <a:off x="4892040" y="2606040"/>
            <a:ext cx="6949440" cy="914400"/>
          </a:xfrm>
          <a:prstGeom prst="rect">
            <a:avLst/>
          </a:prstGeom>
          <a:noFill/>
        </p:spPr>
        <p:txBody>
          <a:bodyPr wrap="square" anchor="t" lIns="36576" rIns="36576" tIns="36576" bIns="36576">
            <a:spAutoFit/>
          </a:bodyPr>
          <a:lstStyle/>
          <a:p>
            <a:pPr algn="ctr">
              <a:spcAft>
                <a:spcPts val="0"/>
              </a:spcAft>
            </a:pPr>
            <a:r>
              <a:rPr sz="1700" b="0" i="0">
                <a:solidFill>
                  <a:srgbClr val="FFFFFF"/>
                </a:solidFill>
                <a:latin typeface="Georgia"/>
              </a:rPr>
              <a:t>Reinforcement Learning-Based Intelligent Auto-Scaling</a:t>
            </a:r>
          </a:p>
          <a:p>
            <a:pPr algn="ctr">
              <a:spcAft>
                <a:spcPts val="0"/>
              </a:spcAft>
            </a:pPr>
            <a:r>
              <a:rPr sz="1700" b="0" i="0">
                <a:solidFill>
                  <a:srgbClr val="FFFFFF"/>
                </a:solidFill>
                <a:latin typeface="Georgia"/>
              </a:rPr>
              <a:t>Framework for Distributed Microservices on Kubernetes</a:t>
            </a:r>
          </a:p>
        </p:txBody>
      </p:sp>
      <p:sp>
        <p:nvSpPr>
          <p:cNvPr id="12" name="TextBox 11"/>
          <p:cNvSpPr txBox="1"/>
          <p:nvPr/>
        </p:nvSpPr>
        <p:spPr>
          <a:xfrm>
            <a:off x="4892040" y="5943600"/>
            <a:ext cx="6949440" cy="365760"/>
          </a:xfrm>
          <a:prstGeom prst="rect">
            <a:avLst/>
          </a:prstGeom>
          <a:noFill/>
        </p:spPr>
        <p:txBody>
          <a:bodyPr wrap="square" anchor="t" lIns="36576" rIns="36576" tIns="36576" bIns="36576">
            <a:spAutoFit/>
          </a:bodyPr>
          <a:lstStyle/>
          <a:p>
            <a:pPr algn="ctr">
              <a:spcAft>
                <a:spcPts val="400"/>
              </a:spcAft>
            </a:pPr>
            <a:r>
              <a:rPr sz="1200" b="0" i="0">
                <a:solidFill>
                  <a:srgbClr val="FFFFFF"/>
                </a:solidFill>
                <a:latin typeface="Georgia"/>
              </a:rPr>
              <a:t>Team A1  ·  Amrita School of Computing, Amritapuri  ·  November 2026</a:t>
            </a:r>
          </a:p>
        </p:txBody>
      </p:sp>
    </p:spTree>
    <p:extLst>
      <p:ext uri="{BB962C8B-B14F-4D97-AF65-F5344CB8AC3E}">
        <p14:creationId xmlns:p14="http://schemas.microsoft.com/office/powerpoint/2010/main" val="300592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F80A38-C040-884E-9416-3B2C3AC0417C}"/>
              </a:ext>
            </a:extLst>
          </p:cNvPr>
          <p:cNvSpPr>
            <a:spLocks noGrp="1"/>
          </p:cNvSpPr>
          <p:nvPr>
            <p:ph type="title"/>
          </p:nvPr>
        </p:nvSpPr>
        <p:spPr>
          <a:xfrm>
            <a:off x="566928" y="347472"/>
            <a:ext cx="11210544" cy="466344"/>
          </a:xfrm>
        </p:spPr>
        <p:txBody>
          <a:bodyPr/>
          <a:lstStyle/>
          <a:p>
            <a:r>
              <a:rPr lang="en-IN" dirty="0"/>
              <a:t>Outline</a:t>
            </a:r>
          </a:p>
        </p:txBody>
      </p:sp>
      <p:sp>
        <p:nvSpPr>
          <p:cNvPr id="4" name="Slide Number Placeholder 3">
            <a:extLst>
              <a:ext uri="{FF2B5EF4-FFF2-40B4-BE49-F238E27FC236}">
                <a16:creationId xmlns:a16="http://schemas.microsoft.com/office/drawing/2014/main" id="{8F7A0663-8695-8CFA-B1EF-3BA1E5427634}"/>
              </a:ext>
            </a:extLst>
          </p:cNvPr>
          <p:cNvSpPr>
            <a:spLocks noGrp="1"/>
          </p:cNvSpPr>
          <p:nvPr>
            <p:ph type="sldNum" sz="quarter" idx="12"/>
          </p:nvPr>
        </p:nvSpPr>
        <p:spPr/>
        <p:txBody>
          <a:bodyPr/>
          <a:lstStyle/>
          <a:p>
            <a:fld id="{330EA680-D336-4FF7-8B7A-9848BB0A1C32}" type="slidenum">
              <a:rPr lang="en-US" smtClean="0"/>
              <a:pPr/>
              <a:t>2</a:t>
            </a:fld>
            <a:endParaRPr lang="en-US"/>
          </a:p>
        </p:txBody>
      </p:sp>
      <p:sp>
        <p:nvSpPr>
          <p:cNvPr id="6" name="TextBox 5">
            <a:extLst>
              <a:ext uri="{FF2B5EF4-FFF2-40B4-BE49-F238E27FC236}">
                <a16:creationId xmlns:a16="http://schemas.microsoft.com/office/drawing/2014/main" id="{6A894FFD-4989-522F-352B-AB6F2C397014}"/>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FlexaScale</a:t>
            </a:r>
          </a:p>
        </p:txBody>
      </p:sp>
      <p:sp>
        <p:nvSpPr>
          <p:cNvPr id="7" name="Rounded Rectangle 6"/>
          <p:cNvSpPr/>
          <p:nvPr/>
        </p:nvSpPr>
        <p:spPr>
          <a:xfrm>
            <a:off x="566928" y="1234440"/>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76656" y="1344168"/>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a:t>
            </a:r>
          </a:p>
        </p:txBody>
      </p:sp>
      <p:sp>
        <p:nvSpPr>
          <p:cNvPr id="9" name="TextBox 8"/>
          <p:cNvSpPr txBox="1"/>
          <p:nvPr/>
        </p:nvSpPr>
        <p:spPr>
          <a:xfrm>
            <a:off x="1207007" y="1289304"/>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Introduction</a:t>
            </a:r>
          </a:p>
        </p:txBody>
      </p:sp>
      <p:sp>
        <p:nvSpPr>
          <p:cNvPr id="10" name="Rounded Rectangle 9"/>
          <p:cNvSpPr/>
          <p:nvPr/>
        </p:nvSpPr>
        <p:spPr>
          <a:xfrm>
            <a:off x="566928" y="2020824"/>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76656" y="2130552"/>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2</a:t>
            </a:r>
          </a:p>
        </p:txBody>
      </p:sp>
      <p:sp>
        <p:nvSpPr>
          <p:cNvPr id="12" name="TextBox 11"/>
          <p:cNvSpPr txBox="1"/>
          <p:nvPr/>
        </p:nvSpPr>
        <p:spPr>
          <a:xfrm>
            <a:off x="1207007" y="2075688"/>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Problem Definition</a:t>
            </a:r>
          </a:p>
        </p:txBody>
      </p:sp>
      <p:sp>
        <p:nvSpPr>
          <p:cNvPr id="13" name="Rounded Rectangle 12"/>
          <p:cNvSpPr/>
          <p:nvPr/>
        </p:nvSpPr>
        <p:spPr>
          <a:xfrm>
            <a:off x="566928" y="2807208"/>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2916936"/>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3</a:t>
            </a:r>
          </a:p>
        </p:txBody>
      </p:sp>
      <p:sp>
        <p:nvSpPr>
          <p:cNvPr id="15" name="TextBox 14"/>
          <p:cNvSpPr txBox="1"/>
          <p:nvPr/>
        </p:nvSpPr>
        <p:spPr>
          <a:xfrm>
            <a:off x="1207007" y="2862072"/>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Objectives</a:t>
            </a:r>
          </a:p>
        </p:txBody>
      </p:sp>
      <p:sp>
        <p:nvSpPr>
          <p:cNvPr id="16" name="Rounded Rectangle 15"/>
          <p:cNvSpPr/>
          <p:nvPr/>
        </p:nvSpPr>
        <p:spPr>
          <a:xfrm>
            <a:off x="566928" y="3593592"/>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6656" y="3703320"/>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4</a:t>
            </a:r>
          </a:p>
        </p:txBody>
      </p:sp>
      <p:sp>
        <p:nvSpPr>
          <p:cNvPr id="18" name="TextBox 17"/>
          <p:cNvSpPr txBox="1"/>
          <p:nvPr/>
        </p:nvSpPr>
        <p:spPr>
          <a:xfrm>
            <a:off x="1207007" y="3648456"/>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Literature Review</a:t>
            </a:r>
          </a:p>
        </p:txBody>
      </p:sp>
      <p:sp>
        <p:nvSpPr>
          <p:cNvPr id="19" name="Rounded Rectangle 18"/>
          <p:cNvSpPr/>
          <p:nvPr/>
        </p:nvSpPr>
        <p:spPr>
          <a:xfrm>
            <a:off x="566928" y="4379976"/>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76656" y="4489704"/>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5</a:t>
            </a:r>
          </a:p>
        </p:txBody>
      </p:sp>
      <p:sp>
        <p:nvSpPr>
          <p:cNvPr id="21" name="TextBox 20"/>
          <p:cNvSpPr txBox="1"/>
          <p:nvPr/>
        </p:nvSpPr>
        <p:spPr>
          <a:xfrm>
            <a:off x="1207007" y="4434840"/>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Research Gap</a:t>
            </a:r>
          </a:p>
        </p:txBody>
      </p:sp>
      <p:sp>
        <p:nvSpPr>
          <p:cNvPr id="22" name="Rounded Rectangle 21"/>
          <p:cNvSpPr/>
          <p:nvPr/>
        </p:nvSpPr>
        <p:spPr>
          <a:xfrm>
            <a:off x="566928" y="5166360"/>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6656" y="5276088"/>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6</a:t>
            </a:r>
          </a:p>
        </p:txBody>
      </p:sp>
      <p:sp>
        <p:nvSpPr>
          <p:cNvPr id="24" name="TextBox 23"/>
          <p:cNvSpPr txBox="1"/>
          <p:nvPr/>
        </p:nvSpPr>
        <p:spPr>
          <a:xfrm>
            <a:off x="1207007" y="5221224"/>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Datasets, Platforms and Tools</a:t>
            </a:r>
          </a:p>
        </p:txBody>
      </p:sp>
      <p:sp>
        <p:nvSpPr>
          <p:cNvPr id="25" name="Rounded Rectangle 24"/>
          <p:cNvSpPr/>
          <p:nvPr/>
        </p:nvSpPr>
        <p:spPr>
          <a:xfrm>
            <a:off x="4361688" y="1234440"/>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71416" y="1344168"/>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7</a:t>
            </a:r>
          </a:p>
        </p:txBody>
      </p:sp>
      <p:sp>
        <p:nvSpPr>
          <p:cNvPr id="27" name="TextBox 26"/>
          <p:cNvSpPr txBox="1"/>
          <p:nvPr/>
        </p:nvSpPr>
        <p:spPr>
          <a:xfrm>
            <a:off x="5001768" y="1289304"/>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Proposed Methodology</a:t>
            </a:r>
          </a:p>
        </p:txBody>
      </p:sp>
      <p:sp>
        <p:nvSpPr>
          <p:cNvPr id="28" name="Rounded Rectangle 27"/>
          <p:cNvSpPr/>
          <p:nvPr/>
        </p:nvSpPr>
        <p:spPr>
          <a:xfrm>
            <a:off x="4361688" y="2020824"/>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471416" y="2130552"/>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8</a:t>
            </a:r>
          </a:p>
        </p:txBody>
      </p:sp>
      <p:sp>
        <p:nvSpPr>
          <p:cNvPr id="30" name="TextBox 29"/>
          <p:cNvSpPr txBox="1"/>
          <p:nvPr/>
        </p:nvSpPr>
        <p:spPr>
          <a:xfrm>
            <a:off x="5001768" y="2075688"/>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Proposed Approach</a:t>
            </a:r>
          </a:p>
        </p:txBody>
      </p:sp>
      <p:sp>
        <p:nvSpPr>
          <p:cNvPr id="31" name="Rounded Rectangle 30"/>
          <p:cNvSpPr/>
          <p:nvPr/>
        </p:nvSpPr>
        <p:spPr>
          <a:xfrm>
            <a:off x="4361688" y="2807208"/>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471416" y="2916936"/>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9</a:t>
            </a:r>
          </a:p>
        </p:txBody>
      </p:sp>
      <p:sp>
        <p:nvSpPr>
          <p:cNvPr id="33" name="TextBox 32"/>
          <p:cNvSpPr txBox="1"/>
          <p:nvPr/>
        </p:nvSpPr>
        <p:spPr>
          <a:xfrm>
            <a:off x="5001768" y="2862072"/>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Evaluation Setup and Criteria</a:t>
            </a:r>
          </a:p>
        </p:txBody>
      </p:sp>
      <p:sp>
        <p:nvSpPr>
          <p:cNvPr id="34" name="Rounded Rectangle 33"/>
          <p:cNvSpPr/>
          <p:nvPr/>
        </p:nvSpPr>
        <p:spPr>
          <a:xfrm>
            <a:off x="4361688" y="3593592"/>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471416" y="3703320"/>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10</a:t>
            </a:r>
          </a:p>
        </p:txBody>
      </p:sp>
      <p:sp>
        <p:nvSpPr>
          <p:cNvPr id="36" name="TextBox 35"/>
          <p:cNvSpPr txBox="1"/>
          <p:nvPr/>
        </p:nvSpPr>
        <p:spPr>
          <a:xfrm>
            <a:off x="5001768" y="3648456"/>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Results and Analysis</a:t>
            </a:r>
          </a:p>
        </p:txBody>
      </p:sp>
      <p:sp>
        <p:nvSpPr>
          <p:cNvPr id="37" name="Rounded Rectangle 36"/>
          <p:cNvSpPr/>
          <p:nvPr/>
        </p:nvSpPr>
        <p:spPr>
          <a:xfrm>
            <a:off x="4361688" y="4379976"/>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471416" y="4489704"/>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11</a:t>
            </a:r>
          </a:p>
        </p:txBody>
      </p:sp>
      <p:sp>
        <p:nvSpPr>
          <p:cNvPr id="39" name="TextBox 38"/>
          <p:cNvSpPr txBox="1"/>
          <p:nvPr/>
        </p:nvSpPr>
        <p:spPr>
          <a:xfrm>
            <a:off x="5001768" y="4434840"/>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Discussion and Limitations</a:t>
            </a:r>
          </a:p>
        </p:txBody>
      </p:sp>
      <p:sp>
        <p:nvSpPr>
          <p:cNvPr id="40" name="Rounded Rectangle 39"/>
          <p:cNvSpPr/>
          <p:nvPr/>
        </p:nvSpPr>
        <p:spPr>
          <a:xfrm>
            <a:off x="4361688" y="5166360"/>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471416" y="5276088"/>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12</a:t>
            </a:r>
          </a:p>
        </p:txBody>
      </p:sp>
      <p:sp>
        <p:nvSpPr>
          <p:cNvPr id="42" name="TextBox 41"/>
          <p:cNvSpPr txBox="1"/>
          <p:nvPr/>
        </p:nvSpPr>
        <p:spPr>
          <a:xfrm>
            <a:off x="5001768" y="5221224"/>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Conclusion</a:t>
            </a:r>
          </a:p>
        </p:txBody>
      </p:sp>
      <p:sp>
        <p:nvSpPr>
          <p:cNvPr id="43" name="Rounded Rectangle 42"/>
          <p:cNvSpPr/>
          <p:nvPr/>
        </p:nvSpPr>
        <p:spPr>
          <a:xfrm>
            <a:off x="8156448" y="1234440"/>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266175" y="1344168"/>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13</a:t>
            </a:r>
          </a:p>
        </p:txBody>
      </p:sp>
      <p:sp>
        <p:nvSpPr>
          <p:cNvPr id="45" name="TextBox 44"/>
          <p:cNvSpPr txBox="1"/>
          <p:nvPr/>
        </p:nvSpPr>
        <p:spPr>
          <a:xfrm>
            <a:off x="8796528" y="1289304"/>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Future Work</a:t>
            </a:r>
          </a:p>
        </p:txBody>
      </p:sp>
      <p:sp>
        <p:nvSpPr>
          <p:cNvPr id="46" name="Rounded Rectangle 45"/>
          <p:cNvSpPr/>
          <p:nvPr/>
        </p:nvSpPr>
        <p:spPr>
          <a:xfrm>
            <a:off x="8156448" y="2020824"/>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66175" y="2130552"/>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14</a:t>
            </a:r>
          </a:p>
        </p:txBody>
      </p:sp>
      <p:sp>
        <p:nvSpPr>
          <p:cNvPr id="48" name="TextBox 47"/>
          <p:cNvSpPr txBox="1"/>
          <p:nvPr/>
        </p:nvSpPr>
        <p:spPr>
          <a:xfrm>
            <a:off x="8796528" y="2075688"/>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Team Contribution</a:t>
            </a:r>
          </a:p>
        </p:txBody>
      </p:sp>
      <p:sp>
        <p:nvSpPr>
          <p:cNvPr id="49" name="Rounded Rectangle 48"/>
          <p:cNvSpPr/>
          <p:nvPr/>
        </p:nvSpPr>
        <p:spPr>
          <a:xfrm>
            <a:off x="8156448" y="2807208"/>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266175" y="2916936"/>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15</a:t>
            </a:r>
          </a:p>
        </p:txBody>
      </p:sp>
      <p:sp>
        <p:nvSpPr>
          <p:cNvPr id="51" name="TextBox 50"/>
          <p:cNvSpPr txBox="1"/>
          <p:nvPr/>
        </p:nvSpPr>
        <p:spPr>
          <a:xfrm>
            <a:off x="8796528" y="2862072"/>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Appendix A: Code and Demo</a:t>
            </a:r>
          </a:p>
        </p:txBody>
      </p:sp>
      <p:sp>
        <p:nvSpPr>
          <p:cNvPr id="52" name="Rounded Rectangle 51"/>
          <p:cNvSpPr/>
          <p:nvPr/>
        </p:nvSpPr>
        <p:spPr>
          <a:xfrm>
            <a:off x="8156448" y="3593592"/>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266175" y="3703320"/>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16</a:t>
            </a:r>
          </a:p>
        </p:txBody>
      </p:sp>
      <p:sp>
        <p:nvSpPr>
          <p:cNvPr id="54" name="TextBox 53"/>
          <p:cNvSpPr txBox="1"/>
          <p:nvPr/>
        </p:nvSpPr>
        <p:spPr>
          <a:xfrm>
            <a:off x="8796528" y="3648456"/>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Project Time Line</a:t>
            </a:r>
          </a:p>
        </p:txBody>
      </p:sp>
      <p:sp>
        <p:nvSpPr>
          <p:cNvPr id="55" name="Rounded Rectangle 54"/>
          <p:cNvSpPr/>
          <p:nvPr/>
        </p:nvSpPr>
        <p:spPr>
          <a:xfrm>
            <a:off x="8156448" y="4379976"/>
            <a:ext cx="3520440" cy="62179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266175" y="4489704"/>
            <a:ext cx="402336" cy="402336"/>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17</a:t>
            </a:r>
          </a:p>
        </p:txBody>
      </p:sp>
      <p:sp>
        <p:nvSpPr>
          <p:cNvPr id="57" name="TextBox 56"/>
          <p:cNvSpPr txBox="1"/>
          <p:nvPr/>
        </p:nvSpPr>
        <p:spPr>
          <a:xfrm>
            <a:off x="8796528" y="4434840"/>
            <a:ext cx="2834640" cy="512064"/>
          </a:xfrm>
          <a:prstGeom prst="rect">
            <a:avLst/>
          </a:prstGeom>
          <a:noFill/>
        </p:spPr>
        <p:txBody>
          <a:bodyPr wrap="square" anchor="ctr" lIns="36576" rIns="36576" tIns="36576" bIns="36576">
            <a:spAutoFit/>
          </a:bodyPr>
          <a:lstStyle/>
          <a:p>
            <a:pPr algn="l">
              <a:spcAft>
                <a:spcPts val="400"/>
              </a:spcAft>
            </a:pPr>
            <a:r>
              <a:rPr sz="1500" b="0" i="0">
                <a:solidFill>
                  <a:srgbClr val="222222"/>
                </a:solidFill>
                <a:latin typeface="Georgia"/>
              </a:rPr>
              <a:t>Reference</a:t>
            </a:r>
          </a:p>
        </p:txBody>
      </p:sp>
    </p:spTree>
    <p:extLst>
      <p:ext uri="{BB962C8B-B14F-4D97-AF65-F5344CB8AC3E}">
        <p14:creationId xmlns:p14="http://schemas.microsoft.com/office/powerpoint/2010/main" val="2683305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4CB472-A06D-9C25-FD57-AECDAC542AFC}"/>
              </a:ext>
            </a:extLst>
          </p:cNvPr>
          <p:cNvSpPr>
            <a:spLocks noGrp="1"/>
          </p:cNvSpPr>
          <p:nvPr>
            <p:ph type="title"/>
          </p:nvPr>
        </p:nvSpPr>
        <p:spPr>
          <a:xfrm>
            <a:off x="566928" y="347472"/>
            <a:ext cx="11210544" cy="466344"/>
          </a:xfrm>
        </p:spPr>
        <p:txBody>
          <a:bodyPr/>
          <a:lstStyle/>
          <a:p>
            <a:r>
              <a:rPr lang="en-IN" dirty="0"/>
              <a:t>Introduction</a:t>
            </a:r>
          </a:p>
        </p:txBody>
      </p:sp>
      <p:sp>
        <p:nvSpPr>
          <p:cNvPr id="4" name="Slide Number Placeholder 3">
            <a:extLst>
              <a:ext uri="{FF2B5EF4-FFF2-40B4-BE49-F238E27FC236}">
                <a16:creationId xmlns:a16="http://schemas.microsoft.com/office/drawing/2014/main" id="{83250965-C483-1697-51DB-BD1416C6089C}"/>
              </a:ext>
            </a:extLst>
          </p:cNvPr>
          <p:cNvSpPr>
            <a:spLocks noGrp="1"/>
          </p:cNvSpPr>
          <p:nvPr>
            <p:ph type="sldNum" sz="quarter" idx="12"/>
          </p:nvPr>
        </p:nvSpPr>
        <p:spPr/>
        <p:txBody>
          <a:bodyPr/>
          <a:lstStyle/>
          <a:p>
            <a:fld id="{330EA680-D336-4FF7-8B7A-9848BB0A1C32}" type="slidenum">
              <a:rPr lang="en-US" smtClean="0"/>
              <a:pPr/>
              <a:t>3</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Background and motivation</a:t>
            </a:r>
          </a:p>
        </p:txBody>
      </p:sp>
      <p:sp>
        <p:nvSpPr>
          <p:cNvPr id="6" name="Oval 5"/>
          <p:cNvSpPr/>
          <p:nvPr/>
        </p:nvSpPr>
        <p:spPr>
          <a:xfrm>
            <a:off x="566928" y="1417320"/>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Georgia"/>
              </a:rPr>
              <a:t>1</a:t>
            </a:r>
          </a:p>
        </p:txBody>
      </p:sp>
      <p:sp>
        <p:nvSpPr>
          <p:cNvPr id="7" name="TextBox 6"/>
          <p:cNvSpPr txBox="1"/>
          <p:nvPr/>
        </p:nvSpPr>
        <p:spPr>
          <a:xfrm>
            <a:off x="1207007" y="1353312"/>
            <a:ext cx="6035040" cy="365760"/>
          </a:xfrm>
          <a:prstGeom prst="rect">
            <a:avLst/>
          </a:prstGeom>
          <a:noFill/>
        </p:spPr>
        <p:txBody>
          <a:bodyPr wrap="square" anchor="t" lIns="36576" rIns="36576" tIns="36576" bIns="36576">
            <a:spAutoFit/>
          </a:bodyPr>
          <a:lstStyle/>
          <a:p>
            <a:pPr algn="l">
              <a:spcAft>
                <a:spcPts val="400"/>
              </a:spcAft>
            </a:pPr>
            <a:r>
              <a:rPr sz="1800" b="1" i="0">
                <a:solidFill>
                  <a:srgbClr val="6E0B2A"/>
                </a:solidFill>
                <a:latin typeface="Georgia"/>
              </a:rPr>
              <a:t>Microservices run on Kubernetes</a:t>
            </a:r>
          </a:p>
        </p:txBody>
      </p:sp>
      <p:sp>
        <p:nvSpPr>
          <p:cNvPr id="8" name="TextBox 7"/>
          <p:cNvSpPr txBox="1"/>
          <p:nvPr/>
        </p:nvSpPr>
        <p:spPr>
          <a:xfrm>
            <a:off x="1207007" y="1737360"/>
            <a:ext cx="6035040" cy="7315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An online shop is many small services. Kubernetes keeps N replicas of each one running.</a:t>
            </a:r>
          </a:p>
        </p:txBody>
      </p:sp>
      <p:sp>
        <p:nvSpPr>
          <p:cNvPr id="9" name="Oval 8"/>
          <p:cNvSpPr/>
          <p:nvPr/>
        </p:nvSpPr>
        <p:spPr>
          <a:xfrm>
            <a:off x="566928" y="2587752"/>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Georgia"/>
              </a:rPr>
              <a:t>2</a:t>
            </a:r>
          </a:p>
        </p:txBody>
      </p:sp>
      <p:sp>
        <p:nvSpPr>
          <p:cNvPr id="10" name="TextBox 9"/>
          <p:cNvSpPr txBox="1"/>
          <p:nvPr/>
        </p:nvSpPr>
        <p:spPr>
          <a:xfrm>
            <a:off x="1207007" y="2523744"/>
            <a:ext cx="6035040" cy="365760"/>
          </a:xfrm>
          <a:prstGeom prst="rect">
            <a:avLst/>
          </a:prstGeom>
          <a:noFill/>
        </p:spPr>
        <p:txBody>
          <a:bodyPr wrap="square" anchor="t" lIns="36576" rIns="36576" tIns="36576" bIns="36576">
            <a:spAutoFit/>
          </a:bodyPr>
          <a:lstStyle/>
          <a:p>
            <a:pPr algn="l">
              <a:spcAft>
                <a:spcPts val="400"/>
              </a:spcAft>
            </a:pPr>
            <a:r>
              <a:rPr sz="1800" b="1" i="0">
                <a:solidFill>
                  <a:srgbClr val="6E0B2A"/>
                </a:solidFill>
                <a:latin typeface="Georgia"/>
              </a:rPr>
              <a:t>The default autoscaler is simple</a:t>
            </a:r>
          </a:p>
        </p:txBody>
      </p:sp>
      <p:sp>
        <p:nvSpPr>
          <p:cNvPr id="11" name="TextBox 10"/>
          <p:cNvSpPr txBox="1"/>
          <p:nvPr/>
        </p:nvSpPr>
        <p:spPr>
          <a:xfrm>
            <a:off x="1207007" y="2907792"/>
            <a:ext cx="6035040" cy="7315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The HPA scales each service on its own CPU: desired = ⌈replicas × CPU / target⌉, then waits 5 min before scaling down.</a:t>
            </a:r>
          </a:p>
        </p:txBody>
      </p:sp>
      <p:sp>
        <p:nvSpPr>
          <p:cNvPr id="12" name="Oval 11"/>
          <p:cNvSpPr/>
          <p:nvPr/>
        </p:nvSpPr>
        <p:spPr>
          <a:xfrm>
            <a:off x="566928" y="3758184"/>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Georgia"/>
              </a:rPr>
              <a:t>3</a:t>
            </a:r>
          </a:p>
        </p:txBody>
      </p:sp>
      <p:sp>
        <p:nvSpPr>
          <p:cNvPr id="13" name="TextBox 12"/>
          <p:cNvSpPr txBox="1"/>
          <p:nvPr/>
        </p:nvSpPr>
        <p:spPr>
          <a:xfrm>
            <a:off x="1207007" y="3694176"/>
            <a:ext cx="6035040" cy="365760"/>
          </a:xfrm>
          <a:prstGeom prst="rect">
            <a:avLst/>
          </a:prstGeom>
          <a:noFill/>
        </p:spPr>
        <p:txBody>
          <a:bodyPr wrap="square" anchor="t" lIns="36576" rIns="36576" tIns="36576" bIns="36576">
            <a:spAutoFit/>
          </a:bodyPr>
          <a:lstStyle/>
          <a:p>
            <a:pPr algn="l">
              <a:spcAft>
                <a:spcPts val="400"/>
              </a:spcAft>
            </a:pPr>
            <a:r>
              <a:rPr sz="1800" b="1" i="0">
                <a:solidFill>
                  <a:srgbClr val="6E0B2A"/>
                </a:solidFill>
                <a:latin typeface="Georgia"/>
              </a:rPr>
              <a:t>Simple rules leave gaps</a:t>
            </a:r>
          </a:p>
        </p:txBody>
      </p:sp>
      <p:sp>
        <p:nvSpPr>
          <p:cNvPr id="14" name="TextBox 13"/>
          <p:cNvSpPr txBox="1"/>
          <p:nvPr/>
        </p:nvSpPr>
        <p:spPr>
          <a:xfrm>
            <a:off x="1207007" y="4078224"/>
            <a:ext cx="6035040" cy="7315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It cannot see call dependencies or non-CPU bottlenecks, and it keeps spike capacity long after a spike.</a:t>
            </a:r>
          </a:p>
        </p:txBody>
      </p:sp>
      <p:sp>
        <p:nvSpPr>
          <p:cNvPr id="15" name="Oval 14"/>
          <p:cNvSpPr/>
          <p:nvPr/>
        </p:nvSpPr>
        <p:spPr>
          <a:xfrm>
            <a:off x="566928" y="4928616"/>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Georgia"/>
              </a:rPr>
              <a:t>4</a:t>
            </a:r>
          </a:p>
        </p:txBody>
      </p:sp>
      <p:sp>
        <p:nvSpPr>
          <p:cNvPr id="16" name="TextBox 15"/>
          <p:cNvSpPr txBox="1"/>
          <p:nvPr/>
        </p:nvSpPr>
        <p:spPr>
          <a:xfrm>
            <a:off x="1207007" y="4864608"/>
            <a:ext cx="6035040" cy="365760"/>
          </a:xfrm>
          <a:prstGeom prst="rect">
            <a:avLst/>
          </a:prstGeom>
          <a:noFill/>
        </p:spPr>
        <p:txBody>
          <a:bodyPr wrap="square" anchor="t" lIns="36576" rIns="36576" tIns="36576" bIns="36576">
            <a:spAutoFit/>
          </a:bodyPr>
          <a:lstStyle/>
          <a:p>
            <a:pPr algn="l">
              <a:spcAft>
                <a:spcPts val="400"/>
              </a:spcAft>
            </a:pPr>
            <a:r>
              <a:rPr sz="1800" b="1" i="0">
                <a:solidFill>
                  <a:srgbClr val="6E0B2A"/>
                </a:solidFill>
                <a:latin typeface="Georgia"/>
              </a:rPr>
              <a:t>Our aim</a:t>
            </a:r>
          </a:p>
        </p:txBody>
      </p:sp>
      <p:sp>
        <p:nvSpPr>
          <p:cNvPr id="17" name="TextBox 16"/>
          <p:cNvSpPr txBox="1"/>
          <p:nvPr/>
        </p:nvSpPr>
        <p:spPr>
          <a:xfrm>
            <a:off x="1207007" y="5248656"/>
            <a:ext cx="6035040" cy="7315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Let a learned, dependency-aware policy scale the services, without giving up the HPA's safety.</a:t>
            </a:r>
          </a:p>
        </p:txBody>
      </p:sp>
      <p:sp>
        <p:nvSpPr>
          <p:cNvPr id="18" name="Rounded Rectangle 17"/>
          <p:cNvSpPr/>
          <p:nvPr/>
        </p:nvSpPr>
        <p:spPr>
          <a:xfrm>
            <a:off x="7452360" y="1371600"/>
            <a:ext cx="4325112" cy="47548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481328"/>
            <a:ext cx="3931920" cy="365760"/>
          </a:xfrm>
          <a:prstGeom prst="rect">
            <a:avLst/>
          </a:prstGeom>
          <a:noFill/>
        </p:spPr>
        <p:txBody>
          <a:bodyPr wrap="square" anchor="t" lIns="36576" rIns="36576" tIns="36576" bIns="36576">
            <a:spAutoFit/>
          </a:bodyPr>
          <a:lstStyle/>
          <a:p>
            <a:pPr algn="l">
              <a:spcAft>
                <a:spcPts val="400"/>
              </a:spcAft>
            </a:pPr>
            <a:r>
              <a:rPr sz="1600" b="1" i="0">
                <a:solidFill>
                  <a:srgbClr val="6E0B2A"/>
                </a:solidFill>
                <a:latin typeface="Georgia"/>
              </a:rPr>
              <a:t>Sustainable Development Goals</a:t>
            </a:r>
          </a:p>
        </p:txBody>
      </p:sp>
      <p:sp>
        <p:nvSpPr>
          <p:cNvPr id="20" name="Rectangle 19"/>
          <p:cNvSpPr/>
          <p:nvPr/>
        </p:nvSpPr>
        <p:spPr>
          <a:xfrm>
            <a:off x="7680960" y="2011680"/>
            <a:ext cx="1051560" cy="1051560"/>
          </a:xfrm>
          <a:prstGeom prst="rect">
            <a:avLst/>
          </a:prstGeom>
          <a:solidFill>
            <a:srgbClr val="F36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Georgia"/>
              </a:rPr>
              <a:t>SDG</a:t>
            </a:r>
          </a:p>
          <a:p>
            <a:pPr algn="ctr"/>
            <a:r>
              <a:rPr sz="2600" b="1" i="0">
                <a:solidFill>
                  <a:srgbClr val="FFFFFF"/>
                </a:solidFill>
                <a:latin typeface="Georgia"/>
              </a:rPr>
              <a:t>9</a:t>
            </a:r>
          </a:p>
        </p:txBody>
      </p:sp>
      <p:sp>
        <p:nvSpPr>
          <p:cNvPr id="21" name="TextBox 20"/>
          <p:cNvSpPr txBox="1"/>
          <p:nvPr/>
        </p:nvSpPr>
        <p:spPr>
          <a:xfrm>
            <a:off x="8869680" y="1975104"/>
            <a:ext cx="2788920" cy="594360"/>
          </a:xfrm>
          <a:prstGeom prst="rect">
            <a:avLst/>
          </a:prstGeom>
          <a:noFill/>
        </p:spPr>
        <p:txBody>
          <a:bodyPr wrap="square" anchor="t" lIns="36576" rIns="36576" tIns="36576" bIns="36576">
            <a:spAutoFit/>
          </a:bodyPr>
          <a:lstStyle/>
          <a:p>
            <a:pPr algn="l">
              <a:spcAft>
                <a:spcPts val="400"/>
              </a:spcAft>
            </a:pPr>
            <a:r>
              <a:rPr sz="1300" b="1" i="0">
                <a:solidFill>
                  <a:srgbClr val="222222"/>
                </a:solidFill>
                <a:latin typeface="Georgia"/>
              </a:rPr>
              <a:t>Industry, Innovation and Infrastructure</a:t>
            </a:r>
          </a:p>
        </p:txBody>
      </p:sp>
      <p:sp>
        <p:nvSpPr>
          <p:cNvPr id="22" name="TextBox 21"/>
          <p:cNvSpPr txBox="1"/>
          <p:nvPr/>
        </p:nvSpPr>
        <p:spPr>
          <a:xfrm>
            <a:off x="8869680" y="2560320"/>
            <a:ext cx="2788920" cy="822960"/>
          </a:xfrm>
          <a:prstGeom prst="rect">
            <a:avLst/>
          </a:prstGeom>
          <a:noFill/>
        </p:spPr>
        <p:txBody>
          <a:bodyPr wrap="square" anchor="t" lIns="36576" rIns="36576" tIns="36576" bIns="36576">
            <a:spAutoFit/>
          </a:bodyPr>
          <a:lstStyle/>
          <a:p>
            <a:pPr algn="l">
              <a:spcAft>
                <a:spcPts val="400"/>
              </a:spcAft>
            </a:pPr>
            <a:r>
              <a:rPr sz="1200" b="0" i="0">
                <a:solidFill>
                  <a:srgbClr val="5F6670"/>
                </a:solidFill>
                <a:latin typeface="Georgia"/>
              </a:rPr>
              <a:t>Target 9.4: resource-efficient, reliable cloud infrastructure</a:t>
            </a:r>
          </a:p>
        </p:txBody>
      </p:sp>
      <p:sp>
        <p:nvSpPr>
          <p:cNvPr id="23" name="Rectangle 22"/>
          <p:cNvSpPr/>
          <p:nvPr/>
        </p:nvSpPr>
        <p:spPr>
          <a:xfrm>
            <a:off x="7680960" y="3977639"/>
            <a:ext cx="1051560" cy="1051560"/>
          </a:xfrm>
          <a:prstGeom prst="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Georgia"/>
              </a:rPr>
              <a:t>SDG</a:t>
            </a:r>
          </a:p>
          <a:p>
            <a:pPr algn="ctr"/>
            <a:r>
              <a:rPr sz="2600" b="1" i="0">
                <a:solidFill>
                  <a:srgbClr val="FFFFFF"/>
                </a:solidFill>
                <a:latin typeface="Georgia"/>
              </a:rPr>
              <a:t>12</a:t>
            </a:r>
          </a:p>
        </p:txBody>
      </p:sp>
      <p:sp>
        <p:nvSpPr>
          <p:cNvPr id="24" name="TextBox 23"/>
          <p:cNvSpPr txBox="1"/>
          <p:nvPr/>
        </p:nvSpPr>
        <p:spPr>
          <a:xfrm>
            <a:off x="8869680" y="3941063"/>
            <a:ext cx="2788920" cy="594360"/>
          </a:xfrm>
          <a:prstGeom prst="rect">
            <a:avLst/>
          </a:prstGeom>
          <a:noFill/>
        </p:spPr>
        <p:txBody>
          <a:bodyPr wrap="square" anchor="t" lIns="36576" rIns="36576" tIns="36576" bIns="36576">
            <a:spAutoFit/>
          </a:bodyPr>
          <a:lstStyle/>
          <a:p>
            <a:pPr algn="l">
              <a:spcAft>
                <a:spcPts val="400"/>
              </a:spcAft>
            </a:pPr>
            <a:r>
              <a:rPr sz="1300" b="1" i="0">
                <a:solidFill>
                  <a:srgbClr val="222222"/>
                </a:solidFill>
                <a:latin typeface="Georgia"/>
              </a:rPr>
              <a:t>Responsible Consumption and Production</a:t>
            </a:r>
          </a:p>
        </p:txBody>
      </p:sp>
      <p:sp>
        <p:nvSpPr>
          <p:cNvPr id="25" name="TextBox 24"/>
          <p:cNvSpPr txBox="1"/>
          <p:nvPr/>
        </p:nvSpPr>
        <p:spPr>
          <a:xfrm>
            <a:off x="8869680" y="4526279"/>
            <a:ext cx="2788920" cy="822960"/>
          </a:xfrm>
          <a:prstGeom prst="rect">
            <a:avLst/>
          </a:prstGeom>
          <a:noFill/>
        </p:spPr>
        <p:txBody>
          <a:bodyPr wrap="square" anchor="t" lIns="36576" rIns="36576" tIns="36576" bIns="36576">
            <a:spAutoFit/>
          </a:bodyPr>
          <a:lstStyle/>
          <a:p>
            <a:pPr algn="l">
              <a:spcAft>
                <a:spcPts val="400"/>
              </a:spcAft>
            </a:pPr>
            <a:r>
              <a:rPr sz="1200" b="0" i="0">
                <a:solidFill>
                  <a:srgbClr val="5F6670"/>
                </a:solidFill>
                <a:latin typeface="Georgia"/>
              </a:rPr>
              <a:t>Target 12.2: fewer idle replicas, less allocated compute</a:t>
            </a:r>
          </a:p>
        </p:txBody>
      </p:sp>
      <p:sp>
        <p:nvSpPr>
          <p:cNvPr id="26" name="TextBox 25"/>
          <p:cNvSpPr txBox="1"/>
          <p:nvPr/>
        </p:nvSpPr>
        <p:spPr>
          <a:xfrm>
            <a:off x="7680960" y="5623560"/>
            <a:ext cx="3931920" cy="45720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Demonstrated on a laptop cluster; production-scale savings are expected, not measured.</a:t>
            </a:r>
          </a:p>
        </p:txBody>
      </p:sp>
    </p:spTree>
    <p:extLst>
      <p:ext uri="{BB962C8B-B14F-4D97-AF65-F5344CB8AC3E}">
        <p14:creationId xmlns:p14="http://schemas.microsoft.com/office/powerpoint/2010/main" val="4233752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50633C-78AA-FC43-00EB-02E18E8505FA}"/>
              </a:ext>
            </a:extLst>
          </p:cNvPr>
          <p:cNvSpPr>
            <a:spLocks noGrp="1"/>
          </p:cNvSpPr>
          <p:nvPr>
            <p:ph type="title"/>
          </p:nvPr>
        </p:nvSpPr>
        <p:spPr>
          <a:xfrm>
            <a:off x="566928" y="347472"/>
            <a:ext cx="11210544" cy="466344"/>
          </a:xfrm>
        </p:spPr>
        <p:txBody>
          <a:bodyPr/>
          <a:lstStyle/>
          <a:p>
            <a:r>
              <a:rPr lang="en-IN" dirty="0"/>
              <a:t>Problem Definition</a:t>
            </a:r>
          </a:p>
        </p:txBody>
      </p:sp>
      <p:sp>
        <p:nvSpPr>
          <p:cNvPr id="4" name="Slide Number Placeholder 3">
            <a:extLst>
              <a:ext uri="{FF2B5EF4-FFF2-40B4-BE49-F238E27FC236}">
                <a16:creationId xmlns:a16="http://schemas.microsoft.com/office/drawing/2014/main" id="{F58CA07F-E0C6-2168-22BB-CC5C59053BA3}"/>
              </a:ext>
            </a:extLst>
          </p:cNvPr>
          <p:cNvSpPr>
            <a:spLocks noGrp="1"/>
          </p:cNvSpPr>
          <p:nvPr>
            <p:ph type="sldNum" sz="quarter" idx="12"/>
          </p:nvPr>
        </p:nvSpPr>
        <p:spPr/>
        <p:txBody>
          <a:bodyPr/>
          <a:lstStyle/>
          <a:p>
            <a:fld id="{330EA680-D336-4FF7-8B7A-9848BB0A1C32}" type="slidenum">
              <a:rPr lang="en-US" smtClean="0"/>
              <a:pPr/>
              <a:t>4</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Problem statement</a:t>
            </a:r>
          </a:p>
        </p:txBody>
      </p:sp>
      <p:sp>
        <p:nvSpPr>
          <p:cNvPr id="6" name="Rounded Rectangle 5"/>
          <p:cNvSpPr/>
          <p:nvPr/>
        </p:nvSpPr>
        <p:spPr>
          <a:xfrm>
            <a:off x="566928" y="1325880"/>
            <a:ext cx="11210544" cy="1051560"/>
          </a:xfrm>
          <a:prstGeom prst="roundRect">
            <a:avLst>
              <a:gd name="adj" fmla="val 6000"/>
            </a:avLst>
          </a:prstGeom>
          <a:solidFill>
            <a:srgbClr val="F7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71600"/>
            <a:ext cx="10753344" cy="960120"/>
          </a:xfrm>
          <a:prstGeom prst="rect">
            <a:avLst/>
          </a:prstGeom>
          <a:noFill/>
        </p:spPr>
        <p:txBody>
          <a:bodyPr wrap="square" anchor="ctr" lIns="36576" rIns="36576" tIns="36576" bIns="36576">
            <a:spAutoFit/>
          </a:bodyPr>
          <a:lstStyle/>
          <a:p>
            <a:pPr algn="l">
              <a:spcAft>
                <a:spcPts val="400"/>
              </a:spcAft>
            </a:pPr>
            <a:r>
              <a:rPr sz="1700" b="0" i="0">
                <a:solidFill>
                  <a:srgbClr val="222222"/>
                </a:solidFill>
                <a:latin typeface="Georgia"/>
              </a:rPr>
              <a:t>Choose the replica count of every service, every 10 s, so that the application uses as few </a:t>
            </a:r>
            <a:r>
              <a:rPr sz="1700" b="1" i="0">
                <a:solidFill>
                  <a:srgbClr val="222222"/>
                </a:solidFill>
                <a:latin typeface="Georgia"/>
              </a:rPr>
              <a:t>replica-hours</a:t>
            </a:r>
            <a:r>
              <a:rPr sz="1700" b="0" i="0">
                <a:solidFill>
                  <a:srgbClr val="222222"/>
                </a:solidFill>
                <a:latin typeface="Georgia"/>
              </a:rPr>
              <a:t> as possible while end-to-end </a:t>
            </a:r>
            <a:r>
              <a:rPr sz="1700" b="1" i="0">
                <a:solidFill>
                  <a:srgbClr val="222222"/>
                </a:solidFill>
                <a:latin typeface="Georgia"/>
              </a:rPr>
              <a:t>p95 latency stays ≤ 1000 ms</a:t>
            </a:r>
            <a:r>
              <a:rPr sz="1700" b="0" i="0">
                <a:solidFill>
                  <a:srgbClr val="222222"/>
                </a:solidFill>
                <a:latin typeface="Georgia"/>
              </a:rPr>
              <a:t>, and the cluster stays safe.</a:t>
            </a:r>
          </a:p>
        </p:txBody>
      </p:sp>
      <p:sp>
        <p:nvSpPr>
          <p:cNvPr id="8" name="Rounded Rectangle 7"/>
          <p:cNvSpPr/>
          <p:nvPr/>
        </p:nvSpPr>
        <p:spPr>
          <a:xfrm>
            <a:off x="566928" y="2606040"/>
            <a:ext cx="3611880" cy="146304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697480"/>
            <a:ext cx="329184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Safety</a:t>
            </a:r>
          </a:p>
        </p:txBody>
      </p:sp>
      <p:sp>
        <p:nvSpPr>
          <p:cNvPr id="10" name="TextBox 9"/>
          <p:cNvSpPr txBox="1"/>
          <p:nvPr/>
        </p:nvSpPr>
        <p:spPr>
          <a:xfrm>
            <a:off x="749808" y="3108960"/>
            <a:ext cx="3291840" cy="914400"/>
          </a:xfrm>
          <a:prstGeom prst="rect">
            <a:avLst/>
          </a:prstGeom>
          <a:noFill/>
        </p:spPr>
        <p:txBody>
          <a:bodyPr wrap="square" anchor="t" lIns="36576" rIns="36576" tIns="36576" bIns="36576">
            <a:spAutoFit/>
          </a:bodyPr>
          <a:lstStyle/>
          <a:p>
            <a:pPr algn="l">
              <a:spcAft>
                <a:spcPts val="400"/>
              </a:spcAft>
            </a:pPr>
            <a:r>
              <a:rPr sz="1300" b="0" i="0">
                <a:solidFill>
                  <a:srgbClr val="222222"/>
                </a:solidFill>
                <a:latin typeface="Georgia"/>
              </a:rPr>
              <a:t>Bounded actions: one bad decision must not overload the node or empty a busy service.</a:t>
            </a:r>
          </a:p>
        </p:txBody>
      </p:sp>
      <p:sp>
        <p:nvSpPr>
          <p:cNvPr id="11" name="Rounded Rectangle 10"/>
          <p:cNvSpPr/>
          <p:nvPr/>
        </p:nvSpPr>
        <p:spPr>
          <a:xfrm>
            <a:off x="4361688" y="2606040"/>
            <a:ext cx="3611880" cy="146304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697480"/>
            <a:ext cx="329184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Exclusive control</a:t>
            </a:r>
          </a:p>
        </p:txBody>
      </p:sp>
      <p:sp>
        <p:nvSpPr>
          <p:cNvPr id="13" name="TextBox 12"/>
          <p:cNvSpPr txBox="1"/>
          <p:nvPr/>
        </p:nvSpPr>
        <p:spPr>
          <a:xfrm>
            <a:off x="4544568" y="3108960"/>
            <a:ext cx="3291840" cy="914400"/>
          </a:xfrm>
          <a:prstGeom prst="rect">
            <a:avLst/>
          </a:prstGeom>
          <a:noFill/>
        </p:spPr>
        <p:txBody>
          <a:bodyPr wrap="square" anchor="t" lIns="36576" rIns="36576" tIns="36576" bIns="36576">
            <a:spAutoFit/>
          </a:bodyPr>
          <a:lstStyle/>
          <a:p>
            <a:pPr algn="l">
              <a:spcAft>
                <a:spcPts val="400"/>
              </a:spcAft>
            </a:pPr>
            <a:r>
              <a:rPr sz="1300" b="0" i="0">
                <a:solidFill>
                  <a:srgbClr val="222222"/>
                </a:solidFill>
                <a:latin typeface="Georgia"/>
              </a:rPr>
              <a:t>Each service has an HPA. Exactly one controller may own a service at a time.</a:t>
            </a:r>
          </a:p>
        </p:txBody>
      </p:sp>
      <p:sp>
        <p:nvSpPr>
          <p:cNvPr id="14" name="Rounded Rectangle 13"/>
          <p:cNvSpPr/>
          <p:nvPr/>
        </p:nvSpPr>
        <p:spPr>
          <a:xfrm>
            <a:off x="8156448" y="2606040"/>
            <a:ext cx="3611880" cy="146304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697480"/>
            <a:ext cx="329184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Graceful fallback</a:t>
            </a:r>
          </a:p>
        </p:txBody>
      </p:sp>
      <p:sp>
        <p:nvSpPr>
          <p:cNvPr id="16" name="TextBox 15"/>
          <p:cNvSpPr txBox="1"/>
          <p:nvPr/>
        </p:nvSpPr>
        <p:spPr>
          <a:xfrm>
            <a:off x="8339327" y="3108960"/>
            <a:ext cx="3291840" cy="914400"/>
          </a:xfrm>
          <a:prstGeom prst="rect">
            <a:avLst/>
          </a:prstGeom>
          <a:noFill/>
        </p:spPr>
        <p:txBody>
          <a:bodyPr wrap="square" anchor="t" lIns="36576" rIns="36576" tIns="36576" bIns="36576">
            <a:spAutoFit/>
          </a:bodyPr>
          <a:lstStyle/>
          <a:p>
            <a:pPr algn="l">
              <a:spcAft>
                <a:spcPts val="400"/>
              </a:spcAft>
            </a:pPr>
            <a:r>
              <a:rPr sz="1300" b="0" i="0">
                <a:solidFill>
                  <a:srgbClr val="222222"/>
                </a:solidFill>
                <a:latin typeface="Georgia"/>
              </a:rPr>
              <a:t>If telemetry fails, the controller crashes or the policy is unsure, the HPA takes over.</a:t>
            </a:r>
          </a:p>
        </p:txBody>
      </p:sp>
      <p:sp>
        <p:nvSpPr>
          <p:cNvPr id="17" name="TextBox 16"/>
          <p:cNvSpPr txBox="1"/>
          <p:nvPr/>
        </p:nvSpPr>
        <p:spPr>
          <a:xfrm>
            <a:off x="566928" y="4251960"/>
            <a:ext cx="11210544" cy="365760"/>
          </a:xfrm>
          <a:prstGeom prst="rect">
            <a:avLst/>
          </a:prstGeom>
          <a:noFill/>
        </p:spPr>
        <p:txBody>
          <a:bodyPr wrap="square" anchor="t" lIns="36576" rIns="36576" tIns="36576" bIns="36576">
            <a:spAutoFit/>
          </a:bodyPr>
          <a:lstStyle/>
          <a:p>
            <a:pPr algn="l">
              <a:spcAft>
                <a:spcPts val="400"/>
              </a:spcAft>
            </a:pPr>
            <a:r>
              <a:rPr sz="1600" b="1" i="0">
                <a:solidFill>
                  <a:srgbClr val="6E0B2A"/>
                </a:solidFill>
                <a:latin typeface="Georgia"/>
              </a:rPr>
              <a:t>What we measured with the default HPA</a:t>
            </a:r>
          </a:p>
        </p:txBody>
      </p:sp>
      <p:sp>
        <p:nvSpPr>
          <p:cNvPr id="18" name="TextBox 17"/>
          <p:cNvSpPr txBox="1"/>
          <p:nvPr/>
        </p:nvSpPr>
        <p:spPr>
          <a:xfrm>
            <a:off x="566928" y="4663440"/>
            <a:ext cx="3566160" cy="566928"/>
          </a:xfrm>
          <a:prstGeom prst="rect">
            <a:avLst/>
          </a:prstGeom>
          <a:noFill/>
        </p:spPr>
        <p:txBody>
          <a:bodyPr wrap="square" anchor="t" lIns="36576" rIns="36576" tIns="36576" bIns="36576">
            <a:spAutoFit/>
          </a:bodyPr>
          <a:lstStyle/>
          <a:p>
            <a:pPr algn="l">
              <a:spcAft>
                <a:spcPts val="400"/>
              </a:spcAft>
            </a:pPr>
            <a:r>
              <a:rPr sz="3400" b="1" i="0">
                <a:solidFill>
                  <a:srgbClr val="A4123F"/>
                </a:solidFill>
                <a:latin typeface="Georgia"/>
              </a:rPr>
              <a:t>27</a:t>
            </a:r>
          </a:p>
        </p:txBody>
      </p:sp>
      <p:sp>
        <p:nvSpPr>
          <p:cNvPr id="19" name="TextBox 18"/>
          <p:cNvSpPr txBox="1"/>
          <p:nvPr/>
        </p:nvSpPr>
        <p:spPr>
          <a:xfrm>
            <a:off x="566928" y="5266944"/>
            <a:ext cx="3566160" cy="566928"/>
          </a:xfrm>
          <a:prstGeom prst="rect">
            <a:avLst/>
          </a:prstGeom>
          <a:noFill/>
        </p:spPr>
        <p:txBody>
          <a:bodyPr wrap="square" anchor="t" lIns="36576" rIns="36576" tIns="36576" bIns="36576">
            <a:spAutoFit/>
          </a:bodyPr>
          <a:lstStyle/>
          <a:p>
            <a:pPr algn="l">
              <a:spcAft>
                <a:spcPts val="400"/>
              </a:spcAft>
            </a:pPr>
            <a:r>
              <a:rPr sz="1200" b="0" i="0">
                <a:solidFill>
                  <a:srgbClr val="5F6670"/>
                </a:solidFill>
                <a:latin typeface="Georgia"/>
              </a:rPr>
              <a:t>replicas at the flash-sale peak, kept for 5 min after it ended</a:t>
            </a:r>
          </a:p>
        </p:txBody>
      </p:sp>
      <p:sp>
        <p:nvSpPr>
          <p:cNvPr id="20" name="TextBox 19"/>
          <p:cNvSpPr txBox="1"/>
          <p:nvPr/>
        </p:nvSpPr>
        <p:spPr>
          <a:xfrm>
            <a:off x="4361688" y="4663440"/>
            <a:ext cx="3566160" cy="566928"/>
          </a:xfrm>
          <a:prstGeom prst="rect">
            <a:avLst/>
          </a:prstGeom>
          <a:noFill/>
        </p:spPr>
        <p:txBody>
          <a:bodyPr wrap="square" anchor="t" lIns="36576" rIns="36576" tIns="36576" bIns="36576">
            <a:spAutoFit/>
          </a:bodyPr>
          <a:lstStyle/>
          <a:p>
            <a:pPr algn="l">
              <a:spcAft>
                <a:spcPts val="400"/>
              </a:spcAft>
            </a:pPr>
            <a:r>
              <a:rPr sz="3400" b="1" i="0">
                <a:solidFill>
                  <a:srgbClr val="A4123F"/>
                </a:solidFill>
                <a:latin typeface="Georgia"/>
              </a:rPr>
              <a:t>+15%</a:t>
            </a:r>
          </a:p>
        </p:txBody>
      </p:sp>
      <p:sp>
        <p:nvSpPr>
          <p:cNvPr id="21" name="TextBox 20"/>
          <p:cNvSpPr txBox="1"/>
          <p:nvPr/>
        </p:nvSpPr>
        <p:spPr>
          <a:xfrm>
            <a:off x="4361688" y="5266944"/>
            <a:ext cx="3566160" cy="566928"/>
          </a:xfrm>
          <a:prstGeom prst="rect">
            <a:avLst/>
          </a:prstGeom>
          <a:noFill/>
        </p:spPr>
        <p:txBody>
          <a:bodyPr wrap="square" anchor="t" lIns="36576" rIns="36576" tIns="36576" bIns="36576">
            <a:spAutoFit/>
          </a:bodyPr>
          <a:lstStyle/>
          <a:p>
            <a:pPr algn="l">
              <a:spcAft>
                <a:spcPts val="400"/>
              </a:spcAft>
            </a:pPr>
            <a:r>
              <a:rPr sz="1200" b="0" i="0">
                <a:solidFill>
                  <a:srgbClr val="5F6670"/>
                </a:solidFill>
                <a:latin typeface="Georgia"/>
              </a:rPr>
              <a:t>replica-hours in checkout-heavy load, for a brief CPU rise</a:t>
            </a:r>
          </a:p>
        </p:txBody>
      </p:sp>
      <p:sp>
        <p:nvSpPr>
          <p:cNvPr id="22" name="TextBox 21"/>
          <p:cNvSpPr txBox="1"/>
          <p:nvPr/>
        </p:nvSpPr>
        <p:spPr>
          <a:xfrm>
            <a:off x="8156448" y="4663440"/>
            <a:ext cx="3566160" cy="566928"/>
          </a:xfrm>
          <a:prstGeom prst="rect">
            <a:avLst/>
          </a:prstGeom>
          <a:noFill/>
        </p:spPr>
        <p:txBody>
          <a:bodyPr wrap="square" anchor="t" lIns="36576" rIns="36576" tIns="36576" bIns="36576">
            <a:spAutoFit/>
          </a:bodyPr>
          <a:lstStyle/>
          <a:p>
            <a:pPr algn="l">
              <a:spcAft>
                <a:spcPts val="400"/>
              </a:spcAft>
            </a:pPr>
            <a:r>
              <a:rPr sz="3400" b="1" i="0">
                <a:solidFill>
                  <a:srgbClr val="A4123F"/>
                </a:solidFill>
                <a:latin typeface="Georgia"/>
              </a:rPr>
              <a:t>10×</a:t>
            </a:r>
          </a:p>
        </p:txBody>
      </p:sp>
      <p:sp>
        <p:nvSpPr>
          <p:cNvPr id="23" name="TextBox 22"/>
          <p:cNvSpPr txBox="1"/>
          <p:nvPr/>
        </p:nvSpPr>
        <p:spPr>
          <a:xfrm>
            <a:off x="8156448" y="5266944"/>
            <a:ext cx="3566160" cy="566928"/>
          </a:xfrm>
          <a:prstGeom prst="rect">
            <a:avLst/>
          </a:prstGeom>
          <a:noFill/>
        </p:spPr>
        <p:txBody>
          <a:bodyPr wrap="square" anchor="t" lIns="36576" rIns="36576" tIns="36576" bIns="36576">
            <a:spAutoFit/>
          </a:bodyPr>
          <a:lstStyle/>
          <a:p>
            <a:pPr algn="l">
              <a:spcAft>
                <a:spcPts val="400"/>
              </a:spcAft>
            </a:pPr>
            <a:r>
              <a:rPr sz="1200" b="0" i="0">
                <a:solidFill>
                  <a:srgbClr val="5F6670"/>
                </a:solidFill>
                <a:latin typeface="Georgia"/>
              </a:rPr>
              <a:t>order-service latency rise while its CPU stayed at 30-50% of limit</a:t>
            </a:r>
          </a:p>
        </p:txBody>
      </p:sp>
    </p:spTree>
    <p:extLst>
      <p:ext uri="{BB962C8B-B14F-4D97-AF65-F5344CB8AC3E}">
        <p14:creationId xmlns:p14="http://schemas.microsoft.com/office/powerpoint/2010/main" val="3841927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616D4-40DD-BE9C-F476-6477941087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2B5D5F-B385-138A-6A34-02E0A7201512}"/>
              </a:ext>
            </a:extLst>
          </p:cNvPr>
          <p:cNvSpPr>
            <a:spLocks noGrp="1"/>
          </p:cNvSpPr>
          <p:nvPr>
            <p:ph type="title"/>
          </p:nvPr>
        </p:nvSpPr>
        <p:spPr>
          <a:xfrm>
            <a:off x="566928" y="347472"/>
            <a:ext cx="11210544" cy="466344"/>
          </a:xfrm>
        </p:spPr>
        <p:txBody>
          <a:bodyPr/>
          <a:lstStyle/>
          <a:p>
            <a:r>
              <a:rPr lang="en-IN" dirty="0"/>
              <a:t>Objectives</a:t>
            </a:r>
          </a:p>
        </p:txBody>
      </p:sp>
      <p:sp>
        <p:nvSpPr>
          <p:cNvPr id="4" name="Slide Number Placeholder 3">
            <a:extLst>
              <a:ext uri="{FF2B5EF4-FFF2-40B4-BE49-F238E27FC236}">
                <a16:creationId xmlns:a16="http://schemas.microsoft.com/office/drawing/2014/main" id="{FFC3A7DC-CCE1-98E5-FBBC-940A4B088A61}"/>
              </a:ext>
            </a:extLst>
          </p:cNvPr>
          <p:cNvSpPr>
            <a:spLocks noGrp="1"/>
          </p:cNvSpPr>
          <p:nvPr>
            <p:ph type="sldNum" sz="quarter" idx="12"/>
          </p:nvPr>
        </p:nvSpPr>
        <p:spPr/>
        <p:txBody>
          <a:bodyPr/>
          <a:lstStyle/>
          <a:p>
            <a:fld id="{330EA680-D336-4FF7-8B7A-9848BB0A1C32}" type="slidenum">
              <a:rPr lang="en-US" smtClean="0"/>
              <a:pPr/>
              <a:t>5</a:t>
            </a:fld>
            <a:endParaRPr lang="en-US"/>
          </a:p>
        </p:txBody>
      </p:sp>
      <p:sp>
        <p:nvSpPr>
          <p:cNvPr id="5" name="Rounded Rectangle 4"/>
          <p:cNvSpPr/>
          <p:nvPr/>
        </p:nvSpPr>
        <p:spPr>
          <a:xfrm>
            <a:off x="566928" y="1280160"/>
            <a:ext cx="3611880" cy="22402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463039"/>
            <a:ext cx="502920" cy="50292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O1</a:t>
            </a:r>
          </a:p>
        </p:txBody>
      </p:sp>
      <p:sp>
        <p:nvSpPr>
          <p:cNvPr id="7" name="TextBox 6"/>
          <p:cNvSpPr txBox="1"/>
          <p:nvPr/>
        </p:nvSpPr>
        <p:spPr>
          <a:xfrm>
            <a:off x="1389888" y="1463039"/>
            <a:ext cx="2697480" cy="50292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Framework</a:t>
            </a:r>
          </a:p>
        </p:txBody>
      </p:sp>
      <p:sp>
        <p:nvSpPr>
          <p:cNvPr id="8" name="TextBox 7"/>
          <p:cNvSpPr txBox="1"/>
          <p:nvPr/>
        </p:nvSpPr>
        <p:spPr>
          <a:xfrm>
            <a:off x="749808" y="2103120"/>
            <a:ext cx="3291840" cy="86868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Autoscaling add-on for Kubernetes microservices; no application code changes</a:t>
            </a:r>
          </a:p>
        </p:txBody>
      </p:sp>
      <p:sp>
        <p:nvSpPr>
          <p:cNvPr id="9" name="TextBox 8"/>
          <p:cNvSpPr txBox="1"/>
          <p:nvPr/>
        </p:nvSpPr>
        <p:spPr>
          <a:xfrm>
            <a:off x="749808" y="2971800"/>
            <a:ext cx="3291840" cy="41148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Evaluated by: Shop (16) and bookstore (5)</a:t>
            </a:r>
          </a:p>
        </p:txBody>
      </p:sp>
      <p:sp>
        <p:nvSpPr>
          <p:cNvPr id="10" name="Rounded Rectangle 9"/>
          <p:cNvSpPr/>
          <p:nvPr/>
        </p:nvSpPr>
        <p:spPr>
          <a:xfrm>
            <a:off x="4361688" y="1280160"/>
            <a:ext cx="3611880" cy="22402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44568" y="1463039"/>
            <a:ext cx="502920" cy="50292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O2</a:t>
            </a:r>
          </a:p>
        </p:txBody>
      </p:sp>
      <p:sp>
        <p:nvSpPr>
          <p:cNvPr id="12" name="TextBox 11"/>
          <p:cNvSpPr txBox="1"/>
          <p:nvPr/>
        </p:nvSpPr>
        <p:spPr>
          <a:xfrm>
            <a:off x="5184648" y="1463039"/>
            <a:ext cx="2697480" cy="50292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RL decision engine</a:t>
            </a:r>
          </a:p>
        </p:txBody>
      </p:sp>
      <p:sp>
        <p:nvSpPr>
          <p:cNvPr id="13" name="TextBox 12"/>
          <p:cNvSpPr txBox="1"/>
          <p:nvPr/>
        </p:nvSpPr>
        <p:spPr>
          <a:xfrm>
            <a:off x="4544568" y="2103120"/>
            <a:ext cx="3291840" cy="86868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PPO policy that learns from simulated workloads and runs on live metrics</a:t>
            </a:r>
          </a:p>
        </p:txBody>
      </p:sp>
      <p:sp>
        <p:nvSpPr>
          <p:cNvPr id="14" name="TextBox 13"/>
          <p:cNvSpPr txBox="1"/>
          <p:nvPr/>
        </p:nvSpPr>
        <p:spPr>
          <a:xfrm>
            <a:off x="4544568" y="2971800"/>
            <a:ext cx="3291840" cy="41148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Evaluated by: Twin validation, live inference</a:t>
            </a:r>
          </a:p>
        </p:txBody>
      </p:sp>
      <p:sp>
        <p:nvSpPr>
          <p:cNvPr id="15" name="Rounded Rectangle 14"/>
          <p:cNvSpPr/>
          <p:nvPr/>
        </p:nvSpPr>
        <p:spPr>
          <a:xfrm>
            <a:off x="8156448" y="1280160"/>
            <a:ext cx="3611880" cy="22402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9327" y="1463039"/>
            <a:ext cx="502920" cy="50292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O3</a:t>
            </a:r>
          </a:p>
        </p:txBody>
      </p:sp>
      <p:sp>
        <p:nvSpPr>
          <p:cNvPr id="17" name="TextBox 16"/>
          <p:cNvSpPr txBox="1"/>
          <p:nvPr/>
        </p:nvSpPr>
        <p:spPr>
          <a:xfrm>
            <a:off x="8979408" y="1463039"/>
            <a:ext cx="2697480" cy="50292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Dependency-aware</a:t>
            </a:r>
          </a:p>
        </p:txBody>
      </p:sp>
      <p:sp>
        <p:nvSpPr>
          <p:cNvPr id="18" name="TextBox 17"/>
          <p:cNvSpPr txBox="1"/>
          <p:nvPr/>
        </p:nvSpPr>
        <p:spPr>
          <a:xfrm>
            <a:off x="8339327" y="2103120"/>
            <a:ext cx="3291840" cy="86868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Reason over the service call graph with a graph neural network</a:t>
            </a:r>
          </a:p>
        </p:txBody>
      </p:sp>
      <p:sp>
        <p:nvSpPr>
          <p:cNvPr id="19" name="TextBox 18"/>
          <p:cNvSpPr txBox="1"/>
          <p:nvPr/>
        </p:nvSpPr>
        <p:spPr>
          <a:xfrm>
            <a:off x="8339327" y="2971800"/>
            <a:ext cx="3291840" cy="41148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Evaluated by: Graph vs no-graph ablation</a:t>
            </a:r>
          </a:p>
        </p:txBody>
      </p:sp>
      <p:sp>
        <p:nvSpPr>
          <p:cNvPr id="20" name="Rounded Rectangle 19"/>
          <p:cNvSpPr/>
          <p:nvPr/>
        </p:nvSpPr>
        <p:spPr>
          <a:xfrm>
            <a:off x="566928" y="3749039"/>
            <a:ext cx="3611880" cy="22402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9808" y="3931920"/>
            <a:ext cx="502920" cy="50292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O4</a:t>
            </a:r>
          </a:p>
        </p:txBody>
      </p:sp>
      <p:sp>
        <p:nvSpPr>
          <p:cNvPr id="22" name="TextBox 21"/>
          <p:cNvSpPr txBox="1"/>
          <p:nvPr/>
        </p:nvSpPr>
        <p:spPr>
          <a:xfrm>
            <a:off x="1389888" y="3931920"/>
            <a:ext cx="2697480" cy="50292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Safe operation</a:t>
            </a:r>
          </a:p>
        </p:txBody>
      </p:sp>
      <p:sp>
        <p:nvSpPr>
          <p:cNvPr id="23" name="TextBox 22"/>
          <p:cNvSpPr txBox="1"/>
          <p:nvPr/>
        </p:nvSpPr>
        <p:spPr>
          <a:xfrm>
            <a:off x="749808" y="4572000"/>
            <a:ext cx="3291840" cy="86868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Bounded actions, exclusive ownership, automatic fallback to the HPA</a:t>
            </a:r>
          </a:p>
        </p:txBody>
      </p:sp>
      <p:sp>
        <p:nvSpPr>
          <p:cNvPr id="24" name="TextBox 23"/>
          <p:cNvSpPr txBox="1"/>
          <p:nvPr/>
        </p:nvSpPr>
        <p:spPr>
          <a:xfrm>
            <a:off x="749808" y="5440679"/>
            <a:ext cx="3291840" cy="41148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Evaluated by: Fault injection, cleanup checks</a:t>
            </a:r>
          </a:p>
        </p:txBody>
      </p:sp>
      <p:sp>
        <p:nvSpPr>
          <p:cNvPr id="25" name="Rounded Rectangle 24"/>
          <p:cNvSpPr/>
          <p:nvPr/>
        </p:nvSpPr>
        <p:spPr>
          <a:xfrm>
            <a:off x="4361688" y="3749039"/>
            <a:ext cx="3611880" cy="22402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44568" y="3931920"/>
            <a:ext cx="502920" cy="50292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O5</a:t>
            </a:r>
          </a:p>
        </p:txBody>
      </p:sp>
      <p:sp>
        <p:nvSpPr>
          <p:cNvPr id="27" name="TextBox 26"/>
          <p:cNvSpPr txBox="1"/>
          <p:nvPr/>
        </p:nvSpPr>
        <p:spPr>
          <a:xfrm>
            <a:off x="5184648" y="3931920"/>
            <a:ext cx="2697480" cy="50292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Fair evaluation</a:t>
            </a:r>
          </a:p>
        </p:txBody>
      </p:sp>
      <p:sp>
        <p:nvSpPr>
          <p:cNvPr id="28" name="TextBox 27"/>
          <p:cNvSpPr txBox="1"/>
          <p:nvPr/>
        </p:nvSpPr>
        <p:spPr>
          <a:xfrm>
            <a:off x="4544568" y="4572000"/>
            <a:ext cx="3291840" cy="86868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Compare with default and tuned HPA on latency, cost and SLO</a:t>
            </a:r>
          </a:p>
        </p:txBody>
      </p:sp>
      <p:sp>
        <p:nvSpPr>
          <p:cNvPr id="29" name="TextBox 28"/>
          <p:cNvSpPr txBox="1"/>
          <p:nvPr/>
        </p:nvSpPr>
        <p:spPr>
          <a:xfrm>
            <a:off x="4544568" y="5440679"/>
            <a:ext cx="3291840" cy="41148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Evaluated by: Pre-registered paired study, 95% CI</a:t>
            </a:r>
          </a:p>
        </p:txBody>
      </p:sp>
      <p:sp>
        <p:nvSpPr>
          <p:cNvPr id="30" name="Rounded Rectangle 29"/>
          <p:cNvSpPr/>
          <p:nvPr/>
        </p:nvSpPr>
        <p:spPr>
          <a:xfrm>
            <a:off x="8156448" y="3749039"/>
            <a:ext cx="3611880" cy="22402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339327" y="3931920"/>
            <a:ext cx="502920" cy="50292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Georgia"/>
              </a:rPr>
              <a:t>O6</a:t>
            </a:r>
          </a:p>
        </p:txBody>
      </p:sp>
      <p:sp>
        <p:nvSpPr>
          <p:cNvPr id="32" name="TextBox 31"/>
          <p:cNvSpPr txBox="1"/>
          <p:nvPr/>
        </p:nvSpPr>
        <p:spPr>
          <a:xfrm>
            <a:off x="8979408" y="3931920"/>
            <a:ext cx="2697480" cy="50292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Deployment &amp; monitoring</a:t>
            </a:r>
          </a:p>
        </p:txBody>
      </p:sp>
      <p:sp>
        <p:nvSpPr>
          <p:cNvPr id="33" name="TextBox 32"/>
          <p:cNvSpPr txBox="1"/>
          <p:nvPr/>
        </p:nvSpPr>
        <p:spPr>
          <a:xfrm>
            <a:off x="8339327" y="4572000"/>
            <a:ext cx="3291840" cy="86868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Real-time dashboard and Helm packaging</a:t>
            </a:r>
          </a:p>
        </p:txBody>
      </p:sp>
      <p:sp>
        <p:nvSpPr>
          <p:cNvPr id="34" name="TextBox 33"/>
          <p:cNvSpPr txBox="1"/>
          <p:nvPr/>
        </p:nvSpPr>
        <p:spPr>
          <a:xfrm>
            <a:off x="8339327" y="5440679"/>
            <a:ext cx="3291840" cy="41148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Evaluated by: Live runs, Helm lifecycle 33/33</a:t>
            </a:r>
          </a:p>
        </p:txBody>
      </p:sp>
    </p:spTree>
    <p:extLst>
      <p:ext uri="{BB962C8B-B14F-4D97-AF65-F5344CB8AC3E}">
        <p14:creationId xmlns:p14="http://schemas.microsoft.com/office/powerpoint/2010/main" val="937410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C12170-7753-6C30-FD90-35534D766A96}"/>
              </a:ext>
            </a:extLst>
          </p:cNvPr>
          <p:cNvSpPr>
            <a:spLocks noGrp="1"/>
          </p:cNvSpPr>
          <p:nvPr>
            <p:ph type="title"/>
          </p:nvPr>
        </p:nvSpPr>
        <p:spPr>
          <a:xfrm>
            <a:off x="566928" y="347472"/>
            <a:ext cx="11210544" cy="466344"/>
          </a:xfrm>
        </p:spPr>
        <p:txBody>
          <a:bodyPr/>
          <a:lstStyle/>
          <a:p>
            <a:r>
              <a:rPr lang="en-IN" dirty="0"/>
              <a:t>Literature Review</a:t>
            </a:r>
            <a:br>
              <a:rPr lang="en-IN" dirty="0"/>
            </a:br>
            <a:endParaRPr lang="en-IN" dirty="0"/>
          </a:p>
        </p:txBody>
      </p:sp>
      <p:sp>
        <p:nvSpPr>
          <p:cNvPr id="4" name="Slide Number Placeholder 3">
            <a:extLst>
              <a:ext uri="{FF2B5EF4-FFF2-40B4-BE49-F238E27FC236}">
                <a16:creationId xmlns:a16="http://schemas.microsoft.com/office/drawing/2014/main" id="{E8A4AB00-F0AD-D460-C98C-E16794A70805}"/>
              </a:ext>
            </a:extLst>
          </p:cNvPr>
          <p:cNvSpPr>
            <a:spLocks noGrp="1"/>
          </p:cNvSpPr>
          <p:nvPr>
            <p:ph type="sldNum" sz="quarter" idx="12"/>
          </p:nvPr>
        </p:nvSpPr>
        <p:spPr/>
        <p:txBody>
          <a:bodyPr/>
          <a:lstStyle/>
          <a:p>
            <a:fld id="{330EA680-D336-4FF7-8B7A-9848BB0A1C32}" type="slidenum">
              <a:rPr lang="en-US" smtClean="0"/>
              <a:pPr/>
              <a:t>6</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Twelve primary papers, 1-6</a:t>
            </a:r>
          </a:p>
        </p:txBody>
      </p:sp>
      <p:graphicFrame>
        <p:nvGraphicFramePr>
          <p:cNvPr id="6" name="Table 5"/>
          <p:cNvGraphicFramePr>
            <a:graphicFrameLocks noGrp="1"/>
          </p:cNvGraphicFramePr>
          <p:nvPr/>
        </p:nvGraphicFramePr>
        <p:xfrm>
          <a:off x="566928" y="1325880"/>
          <a:ext cx="11210544" cy="4736592"/>
        </p:xfrm>
        <a:graphic>
          <a:graphicData uri="http://schemas.openxmlformats.org/drawingml/2006/table">
            <a:tbl>
              <a:tblPr firstRow="0" bandRow="0">
                <a:tableStyleId>{5C22544A-7EE6-4342-B048-85BDC9FD1C3A}</a:tableStyleId>
              </a:tblPr>
              <a:tblGrid>
                <a:gridCol w="1783080"/>
                <a:gridCol w="640080"/>
                <a:gridCol w="2697480"/>
                <a:gridCol w="2148840"/>
                <a:gridCol w="2011680"/>
                <a:gridCol w="1929384"/>
              </a:tblGrid>
              <a:tr h="676656">
                <a:tc>
                  <a:txBody>
                    <a:bodyPr wrap="square"/>
                    <a:lstStyle/>
                    <a:p>
                      <a:r>
                        <a:rPr sz="1200" b="1" i="0">
                          <a:solidFill>
                            <a:srgbClr val="FFFFFF"/>
                          </a:solidFill>
                          <a:latin typeface="Georgia"/>
                        </a:rPr>
                        <a:t>Paper</a:t>
                      </a:r>
                    </a:p>
                  </a:txBody>
                  <a:tcPr marL="54864" marR="54864" marT="27432" marB="27432" anchor="ctr">
                    <a:solidFill>
                      <a:srgbClr val="A4123F"/>
                    </a:solidFill>
                  </a:tcPr>
                </a:tc>
                <a:tc>
                  <a:txBody>
                    <a:bodyPr wrap="square"/>
                    <a:lstStyle/>
                    <a:p>
                      <a:r>
                        <a:rPr sz="1200" b="1" i="0">
                          <a:solidFill>
                            <a:srgbClr val="FFFFFF"/>
                          </a:solidFill>
                          <a:latin typeface="Georgia"/>
                        </a:rPr>
                        <a:t>Year</a:t>
                      </a:r>
                    </a:p>
                  </a:txBody>
                  <a:tcPr marL="54864" marR="54864" marT="27432" marB="27432" anchor="ctr">
                    <a:solidFill>
                      <a:srgbClr val="A4123F"/>
                    </a:solidFill>
                  </a:tcPr>
                </a:tc>
                <a:tc>
                  <a:txBody>
                    <a:bodyPr wrap="square"/>
                    <a:lstStyle/>
                    <a:p>
                      <a:r>
                        <a:rPr sz="1200" b="1" i="0">
                          <a:solidFill>
                            <a:srgbClr val="FFFFFF"/>
                          </a:solidFill>
                          <a:latin typeface="Georgia"/>
                        </a:rPr>
                        <a:t>Key contribution</a:t>
                      </a:r>
                    </a:p>
                  </a:txBody>
                  <a:tcPr marL="54864" marR="54864" marT="27432" marB="27432" anchor="ctr">
                    <a:solidFill>
                      <a:srgbClr val="A4123F"/>
                    </a:solidFill>
                  </a:tcPr>
                </a:tc>
                <a:tc>
                  <a:txBody>
                    <a:bodyPr wrap="square"/>
                    <a:lstStyle/>
                    <a:p>
                      <a:r>
                        <a:rPr sz="1200" b="1" i="0">
                          <a:solidFill>
                            <a:srgbClr val="FFFFFF"/>
                          </a:solidFill>
                          <a:latin typeface="Georgia"/>
                        </a:rPr>
                        <a:t>Dataset / setting</a:t>
                      </a:r>
                    </a:p>
                  </a:txBody>
                  <a:tcPr marL="54864" marR="54864" marT="27432" marB="27432" anchor="ctr">
                    <a:solidFill>
                      <a:srgbClr val="A4123F"/>
                    </a:solidFill>
                  </a:tcPr>
                </a:tc>
                <a:tc>
                  <a:txBody>
                    <a:bodyPr wrap="square"/>
                    <a:lstStyle/>
                    <a:p>
                      <a:r>
                        <a:rPr sz="1200" b="1" i="0">
                          <a:solidFill>
                            <a:srgbClr val="FFFFFF"/>
                          </a:solidFill>
                          <a:latin typeface="Georgia"/>
                        </a:rPr>
                        <a:t>Evaluation metrics</a:t>
                      </a:r>
                    </a:p>
                  </a:txBody>
                  <a:tcPr marL="54864" marR="54864" marT="27432" marB="27432" anchor="ctr">
                    <a:solidFill>
                      <a:srgbClr val="A4123F"/>
                    </a:solidFill>
                  </a:tcPr>
                </a:tc>
                <a:tc>
                  <a:txBody>
                    <a:bodyPr wrap="square"/>
                    <a:lstStyle/>
                    <a:p>
                      <a:r>
                        <a:rPr sz="1200" b="1" i="0">
                          <a:solidFill>
                            <a:srgbClr val="FFFFFF"/>
                          </a:solidFill>
                          <a:latin typeface="Georgia"/>
                        </a:rPr>
                        <a:t>Demerit / gap</a:t>
                      </a:r>
                    </a:p>
                  </a:txBody>
                  <a:tcPr marL="54864" marR="54864" marT="27432" marB="27432" anchor="ctr">
                    <a:solidFill>
                      <a:srgbClr val="A4123F"/>
                    </a:solidFill>
                  </a:tcPr>
                </a:tc>
              </a:tr>
              <a:tr h="676656">
                <a:tc>
                  <a:txBody>
                    <a:bodyPr wrap="square"/>
                    <a:lstStyle/>
                    <a:p>
                      <a:r>
                        <a:rPr sz="1200" b="1" i="0">
                          <a:solidFill>
                            <a:srgbClr val="222222"/>
                          </a:solidFill>
                          <a:latin typeface="Georgia"/>
                        </a:rPr>
                        <a:t>Gwydion [1]</a:t>
                      </a:r>
                    </a:p>
                  </a:txBody>
                  <a:tcPr marL="54864" marR="54864" marT="27432" marB="27432" anchor="ctr">
                    <a:solidFill>
                      <a:srgbClr val="FFFFFF"/>
                    </a:solidFill>
                  </a:tcPr>
                </a:tc>
                <a:tc>
                  <a:txBody>
                    <a:bodyPr wrap="square"/>
                    <a:lstStyle/>
                    <a:p>
                      <a:r>
                        <a:rPr sz="1200" b="0" i="0">
                          <a:solidFill>
                            <a:srgbClr val="222222"/>
                          </a:solidFill>
                          <a:latin typeface="Georgia"/>
                        </a:rPr>
                        <a:t>2025</a:t>
                      </a:r>
                    </a:p>
                  </a:txBody>
                  <a:tcPr marL="54864" marR="54864" marT="27432" marB="27432" anchor="ctr">
                    <a:solidFill>
                      <a:srgbClr val="FFFFFF"/>
                    </a:solidFill>
                  </a:tcPr>
                </a:tc>
                <a:tc>
                  <a:txBody>
                    <a:bodyPr wrap="square"/>
                    <a:lstStyle/>
                    <a:p>
                      <a:r>
                        <a:rPr sz="1200" b="0" i="0">
                          <a:solidFill>
                            <a:srgbClr val="222222"/>
                          </a:solidFill>
                          <a:latin typeface="Georgia"/>
                        </a:rPr>
                        <a:t>RL autoscaler with dependency-aware state; cost + latency reward</a:t>
                      </a:r>
                    </a:p>
                  </a:txBody>
                  <a:tcPr marL="54864" marR="54864" marT="27432" marB="27432" anchor="ctr">
                    <a:solidFill>
                      <a:srgbClr val="FFFFFF"/>
                    </a:solidFill>
                  </a:tcPr>
                </a:tc>
                <a:tc>
                  <a:txBody>
                    <a:bodyPr wrap="square"/>
                    <a:lstStyle/>
                    <a:p>
                      <a:r>
                        <a:rPr sz="1200" b="0" i="0">
                          <a:solidFill>
                            <a:srgbClr val="222222"/>
                          </a:solidFill>
                          <a:latin typeface="Georgia"/>
                        </a:rPr>
                        <a:t>Kubernetes; Redis Cluster, Online Boutique</a:t>
                      </a:r>
                    </a:p>
                  </a:txBody>
                  <a:tcPr marL="54864" marR="54864" marT="27432" marB="27432" anchor="ctr">
                    <a:solidFill>
                      <a:srgbClr val="FFFFFF"/>
                    </a:solidFill>
                  </a:tcPr>
                </a:tc>
                <a:tc>
                  <a:txBody>
                    <a:bodyPr wrap="square"/>
                    <a:lstStyle/>
                    <a:p>
                      <a:r>
                        <a:rPr sz="1200" b="0" i="0">
                          <a:solidFill>
                            <a:srgbClr val="222222"/>
                          </a:solidFill>
                          <a:latin typeface="Georgia"/>
                        </a:rPr>
                        <a:t>Latency, resources vs HPA</a:t>
                      </a:r>
                    </a:p>
                  </a:txBody>
                  <a:tcPr marL="54864" marR="54864" marT="27432" marB="27432" anchor="ctr">
                    <a:solidFill>
                      <a:srgbClr val="FFFFFF"/>
                    </a:solidFill>
                  </a:tcPr>
                </a:tc>
                <a:tc>
                  <a:txBody>
                    <a:bodyPr wrap="square"/>
                    <a:lstStyle/>
                    <a:p>
                      <a:r>
                        <a:rPr sz="1200" b="0" i="0">
                          <a:solidFill>
                            <a:srgbClr val="222222"/>
                          </a:solidFill>
                          <a:latin typeface="Georgia"/>
                        </a:rPr>
                        <a:t>Horizontal only; default-HPA baseline</a:t>
                      </a:r>
                    </a:p>
                  </a:txBody>
                  <a:tcPr marL="54864" marR="54864" marT="27432" marB="27432" anchor="ctr">
                    <a:solidFill>
                      <a:srgbClr val="FFFFFF"/>
                    </a:solidFill>
                  </a:tcPr>
                </a:tc>
              </a:tr>
              <a:tr h="676656">
                <a:tc>
                  <a:txBody>
                    <a:bodyPr wrap="square"/>
                    <a:lstStyle/>
                    <a:p>
                      <a:r>
                        <a:rPr sz="1200" b="1" i="0">
                          <a:solidFill>
                            <a:srgbClr val="222222"/>
                          </a:solidFill>
                          <a:latin typeface="Georgia"/>
                        </a:rPr>
                        <a:t>Smart HPA / ProSmart [2]</a:t>
                      </a:r>
                    </a:p>
                  </a:txBody>
                  <a:tcPr marL="54864" marR="54864" marT="27432" marB="27432" anchor="ctr">
                    <a:solidFill>
                      <a:srgbClr val="FBF1F4"/>
                    </a:solidFill>
                  </a:tcPr>
                </a:tc>
                <a:tc>
                  <a:txBody>
                    <a:bodyPr wrap="square"/>
                    <a:lstStyle/>
                    <a:p>
                      <a:r>
                        <a:rPr sz="1200" b="0" i="0">
                          <a:solidFill>
                            <a:srgbClr val="222222"/>
                          </a:solidFill>
                          <a:latin typeface="Georgia"/>
                        </a:rPr>
                        <a:t>2025</a:t>
                      </a:r>
                    </a:p>
                  </a:txBody>
                  <a:tcPr marL="54864" marR="54864" marT="27432" marB="27432" anchor="ctr">
                    <a:solidFill>
                      <a:srgbClr val="FBF1F4"/>
                    </a:solidFill>
                  </a:tcPr>
                </a:tc>
                <a:tc>
                  <a:txBody>
                    <a:bodyPr wrap="square"/>
                    <a:lstStyle/>
                    <a:p>
                      <a:r>
                        <a:rPr sz="1200" b="0" i="0">
                          <a:solidFill>
                            <a:srgbClr val="222222"/>
                          </a:solidFill>
                          <a:latin typeface="Georgia"/>
                        </a:rPr>
                        <a:t>Reactive and ML-predictive resource-efficient HPA</a:t>
                      </a:r>
                    </a:p>
                  </a:txBody>
                  <a:tcPr marL="54864" marR="54864" marT="27432" marB="27432" anchor="ctr">
                    <a:solidFill>
                      <a:srgbClr val="FBF1F4"/>
                    </a:solidFill>
                  </a:tcPr>
                </a:tc>
                <a:tc>
                  <a:txBody>
                    <a:bodyPr wrap="square"/>
                    <a:lstStyle/>
                    <a:p>
                      <a:r>
                        <a:rPr sz="1200" b="0" i="0">
                          <a:solidFill>
                            <a:srgbClr val="222222"/>
                          </a:solidFill>
                          <a:latin typeface="Georgia"/>
                        </a:rPr>
                        <a:t>Kubernetes microservice benchmark</a:t>
                      </a:r>
                    </a:p>
                  </a:txBody>
                  <a:tcPr marL="54864" marR="54864" marT="27432" marB="27432" anchor="ctr">
                    <a:solidFill>
                      <a:srgbClr val="FBF1F4"/>
                    </a:solidFill>
                  </a:tcPr>
                </a:tc>
                <a:tc>
                  <a:txBody>
                    <a:bodyPr wrap="square"/>
                    <a:lstStyle/>
                    <a:p>
                      <a:r>
                        <a:rPr sz="1200" b="0" i="0">
                          <a:solidFill>
                            <a:srgbClr val="222222"/>
                          </a:solidFill>
                          <a:latin typeface="Georgia"/>
                        </a:rPr>
                        <a:t>Utilisation, over/under-provisioning</a:t>
                      </a:r>
                    </a:p>
                  </a:txBody>
                  <a:tcPr marL="54864" marR="54864" marT="27432" marB="27432" anchor="ctr">
                    <a:solidFill>
                      <a:srgbClr val="FBF1F4"/>
                    </a:solidFill>
                  </a:tcPr>
                </a:tc>
                <a:tc>
                  <a:txBody>
                    <a:bodyPr wrap="square"/>
                    <a:lstStyle/>
                    <a:p>
                      <a:r>
                        <a:rPr sz="1200" b="0" i="0">
                          <a:solidFill>
                            <a:srgbClr val="222222"/>
                          </a:solidFill>
                          <a:latin typeface="Georgia"/>
                        </a:rPr>
                        <a:t>No RL; dependencies not modelled</a:t>
                      </a:r>
                    </a:p>
                  </a:txBody>
                  <a:tcPr marL="54864" marR="54864" marT="27432" marB="27432" anchor="ctr">
                    <a:solidFill>
                      <a:srgbClr val="FBF1F4"/>
                    </a:solidFill>
                  </a:tcPr>
                </a:tc>
              </a:tr>
              <a:tr h="676656">
                <a:tc>
                  <a:txBody>
                    <a:bodyPr wrap="square"/>
                    <a:lstStyle/>
                    <a:p>
                      <a:r>
                        <a:rPr sz="1200" b="1" i="0">
                          <a:solidFill>
                            <a:srgbClr val="222222"/>
                          </a:solidFill>
                          <a:latin typeface="Georgia"/>
                        </a:rPr>
                        <a:t>RL autoscaling [3]</a:t>
                      </a:r>
                    </a:p>
                  </a:txBody>
                  <a:tcPr marL="54864" marR="54864" marT="27432" marB="27432" anchor="ctr">
                    <a:solidFill>
                      <a:srgbClr val="FFFFFF"/>
                    </a:solidFill>
                  </a:tcPr>
                </a:tc>
                <a:tc>
                  <a:txBody>
                    <a:bodyPr wrap="square"/>
                    <a:lstStyle/>
                    <a:p>
                      <a:r>
                        <a:rPr sz="1200" b="0" i="0">
                          <a:solidFill>
                            <a:srgbClr val="222222"/>
                          </a:solidFill>
                          <a:latin typeface="Georgia"/>
                        </a:rPr>
                        <a:t>2025</a:t>
                      </a:r>
                    </a:p>
                  </a:txBody>
                  <a:tcPr marL="54864" marR="54864" marT="27432" marB="27432" anchor="ctr">
                    <a:solidFill>
                      <a:srgbClr val="FFFFFF"/>
                    </a:solidFill>
                  </a:tcPr>
                </a:tc>
                <a:tc>
                  <a:txBody>
                    <a:bodyPr wrap="square"/>
                    <a:lstStyle/>
                    <a:p>
                      <a:r>
                        <a:rPr sz="1200" b="0" i="0">
                          <a:solidFill>
                            <a:srgbClr val="222222"/>
                          </a:solidFill>
                          <a:latin typeface="Georgia"/>
                        </a:rPr>
                        <a:t>PPO/DDPG, horizontal + vertical scaling</a:t>
                      </a:r>
                    </a:p>
                  </a:txBody>
                  <a:tcPr marL="54864" marR="54864" marT="27432" marB="27432" anchor="ctr">
                    <a:solidFill>
                      <a:srgbClr val="FFFFFF"/>
                    </a:solidFill>
                  </a:tcPr>
                </a:tc>
                <a:tc>
                  <a:txBody>
                    <a:bodyPr wrap="square"/>
                    <a:lstStyle/>
                    <a:p>
                      <a:r>
                        <a:rPr sz="1200" b="0" i="0">
                          <a:solidFill>
                            <a:srgbClr val="222222"/>
                          </a:solidFill>
                          <a:latin typeface="Georgia"/>
                        </a:rPr>
                        <a:t>Amazon EKS, Spark TPC-DS</a:t>
                      </a:r>
                    </a:p>
                  </a:txBody>
                  <a:tcPr marL="54864" marR="54864" marT="27432" marB="27432" anchor="ctr">
                    <a:solidFill>
                      <a:srgbClr val="FFFFFF"/>
                    </a:solidFill>
                  </a:tcPr>
                </a:tc>
                <a:tc>
                  <a:txBody>
                    <a:bodyPr wrap="square"/>
                    <a:lstStyle/>
                    <a:p>
                      <a:r>
                        <a:rPr sz="1200" b="0" i="0">
                          <a:solidFill>
                            <a:srgbClr val="222222"/>
                          </a:solidFill>
                          <a:latin typeface="Georgia"/>
                        </a:rPr>
                        <a:t>Cost, performance</a:t>
                      </a:r>
                    </a:p>
                  </a:txBody>
                  <a:tcPr marL="54864" marR="54864" marT="27432" marB="27432" anchor="ctr">
                    <a:solidFill>
                      <a:srgbClr val="FFFFFF"/>
                    </a:solidFill>
                  </a:tcPr>
                </a:tc>
                <a:tc>
                  <a:txBody>
                    <a:bodyPr wrap="square"/>
                    <a:lstStyle/>
                    <a:p>
                      <a:r>
                        <a:rPr sz="1200" b="0" i="0">
                          <a:solidFill>
                            <a:srgbClr val="222222"/>
                          </a:solidFill>
                          <a:latin typeface="Georgia"/>
                        </a:rPr>
                        <a:t>Long training; no dependencies</a:t>
                      </a:r>
                    </a:p>
                  </a:txBody>
                  <a:tcPr marL="54864" marR="54864" marT="27432" marB="27432" anchor="ctr">
                    <a:solidFill>
                      <a:srgbClr val="FFFFFF"/>
                    </a:solidFill>
                  </a:tcPr>
                </a:tc>
              </a:tr>
              <a:tr h="676656">
                <a:tc>
                  <a:txBody>
                    <a:bodyPr wrap="square"/>
                    <a:lstStyle/>
                    <a:p>
                      <a:r>
                        <a:rPr sz="1200" b="1" i="0">
                          <a:solidFill>
                            <a:srgbClr val="222222"/>
                          </a:solidFill>
                          <a:latin typeface="Georgia"/>
                        </a:rPr>
                        <a:t>AdaptScale [4]</a:t>
                      </a:r>
                    </a:p>
                  </a:txBody>
                  <a:tcPr marL="54864" marR="54864" marT="27432" marB="27432" anchor="ctr">
                    <a:solidFill>
                      <a:srgbClr val="FBF1F4"/>
                    </a:solidFill>
                  </a:tcPr>
                </a:tc>
                <a:tc>
                  <a:txBody>
                    <a:bodyPr wrap="square"/>
                    <a:lstStyle/>
                    <a:p>
                      <a:r>
                        <a:rPr sz="1200" b="0" i="0">
                          <a:solidFill>
                            <a:srgbClr val="222222"/>
                          </a:solidFill>
                          <a:latin typeface="Georgia"/>
                        </a:rPr>
                        <a:t>2020</a:t>
                      </a:r>
                    </a:p>
                  </a:txBody>
                  <a:tcPr marL="54864" marR="54864" marT="27432" marB="27432" anchor="ctr">
                    <a:solidFill>
                      <a:srgbClr val="FBF1F4"/>
                    </a:solidFill>
                  </a:tcPr>
                </a:tc>
                <a:tc>
                  <a:txBody>
                    <a:bodyPr wrap="square"/>
                    <a:lstStyle/>
                    <a:p>
                      <a:r>
                        <a:rPr sz="1200" b="0" i="0">
                          <a:solidFill>
                            <a:srgbClr val="222222"/>
                          </a:solidFill>
                          <a:latin typeface="Georgia"/>
                        </a:rPr>
                        <a:t>Adaptive prediction + greedy heuristic for multiple SLAs</a:t>
                      </a:r>
                    </a:p>
                  </a:txBody>
                  <a:tcPr marL="54864" marR="54864" marT="27432" marB="27432" anchor="ctr">
                    <a:solidFill>
                      <a:srgbClr val="FBF1F4"/>
                    </a:solidFill>
                  </a:tcPr>
                </a:tc>
                <a:tc>
                  <a:txBody>
                    <a:bodyPr wrap="square"/>
                    <a:lstStyle/>
                    <a:p>
                      <a:r>
                        <a:rPr sz="1200" b="0" i="0">
                          <a:solidFill>
                            <a:srgbClr val="222222"/>
                          </a:solidFill>
                          <a:latin typeface="Georgia"/>
                        </a:rPr>
                        <a:t>Simulation platform</a:t>
                      </a:r>
                    </a:p>
                  </a:txBody>
                  <a:tcPr marL="54864" marR="54864" marT="27432" marB="27432" anchor="ctr">
                    <a:solidFill>
                      <a:srgbClr val="FBF1F4"/>
                    </a:solidFill>
                  </a:tcPr>
                </a:tc>
                <a:tc>
                  <a:txBody>
                    <a:bodyPr wrap="square"/>
                    <a:lstStyle/>
                    <a:p>
                      <a:r>
                        <a:rPr sz="1200" b="0" i="0">
                          <a:solidFill>
                            <a:srgbClr val="222222"/>
                          </a:solidFill>
                          <a:latin typeface="Georgia"/>
                        </a:rPr>
                        <a:t>SLA satisfaction, resources</a:t>
                      </a:r>
                    </a:p>
                  </a:txBody>
                  <a:tcPr marL="54864" marR="54864" marT="27432" marB="27432" anchor="ctr">
                    <a:solidFill>
                      <a:srgbClr val="FBF1F4"/>
                    </a:solidFill>
                  </a:tcPr>
                </a:tc>
                <a:tc>
                  <a:txBody>
                    <a:bodyPr wrap="square"/>
                    <a:lstStyle/>
                    <a:p>
                      <a:r>
                        <a:rPr sz="1200" b="0" i="0">
                          <a:solidFill>
                            <a:srgbClr val="222222"/>
                          </a:solidFill>
                          <a:latin typeface="Georgia"/>
                        </a:rPr>
                        <a:t>Cloud data scaling; greedy</a:t>
                      </a:r>
                    </a:p>
                  </a:txBody>
                  <a:tcPr marL="54864" marR="54864" marT="27432" marB="27432" anchor="ctr">
                    <a:solidFill>
                      <a:srgbClr val="FBF1F4"/>
                    </a:solidFill>
                  </a:tcPr>
                </a:tc>
              </a:tr>
              <a:tr h="676656">
                <a:tc>
                  <a:txBody>
                    <a:bodyPr wrap="square"/>
                    <a:lstStyle/>
                    <a:p>
                      <a:r>
                        <a:rPr sz="1200" b="1" i="0">
                          <a:solidFill>
                            <a:srgbClr val="222222"/>
                          </a:solidFill>
                          <a:latin typeface="Georgia"/>
                        </a:rPr>
                        <a:t>KubCG [5]</a:t>
                      </a:r>
                    </a:p>
                  </a:txBody>
                  <a:tcPr marL="54864" marR="54864" marT="27432" marB="27432" anchor="ctr">
                    <a:solidFill>
                      <a:srgbClr val="FFFFFF"/>
                    </a:solidFill>
                  </a:tcPr>
                </a:tc>
                <a:tc>
                  <a:txBody>
                    <a:bodyPr wrap="square"/>
                    <a:lstStyle/>
                    <a:p>
                      <a:r>
                        <a:rPr sz="1200" b="0" i="0">
                          <a:solidFill>
                            <a:srgbClr val="222222"/>
                          </a:solidFill>
                          <a:latin typeface="Georgia"/>
                        </a:rPr>
                        <a:t>2021</a:t>
                      </a:r>
                    </a:p>
                  </a:txBody>
                  <a:tcPr marL="54864" marR="54864" marT="27432" marB="27432" anchor="ctr">
                    <a:solidFill>
                      <a:srgbClr val="FFFFFF"/>
                    </a:solidFill>
                  </a:tcPr>
                </a:tc>
                <a:tc>
                  <a:txBody>
                    <a:bodyPr wrap="square"/>
                    <a:lstStyle/>
                    <a:p>
                      <a:r>
                        <a:rPr sz="1200" b="0" i="0">
                          <a:solidFill>
                            <a:srgbClr val="222222"/>
                          </a:solidFill>
                          <a:latin typeface="Georgia"/>
                        </a:rPr>
                        <a:t>Scheduler using execution history</a:t>
                      </a:r>
                    </a:p>
                  </a:txBody>
                  <a:tcPr marL="54864" marR="54864" marT="27432" marB="27432" anchor="ctr">
                    <a:solidFill>
                      <a:srgbClr val="FFFFFF"/>
                    </a:solidFill>
                  </a:tcPr>
                </a:tc>
                <a:tc>
                  <a:txBody>
                    <a:bodyPr wrap="square"/>
                    <a:lstStyle/>
                    <a:p>
                      <a:r>
                        <a:rPr sz="1200" b="0" i="0">
                          <a:solidFill>
                            <a:srgbClr val="222222"/>
                          </a:solidFill>
                          <a:latin typeface="Georgia"/>
                        </a:rPr>
                        <a:t>Heterogeneous CPU-GPU cluster</a:t>
                      </a:r>
                    </a:p>
                  </a:txBody>
                  <a:tcPr marL="54864" marR="54864" marT="27432" marB="27432" anchor="ctr">
                    <a:solidFill>
                      <a:srgbClr val="FFFFFF"/>
                    </a:solidFill>
                  </a:tcPr>
                </a:tc>
                <a:tc>
                  <a:txBody>
                    <a:bodyPr wrap="square"/>
                    <a:lstStyle/>
                    <a:p>
                      <a:r>
                        <a:rPr sz="1200" b="0" i="0">
                          <a:solidFill>
                            <a:srgbClr val="222222"/>
                          </a:solidFill>
                          <a:latin typeface="Georgia"/>
                        </a:rPr>
                        <a:t>Job completion time</a:t>
                      </a:r>
                    </a:p>
                  </a:txBody>
                  <a:tcPr marL="54864" marR="54864" marT="27432" marB="27432" anchor="ctr">
                    <a:solidFill>
                      <a:srgbClr val="FFFFFF"/>
                    </a:solidFill>
                  </a:tcPr>
                </a:tc>
                <a:tc>
                  <a:txBody>
                    <a:bodyPr wrap="square"/>
                    <a:lstStyle/>
                    <a:p>
                      <a:r>
                        <a:rPr sz="1200" b="0" i="0">
                          <a:solidFill>
                            <a:srgbClr val="222222"/>
                          </a:solidFill>
                          <a:latin typeface="Georgia"/>
                        </a:rPr>
                        <a:t>Placement, not autoscaling</a:t>
                      </a:r>
                    </a:p>
                  </a:txBody>
                  <a:tcPr marL="54864" marR="54864" marT="27432" marB="27432" anchor="ctr">
                    <a:solidFill>
                      <a:srgbClr val="FFFFFF"/>
                    </a:solidFill>
                  </a:tcPr>
                </a:tc>
              </a:tr>
              <a:tr h="676656">
                <a:tc>
                  <a:txBody>
                    <a:bodyPr wrap="square"/>
                    <a:lstStyle/>
                    <a:p>
                      <a:r>
                        <a:rPr sz="1200" b="1" i="0">
                          <a:solidFill>
                            <a:srgbClr val="222222"/>
                          </a:solidFill>
                          <a:latin typeface="Georgia"/>
                        </a:rPr>
                        <a:t>Rossi et al. [6]</a:t>
                      </a:r>
                    </a:p>
                  </a:txBody>
                  <a:tcPr marL="54864" marR="54864" marT="27432" marB="27432" anchor="ctr">
                    <a:solidFill>
                      <a:srgbClr val="FBF1F4"/>
                    </a:solidFill>
                  </a:tcPr>
                </a:tc>
                <a:tc>
                  <a:txBody>
                    <a:bodyPr wrap="square"/>
                    <a:lstStyle/>
                    <a:p>
                      <a:r>
                        <a:rPr sz="1200" b="0" i="0">
                          <a:solidFill>
                            <a:srgbClr val="222222"/>
                          </a:solidFill>
                          <a:latin typeface="Georgia"/>
                        </a:rPr>
                        <a:t>2019</a:t>
                      </a:r>
                    </a:p>
                  </a:txBody>
                  <a:tcPr marL="54864" marR="54864" marT="27432" marB="27432" anchor="ctr">
                    <a:solidFill>
                      <a:srgbClr val="FBF1F4"/>
                    </a:solidFill>
                  </a:tcPr>
                </a:tc>
                <a:tc>
                  <a:txBody>
                    <a:bodyPr wrap="square"/>
                    <a:lstStyle/>
                    <a:p>
                      <a:r>
                        <a:rPr sz="1200" b="0" i="0">
                          <a:solidFill>
                            <a:srgbClr val="222222"/>
                          </a:solidFill>
                          <a:latin typeface="Georgia"/>
                        </a:rPr>
                        <a:t>Model-based RL for horizontal + vertical elasticity</a:t>
                      </a:r>
                    </a:p>
                  </a:txBody>
                  <a:tcPr marL="54864" marR="54864" marT="27432" marB="27432" anchor="ctr">
                    <a:solidFill>
                      <a:srgbClr val="FBF1F4"/>
                    </a:solidFill>
                  </a:tcPr>
                </a:tc>
                <a:tc>
                  <a:txBody>
                    <a:bodyPr wrap="square"/>
                    <a:lstStyle/>
                    <a:p>
                      <a:r>
                        <a:rPr sz="1200" b="0" i="0">
                          <a:solidFill>
                            <a:srgbClr val="222222"/>
                          </a:solidFill>
                          <a:latin typeface="Georgia"/>
                        </a:rPr>
                        <a:t>Simulation; Docker Swarm</a:t>
                      </a:r>
                    </a:p>
                  </a:txBody>
                  <a:tcPr marL="54864" marR="54864" marT="27432" marB="27432" anchor="ctr">
                    <a:solidFill>
                      <a:srgbClr val="FBF1F4"/>
                    </a:solidFill>
                  </a:tcPr>
                </a:tc>
                <a:tc>
                  <a:txBody>
                    <a:bodyPr wrap="square"/>
                    <a:lstStyle/>
                    <a:p>
                      <a:r>
                        <a:rPr sz="1200" b="0" i="0">
                          <a:solidFill>
                            <a:srgbClr val="222222"/>
                          </a:solidFill>
                          <a:latin typeface="Georgia"/>
                        </a:rPr>
                        <a:t>Performance, resource, adaptation cost</a:t>
                      </a:r>
                    </a:p>
                  </a:txBody>
                  <a:tcPr marL="54864" marR="54864" marT="27432" marB="27432" anchor="ctr">
                    <a:solidFill>
                      <a:srgbClr val="FBF1F4"/>
                    </a:solidFill>
                  </a:tcPr>
                </a:tc>
                <a:tc>
                  <a:txBody>
                    <a:bodyPr wrap="square"/>
                    <a:lstStyle/>
                    <a:p>
                      <a:r>
                        <a:rPr sz="1200" b="0" i="0">
                          <a:solidFill>
                            <a:srgbClr val="222222"/>
                          </a:solidFill>
                          <a:latin typeface="Georgia"/>
                        </a:rPr>
                        <a:t>Single app; no dependencies</a:t>
                      </a:r>
                    </a:p>
                  </a:txBody>
                  <a:tcPr marL="54864" marR="54864" marT="27432" marB="27432" anchor="ctr">
                    <a:solidFill>
                      <a:srgbClr val="FBF1F4"/>
                    </a:solidFill>
                  </a:tcPr>
                </a:tc>
              </a:tr>
            </a:tbl>
          </a:graphicData>
        </a:graphic>
      </p:graphicFrame>
    </p:spTree>
    <p:extLst>
      <p:ext uri="{BB962C8B-B14F-4D97-AF65-F5344CB8AC3E}">
        <p14:creationId xmlns:p14="http://schemas.microsoft.com/office/powerpoint/2010/main" val="2822922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C12170-7753-6C30-FD90-35534D766A96}"/>
              </a:ext>
            </a:extLst>
          </p:cNvPr>
          <p:cNvSpPr>
            <a:spLocks noGrp="1"/>
          </p:cNvSpPr>
          <p:nvPr>
            <p:ph type="title"/>
          </p:nvPr>
        </p:nvSpPr>
        <p:spPr>
          <a:xfrm>
            <a:off x="566928" y="347472"/>
            <a:ext cx="11210544" cy="466344"/>
          </a:xfrm>
        </p:spPr>
        <p:txBody>
          <a:bodyPr/>
          <a:lstStyle/>
          <a:p>
            <a:r>
              <a:rPr lang="en-IN" dirty="0"/>
              <a:t>Literature Review</a:t>
            </a:r>
            <a:br>
              <a:rPr lang="en-IN" dirty="0"/>
            </a:br>
            <a:endParaRPr lang="en-IN" dirty="0"/>
          </a:p>
        </p:txBody>
      </p:sp>
      <p:sp>
        <p:nvSpPr>
          <p:cNvPr id="4" name="Slide Number Placeholder 3">
            <a:extLst>
              <a:ext uri="{FF2B5EF4-FFF2-40B4-BE49-F238E27FC236}">
                <a16:creationId xmlns:a16="http://schemas.microsoft.com/office/drawing/2014/main" id="{E8A4AB00-F0AD-D460-C98C-E16794A70805}"/>
              </a:ext>
            </a:extLst>
          </p:cNvPr>
          <p:cNvSpPr>
            <a:spLocks noGrp="1"/>
          </p:cNvSpPr>
          <p:nvPr>
            <p:ph type="sldNum" sz="quarter" idx="12"/>
          </p:nvPr>
        </p:nvSpPr>
        <p:spPr/>
        <p:txBody>
          <a:bodyPr/>
          <a:lstStyle/>
          <a:p>
            <a:fld id="{330EA680-D336-4FF7-8B7A-9848BB0A1C32}" type="slidenum">
              <a:rPr lang="en-US" smtClean="0"/>
              <a:pPr/>
              <a:t>6</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Twelve primary papers, 7-12</a:t>
            </a:r>
          </a:p>
        </p:txBody>
      </p:sp>
      <p:graphicFrame>
        <p:nvGraphicFramePr>
          <p:cNvPr id="6" name="Table 5"/>
          <p:cNvGraphicFramePr>
            <a:graphicFrameLocks noGrp="1"/>
          </p:cNvGraphicFramePr>
          <p:nvPr/>
        </p:nvGraphicFramePr>
        <p:xfrm>
          <a:off x="566928" y="1325880"/>
          <a:ext cx="11210544" cy="4736592"/>
        </p:xfrm>
        <a:graphic>
          <a:graphicData uri="http://schemas.openxmlformats.org/drawingml/2006/table">
            <a:tbl>
              <a:tblPr firstRow="0" bandRow="0">
                <a:tableStyleId>{5C22544A-7EE6-4342-B048-85BDC9FD1C3A}</a:tableStyleId>
              </a:tblPr>
              <a:tblGrid>
                <a:gridCol w="1783080"/>
                <a:gridCol w="640080"/>
                <a:gridCol w="2697480"/>
                <a:gridCol w="2148840"/>
                <a:gridCol w="2011680"/>
                <a:gridCol w="1929384"/>
              </a:tblGrid>
              <a:tr h="676656">
                <a:tc>
                  <a:txBody>
                    <a:bodyPr wrap="square"/>
                    <a:lstStyle/>
                    <a:p>
                      <a:r>
                        <a:rPr sz="1200" b="1" i="0">
                          <a:solidFill>
                            <a:srgbClr val="FFFFFF"/>
                          </a:solidFill>
                          <a:latin typeface="Georgia"/>
                        </a:rPr>
                        <a:t>Paper</a:t>
                      </a:r>
                    </a:p>
                  </a:txBody>
                  <a:tcPr marL="54864" marR="54864" marT="27432" marB="27432" anchor="ctr">
                    <a:solidFill>
                      <a:srgbClr val="A4123F"/>
                    </a:solidFill>
                  </a:tcPr>
                </a:tc>
                <a:tc>
                  <a:txBody>
                    <a:bodyPr wrap="square"/>
                    <a:lstStyle/>
                    <a:p>
                      <a:r>
                        <a:rPr sz="1200" b="1" i="0">
                          <a:solidFill>
                            <a:srgbClr val="FFFFFF"/>
                          </a:solidFill>
                          <a:latin typeface="Georgia"/>
                        </a:rPr>
                        <a:t>Year</a:t>
                      </a:r>
                    </a:p>
                  </a:txBody>
                  <a:tcPr marL="54864" marR="54864" marT="27432" marB="27432" anchor="ctr">
                    <a:solidFill>
                      <a:srgbClr val="A4123F"/>
                    </a:solidFill>
                  </a:tcPr>
                </a:tc>
                <a:tc>
                  <a:txBody>
                    <a:bodyPr wrap="square"/>
                    <a:lstStyle/>
                    <a:p>
                      <a:r>
                        <a:rPr sz="1200" b="1" i="0">
                          <a:solidFill>
                            <a:srgbClr val="FFFFFF"/>
                          </a:solidFill>
                          <a:latin typeface="Georgia"/>
                        </a:rPr>
                        <a:t>Key contribution</a:t>
                      </a:r>
                    </a:p>
                  </a:txBody>
                  <a:tcPr marL="54864" marR="54864" marT="27432" marB="27432" anchor="ctr">
                    <a:solidFill>
                      <a:srgbClr val="A4123F"/>
                    </a:solidFill>
                  </a:tcPr>
                </a:tc>
                <a:tc>
                  <a:txBody>
                    <a:bodyPr wrap="square"/>
                    <a:lstStyle/>
                    <a:p>
                      <a:r>
                        <a:rPr sz="1200" b="1" i="0">
                          <a:solidFill>
                            <a:srgbClr val="FFFFFF"/>
                          </a:solidFill>
                          <a:latin typeface="Georgia"/>
                        </a:rPr>
                        <a:t>Dataset / setting</a:t>
                      </a:r>
                    </a:p>
                  </a:txBody>
                  <a:tcPr marL="54864" marR="54864" marT="27432" marB="27432" anchor="ctr">
                    <a:solidFill>
                      <a:srgbClr val="A4123F"/>
                    </a:solidFill>
                  </a:tcPr>
                </a:tc>
                <a:tc>
                  <a:txBody>
                    <a:bodyPr wrap="square"/>
                    <a:lstStyle/>
                    <a:p>
                      <a:r>
                        <a:rPr sz="1200" b="1" i="0">
                          <a:solidFill>
                            <a:srgbClr val="FFFFFF"/>
                          </a:solidFill>
                          <a:latin typeface="Georgia"/>
                        </a:rPr>
                        <a:t>Evaluation metrics</a:t>
                      </a:r>
                    </a:p>
                  </a:txBody>
                  <a:tcPr marL="54864" marR="54864" marT="27432" marB="27432" anchor="ctr">
                    <a:solidFill>
                      <a:srgbClr val="A4123F"/>
                    </a:solidFill>
                  </a:tcPr>
                </a:tc>
                <a:tc>
                  <a:txBody>
                    <a:bodyPr wrap="square"/>
                    <a:lstStyle/>
                    <a:p>
                      <a:r>
                        <a:rPr sz="1200" b="1" i="0">
                          <a:solidFill>
                            <a:srgbClr val="FFFFFF"/>
                          </a:solidFill>
                          <a:latin typeface="Georgia"/>
                        </a:rPr>
                        <a:t>Demerit / gap</a:t>
                      </a:r>
                    </a:p>
                  </a:txBody>
                  <a:tcPr marL="54864" marR="54864" marT="27432" marB="27432" anchor="ctr">
                    <a:solidFill>
                      <a:srgbClr val="A4123F"/>
                    </a:solidFill>
                  </a:tcPr>
                </a:tc>
              </a:tr>
              <a:tr h="676656">
                <a:tc>
                  <a:txBody>
                    <a:bodyPr wrap="square"/>
                    <a:lstStyle/>
                    <a:p>
                      <a:r>
                        <a:rPr sz="1200" b="1" i="0">
                          <a:solidFill>
                            <a:srgbClr val="222222"/>
                          </a:solidFill>
                          <a:latin typeface="Georgia"/>
                        </a:rPr>
                        <a:t>FIRM [7]</a:t>
                      </a:r>
                    </a:p>
                  </a:txBody>
                  <a:tcPr marL="54864" marR="54864" marT="27432" marB="27432" anchor="ctr">
                    <a:solidFill>
                      <a:srgbClr val="FFFFFF"/>
                    </a:solidFill>
                  </a:tcPr>
                </a:tc>
                <a:tc>
                  <a:txBody>
                    <a:bodyPr wrap="square"/>
                    <a:lstStyle/>
                    <a:p>
                      <a:r>
                        <a:rPr sz="1200" b="0" i="0">
                          <a:solidFill>
                            <a:srgbClr val="222222"/>
                          </a:solidFill>
                          <a:latin typeface="Georgia"/>
                        </a:rPr>
                        <a:t>2020</a:t>
                      </a:r>
                    </a:p>
                  </a:txBody>
                  <a:tcPr marL="54864" marR="54864" marT="27432" marB="27432" anchor="ctr">
                    <a:solidFill>
                      <a:srgbClr val="FFFFFF"/>
                    </a:solidFill>
                  </a:tcPr>
                </a:tc>
                <a:tc>
                  <a:txBody>
                    <a:bodyPr wrap="square"/>
                    <a:lstStyle/>
                    <a:p>
                      <a:r>
                        <a:rPr sz="1200" b="0" i="0">
                          <a:solidFill>
                            <a:srgbClr val="222222"/>
                          </a:solidFill>
                          <a:latin typeface="Georgia"/>
                        </a:rPr>
                        <a:t>SVM critical-path localisation + DDPG reprovisioning</a:t>
                      </a:r>
                    </a:p>
                  </a:txBody>
                  <a:tcPr marL="54864" marR="54864" marT="27432" marB="27432" anchor="ctr">
                    <a:solidFill>
                      <a:srgbClr val="FFFFFF"/>
                    </a:solidFill>
                  </a:tcPr>
                </a:tc>
                <a:tc>
                  <a:txBody>
                    <a:bodyPr wrap="square"/>
                    <a:lstStyle/>
                    <a:p>
                      <a:r>
                        <a:rPr sz="1200" b="0" i="0">
                          <a:solidFill>
                            <a:srgbClr val="222222"/>
                          </a:solidFill>
                          <a:latin typeface="Georgia"/>
                        </a:rPr>
                        <a:t>Kubernetes; DeathStarBench, Train-Ticket</a:t>
                      </a:r>
                    </a:p>
                  </a:txBody>
                  <a:tcPr marL="54864" marR="54864" marT="27432" marB="27432" anchor="ctr">
                    <a:solidFill>
                      <a:srgbClr val="FFFFFF"/>
                    </a:solidFill>
                  </a:tcPr>
                </a:tc>
                <a:tc>
                  <a:txBody>
                    <a:bodyPr wrap="square"/>
                    <a:lstStyle/>
                    <a:p>
                      <a:r>
                        <a:rPr sz="1200" b="0" i="0">
                          <a:solidFill>
                            <a:srgbClr val="222222"/>
                          </a:solidFill>
                          <a:latin typeface="Georgia"/>
                        </a:rPr>
                        <a:t>SLO violations (up to 16× fewer), CPU</a:t>
                      </a:r>
                    </a:p>
                  </a:txBody>
                  <a:tcPr marL="54864" marR="54864" marT="27432" marB="27432" anchor="ctr">
                    <a:solidFill>
                      <a:srgbClr val="FFFFFF"/>
                    </a:solidFill>
                  </a:tcPr>
                </a:tc>
                <a:tc>
                  <a:txBody>
                    <a:bodyPr wrap="square"/>
                    <a:lstStyle/>
                    <a:p>
                      <a:r>
                        <a:rPr sz="1200" b="0" i="0">
                          <a:solidFill>
                            <a:srgbClr val="222222"/>
                          </a:solidFill>
                          <a:latin typeface="Georgia"/>
                        </a:rPr>
                        <a:t>Needs tracing; acts on limits</a:t>
                      </a:r>
                    </a:p>
                  </a:txBody>
                  <a:tcPr marL="54864" marR="54864" marT="27432" marB="27432" anchor="ctr">
                    <a:solidFill>
                      <a:srgbClr val="FFFFFF"/>
                    </a:solidFill>
                  </a:tcPr>
                </a:tc>
              </a:tr>
              <a:tr h="676656">
                <a:tc>
                  <a:txBody>
                    <a:bodyPr wrap="square"/>
                    <a:lstStyle/>
                    <a:p>
                      <a:r>
                        <a:rPr sz="1200" b="1" i="0">
                          <a:solidFill>
                            <a:srgbClr val="222222"/>
                          </a:solidFill>
                          <a:latin typeface="Georgia"/>
                        </a:rPr>
                        <a:t>Autopilot [8]</a:t>
                      </a:r>
                    </a:p>
                  </a:txBody>
                  <a:tcPr marL="54864" marR="54864" marT="27432" marB="27432" anchor="ctr">
                    <a:solidFill>
                      <a:srgbClr val="FBF1F4"/>
                    </a:solidFill>
                  </a:tcPr>
                </a:tc>
                <a:tc>
                  <a:txBody>
                    <a:bodyPr wrap="square"/>
                    <a:lstStyle/>
                    <a:p>
                      <a:r>
                        <a:rPr sz="1200" b="0" i="0">
                          <a:solidFill>
                            <a:srgbClr val="222222"/>
                          </a:solidFill>
                          <a:latin typeface="Georgia"/>
                        </a:rPr>
                        <a:t>2020</a:t>
                      </a:r>
                    </a:p>
                  </a:txBody>
                  <a:tcPr marL="54864" marR="54864" marT="27432" marB="27432" anchor="ctr">
                    <a:solidFill>
                      <a:srgbClr val="FBF1F4"/>
                    </a:solidFill>
                  </a:tcPr>
                </a:tc>
                <a:tc>
                  <a:txBody>
                    <a:bodyPr wrap="square"/>
                    <a:lstStyle/>
                    <a:p>
                      <a:r>
                        <a:rPr sz="1200" b="0" i="0">
                          <a:solidFill>
                            <a:srgbClr val="222222"/>
                          </a:solidFill>
                          <a:latin typeface="Georgia"/>
                        </a:rPr>
                        <a:t>Recommenders + ML meta-algorithm at Google</a:t>
                      </a:r>
                    </a:p>
                  </a:txBody>
                  <a:tcPr marL="54864" marR="54864" marT="27432" marB="27432" anchor="ctr">
                    <a:solidFill>
                      <a:srgbClr val="FBF1F4"/>
                    </a:solidFill>
                  </a:tcPr>
                </a:tc>
                <a:tc>
                  <a:txBody>
                    <a:bodyPr wrap="square"/>
                    <a:lstStyle/>
                    <a:p>
                      <a:r>
                        <a:rPr sz="1200" b="0" i="0">
                          <a:solidFill>
                            <a:srgbClr val="222222"/>
                          </a:solidFill>
                          <a:latin typeface="Georgia"/>
                        </a:rPr>
                        <a:t>Borg production fleet</a:t>
                      </a:r>
                    </a:p>
                  </a:txBody>
                  <a:tcPr marL="54864" marR="54864" marT="27432" marB="27432" anchor="ctr">
                    <a:solidFill>
                      <a:srgbClr val="FBF1F4"/>
                    </a:solidFill>
                  </a:tcPr>
                </a:tc>
                <a:tc>
                  <a:txBody>
                    <a:bodyPr wrap="square"/>
                    <a:lstStyle/>
                    <a:p>
                      <a:r>
                        <a:rPr sz="1200" b="0" i="0">
                          <a:solidFill>
                            <a:srgbClr val="222222"/>
                          </a:solidFill>
                          <a:latin typeface="Georgia"/>
                        </a:rPr>
                        <a:t>Slack 23% vs 46% manual, OOMs</a:t>
                      </a:r>
                    </a:p>
                  </a:txBody>
                  <a:tcPr marL="54864" marR="54864" marT="27432" marB="27432" anchor="ctr">
                    <a:solidFill>
                      <a:srgbClr val="FBF1F4"/>
                    </a:solidFill>
                  </a:tcPr>
                </a:tc>
                <a:tc>
                  <a:txBody>
                    <a:bodyPr wrap="square"/>
                    <a:lstStyle/>
                    <a:p>
                      <a:r>
                        <a:rPr sz="1200" b="0" i="0">
                          <a:solidFill>
                            <a:srgbClr val="222222"/>
                          </a:solidFill>
                          <a:latin typeface="Georgia"/>
                        </a:rPr>
                        <a:t>Needs fleet history</a:t>
                      </a:r>
                    </a:p>
                  </a:txBody>
                  <a:tcPr marL="54864" marR="54864" marT="27432" marB="27432" anchor="ctr">
                    <a:solidFill>
                      <a:srgbClr val="FBF1F4"/>
                    </a:solidFill>
                  </a:tcPr>
                </a:tc>
              </a:tr>
              <a:tr h="676656">
                <a:tc>
                  <a:txBody>
                    <a:bodyPr wrap="square"/>
                    <a:lstStyle/>
                    <a:p>
                      <a:r>
                        <a:rPr sz="1200" b="1" i="0">
                          <a:solidFill>
                            <a:srgbClr val="222222"/>
                          </a:solidFill>
                          <a:latin typeface="Georgia"/>
                        </a:rPr>
                        <a:t>Sinan [9]</a:t>
                      </a:r>
                    </a:p>
                  </a:txBody>
                  <a:tcPr marL="54864" marR="54864" marT="27432" marB="27432" anchor="ctr">
                    <a:solidFill>
                      <a:srgbClr val="FFFFFF"/>
                    </a:solidFill>
                  </a:tcPr>
                </a:tc>
                <a:tc>
                  <a:txBody>
                    <a:bodyPr wrap="square"/>
                    <a:lstStyle/>
                    <a:p>
                      <a:r>
                        <a:rPr sz="1200" b="0" i="0">
                          <a:solidFill>
                            <a:srgbClr val="222222"/>
                          </a:solidFill>
                          <a:latin typeface="Georgia"/>
                        </a:rPr>
                        <a:t>2021</a:t>
                      </a:r>
                    </a:p>
                  </a:txBody>
                  <a:tcPr marL="54864" marR="54864" marT="27432" marB="27432" anchor="ctr">
                    <a:solidFill>
                      <a:srgbClr val="FFFFFF"/>
                    </a:solidFill>
                  </a:tcPr>
                </a:tc>
                <a:tc>
                  <a:txBody>
                    <a:bodyPr wrap="square"/>
                    <a:lstStyle/>
                    <a:p>
                      <a:r>
                        <a:rPr sz="1200" b="0" i="0">
                          <a:solidFill>
                            <a:srgbClr val="222222"/>
                          </a:solidFill>
                          <a:latin typeface="Georgia"/>
                        </a:rPr>
                        <a:t>CNN + boosted trees predict QoS risk</a:t>
                      </a:r>
                    </a:p>
                  </a:txBody>
                  <a:tcPr marL="54864" marR="54864" marT="27432" marB="27432" anchor="ctr">
                    <a:solidFill>
                      <a:srgbClr val="FFFFFF"/>
                    </a:solidFill>
                  </a:tcPr>
                </a:tc>
                <a:tc>
                  <a:txBody>
                    <a:bodyPr wrap="square"/>
                    <a:lstStyle/>
                    <a:p>
                      <a:r>
                        <a:rPr sz="1200" b="0" i="0">
                          <a:solidFill>
                            <a:srgbClr val="222222"/>
                          </a:solidFill>
                          <a:latin typeface="Georgia"/>
                        </a:rPr>
                        <a:t>DeathStarBench; local and GCE</a:t>
                      </a:r>
                    </a:p>
                  </a:txBody>
                  <a:tcPr marL="54864" marR="54864" marT="27432" marB="27432" anchor="ctr">
                    <a:solidFill>
                      <a:srgbClr val="FFFFFF"/>
                    </a:solidFill>
                  </a:tcPr>
                </a:tc>
                <a:tc>
                  <a:txBody>
                    <a:bodyPr wrap="square"/>
                    <a:lstStyle/>
                    <a:p>
                      <a:r>
                        <a:rPr sz="1200" b="0" i="0">
                          <a:solidFill>
                            <a:srgbClr val="222222"/>
                          </a:solidFill>
                          <a:latin typeface="Georgia"/>
                        </a:rPr>
                        <a:t>QoS met, resources</a:t>
                      </a:r>
                    </a:p>
                  </a:txBody>
                  <a:tcPr marL="54864" marR="54864" marT="27432" marB="27432" anchor="ctr">
                    <a:solidFill>
                      <a:srgbClr val="FFFFFF"/>
                    </a:solidFill>
                  </a:tcPr>
                </a:tc>
                <a:tc>
                  <a:txBody>
                    <a:bodyPr wrap="square"/>
                    <a:lstStyle/>
                    <a:p>
                      <a:r>
                        <a:rPr sz="1200" b="0" i="0">
                          <a:solidFill>
                            <a:srgbClr val="222222"/>
                          </a:solidFill>
                          <a:latin typeface="Georgia"/>
                        </a:rPr>
                        <a:t>Large per-app data collection</a:t>
                      </a:r>
                    </a:p>
                  </a:txBody>
                  <a:tcPr marL="54864" marR="54864" marT="27432" marB="27432" anchor="ctr">
                    <a:solidFill>
                      <a:srgbClr val="FFFFFF"/>
                    </a:solidFill>
                  </a:tcPr>
                </a:tc>
              </a:tr>
              <a:tr h="676656">
                <a:tc>
                  <a:txBody>
                    <a:bodyPr wrap="square"/>
                    <a:lstStyle/>
                    <a:p>
                      <a:r>
                        <a:rPr sz="1200" b="1" i="0">
                          <a:solidFill>
                            <a:srgbClr val="222222"/>
                          </a:solidFill>
                          <a:latin typeface="Georgia"/>
                        </a:rPr>
                        <a:t>GRAF [10]</a:t>
                      </a:r>
                    </a:p>
                  </a:txBody>
                  <a:tcPr marL="54864" marR="54864" marT="27432" marB="27432" anchor="ctr">
                    <a:solidFill>
                      <a:srgbClr val="FBF1F4"/>
                    </a:solidFill>
                  </a:tcPr>
                </a:tc>
                <a:tc>
                  <a:txBody>
                    <a:bodyPr wrap="square"/>
                    <a:lstStyle/>
                    <a:p>
                      <a:r>
                        <a:rPr sz="1200" b="0" i="0">
                          <a:solidFill>
                            <a:srgbClr val="222222"/>
                          </a:solidFill>
                          <a:latin typeface="Georgia"/>
                        </a:rPr>
                        <a:t>2021</a:t>
                      </a:r>
                    </a:p>
                  </a:txBody>
                  <a:tcPr marL="54864" marR="54864" marT="27432" marB="27432" anchor="ctr">
                    <a:solidFill>
                      <a:srgbClr val="FBF1F4"/>
                    </a:solidFill>
                  </a:tcPr>
                </a:tc>
                <a:tc>
                  <a:txBody>
                    <a:bodyPr wrap="square"/>
                    <a:lstStyle/>
                    <a:p>
                      <a:r>
                        <a:rPr sz="1200" b="0" i="0">
                          <a:solidFill>
                            <a:srgbClr val="222222"/>
                          </a:solidFill>
                          <a:latin typeface="Georgia"/>
                        </a:rPr>
                        <a:t>GNN latency model + joint CPU optimisation</a:t>
                      </a:r>
                    </a:p>
                  </a:txBody>
                  <a:tcPr marL="54864" marR="54864" marT="27432" marB="27432" anchor="ctr">
                    <a:solidFill>
                      <a:srgbClr val="FBF1F4"/>
                    </a:solidFill>
                  </a:tcPr>
                </a:tc>
                <a:tc>
                  <a:txBody>
                    <a:bodyPr wrap="square"/>
                    <a:lstStyle/>
                    <a:p>
                      <a:r>
                        <a:rPr sz="1200" b="0" i="0">
                          <a:solidFill>
                            <a:srgbClr val="222222"/>
                          </a:solidFill>
                          <a:latin typeface="Georgia"/>
                        </a:rPr>
                        <a:t>Kubernetes benchmarks</a:t>
                      </a:r>
                    </a:p>
                  </a:txBody>
                  <a:tcPr marL="54864" marR="54864" marT="27432" marB="27432" anchor="ctr">
                    <a:solidFill>
                      <a:srgbClr val="FBF1F4"/>
                    </a:solidFill>
                  </a:tcPr>
                </a:tc>
                <a:tc>
                  <a:txBody>
                    <a:bodyPr wrap="square"/>
                    <a:lstStyle/>
                    <a:p>
                      <a:r>
                        <a:rPr sz="1200" b="0" i="0">
                          <a:solidFill>
                            <a:srgbClr val="222222"/>
                          </a:solidFill>
                          <a:latin typeface="Georgia"/>
                        </a:rPr>
                        <a:t>CPU allocation, SLO</a:t>
                      </a:r>
                    </a:p>
                  </a:txBody>
                  <a:tcPr marL="54864" marR="54864" marT="27432" marB="27432" anchor="ctr">
                    <a:solidFill>
                      <a:srgbClr val="FBF1F4"/>
                    </a:solidFill>
                  </a:tcPr>
                </a:tc>
                <a:tc>
                  <a:txBody>
                    <a:bodyPr wrap="square"/>
                    <a:lstStyle/>
                    <a:p>
                      <a:r>
                        <a:rPr sz="1200" b="0" i="0">
                          <a:solidFill>
                            <a:srgbClr val="222222"/>
                          </a:solidFill>
                          <a:latin typeface="Georgia"/>
                        </a:rPr>
                        <a:t>Per-app model; needs forecasts</a:t>
                      </a:r>
                    </a:p>
                  </a:txBody>
                  <a:tcPr marL="54864" marR="54864" marT="27432" marB="27432" anchor="ctr">
                    <a:solidFill>
                      <a:srgbClr val="FBF1F4"/>
                    </a:solidFill>
                  </a:tcPr>
                </a:tc>
              </a:tr>
              <a:tr h="676656">
                <a:tc>
                  <a:txBody>
                    <a:bodyPr wrap="square"/>
                    <a:lstStyle/>
                    <a:p>
                      <a:r>
                        <a:rPr sz="1200" b="1" i="0">
                          <a:solidFill>
                            <a:srgbClr val="222222"/>
                          </a:solidFill>
                          <a:latin typeface="Georgia"/>
                        </a:rPr>
                        <a:t>Alibaba trace [11]</a:t>
                      </a:r>
                    </a:p>
                  </a:txBody>
                  <a:tcPr marL="54864" marR="54864" marT="27432" marB="27432" anchor="ctr">
                    <a:solidFill>
                      <a:srgbClr val="FFFFFF"/>
                    </a:solidFill>
                  </a:tcPr>
                </a:tc>
                <a:tc>
                  <a:txBody>
                    <a:bodyPr wrap="square"/>
                    <a:lstStyle/>
                    <a:p>
                      <a:r>
                        <a:rPr sz="1200" b="0" i="0">
                          <a:solidFill>
                            <a:srgbClr val="222222"/>
                          </a:solidFill>
                          <a:latin typeface="Georgia"/>
                        </a:rPr>
                        <a:t>2021</a:t>
                      </a:r>
                    </a:p>
                  </a:txBody>
                  <a:tcPr marL="54864" marR="54864" marT="27432" marB="27432" anchor="ctr">
                    <a:solidFill>
                      <a:srgbClr val="FFFFFF"/>
                    </a:solidFill>
                  </a:tcPr>
                </a:tc>
                <a:tc>
                  <a:txBody>
                    <a:bodyPr wrap="square"/>
                    <a:lstStyle/>
                    <a:p>
                      <a:r>
                        <a:rPr sz="1200" b="0" i="0">
                          <a:solidFill>
                            <a:srgbClr val="222222"/>
                          </a:solidFill>
                          <a:latin typeface="Georgia"/>
                        </a:rPr>
                        <a:t>Production microservice trace and analysis</a:t>
                      </a:r>
                    </a:p>
                  </a:txBody>
                  <a:tcPr marL="54864" marR="54864" marT="27432" marB="27432" anchor="ctr">
                    <a:solidFill>
                      <a:srgbClr val="FFFFFF"/>
                    </a:solidFill>
                  </a:tcPr>
                </a:tc>
                <a:tc>
                  <a:txBody>
                    <a:bodyPr wrap="square"/>
                    <a:lstStyle/>
                    <a:p>
                      <a:r>
                        <a:rPr sz="1200" b="0" i="0">
                          <a:solidFill>
                            <a:srgbClr val="222222"/>
                          </a:solidFill>
                          <a:latin typeface="Georgia"/>
                        </a:rPr>
                        <a:t>&gt;20,000 services</a:t>
                      </a:r>
                    </a:p>
                  </a:txBody>
                  <a:tcPr marL="54864" marR="54864" marT="27432" marB="27432" anchor="ctr">
                    <a:solidFill>
                      <a:srgbClr val="FFFFFF"/>
                    </a:solidFill>
                  </a:tcPr>
                </a:tc>
                <a:tc>
                  <a:txBody>
                    <a:bodyPr wrap="square"/>
                    <a:lstStyle/>
                    <a:p>
                      <a:r>
                        <a:rPr sz="1200" b="0" i="0">
                          <a:solidFill>
                            <a:srgbClr val="222222"/>
                          </a:solidFill>
                          <a:latin typeface="Georgia"/>
                        </a:rPr>
                        <a:t>Topology, dynamics</a:t>
                      </a:r>
                    </a:p>
                  </a:txBody>
                  <a:tcPr marL="54864" marR="54864" marT="27432" marB="27432" anchor="ctr">
                    <a:solidFill>
                      <a:srgbClr val="FFFFFF"/>
                    </a:solidFill>
                  </a:tcPr>
                </a:tc>
                <a:tc>
                  <a:txBody>
                    <a:bodyPr wrap="square"/>
                    <a:lstStyle/>
                    <a:p>
                      <a:r>
                        <a:rPr sz="1200" b="0" i="0">
                          <a:solidFill>
                            <a:srgbClr val="222222"/>
                          </a:solidFill>
                          <a:latin typeface="Georgia"/>
                        </a:rPr>
                        <a:t>No controller evaluated</a:t>
                      </a:r>
                    </a:p>
                  </a:txBody>
                  <a:tcPr marL="54864" marR="54864" marT="27432" marB="27432" anchor="ctr">
                    <a:solidFill>
                      <a:srgbClr val="FFFFFF"/>
                    </a:solidFill>
                  </a:tcPr>
                </a:tc>
              </a:tr>
              <a:tr h="676656">
                <a:tc>
                  <a:txBody>
                    <a:bodyPr wrap="square"/>
                    <a:lstStyle/>
                    <a:p>
                      <a:r>
                        <a:rPr sz="1200" b="1" i="0">
                          <a:solidFill>
                            <a:srgbClr val="222222"/>
                          </a:solidFill>
                          <a:latin typeface="Georgia"/>
                        </a:rPr>
                        <a:t>DeathStarBench [12]</a:t>
                      </a:r>
                    </a:p>
                  </a:txBody>
                  <a:tcPr marL="54864" marR="54864" marT="27432" marB="27432" anchor="ctr">
                    <a:solidFill>
                      <a:srgbClr val="FBF1F4"/>
                    </a:solidFill>
                  </a:tcPr>
                </a:tc>
                <a:tc>
                  <a:txBody>
                    <a:bodyPr wrap="square"/>
                    <a:lstStyle/>
                    <a:p>
                      <a:r>
                        <a:rPr sz="1200" b="0" i="0">
                          <a:solidFill>
                            <a:srgbClr val="222222"/>
                          </a:solidFill>
                          <a:latin typeface="Georgia"/>
                        </a:rPr>
                        <a:t>2019</a:t>
                      </a:r>
                    </a:p>
                  </a:txBody>
                  <a:tcPr marL="54864" marR="54864" marT="27432" marB="27432" anchor="ctr">
                    <a:solidFill>
                      <a:srgbClr val="FBF1F4"/>
                    </a:solidFill>
                  </a:tcPr>
                </a:tc>
                <a:tc>
                  <a:txBody>
                    <a:bodyPr wrap="square"/>
                    <a:lstStyle/>
                    <a:p>
                      <a:r>
                        <a:rPr sz="1200" b="0" i="0">
                          <a:solidFill>
                            <a:srgbClr val="222222"/>
                          </a:solidFill>
                          <a:latin typeface="Georgia"/>
                        </a:rPr>
                        <a:t>Open-source end-to-end microservice apps</a:t>
                      </a:r>
                    </a:p>
                  </a:txBody>
                  <a:tcPr marL="54864" marR="54864" marT="27432" marB="27432" anchor="ctr">
                    <a:solidFill>
                      <a:srgbClr val="FBF1F4"/>
                    </a:solidFill>
                  </a:tcPr>
                </a:tc>
                <a:tc>
                  <a:txBody>
                    <a:bodyPr wrap="square"/>
                    <a:lstStyle/>
                    <a:p>
                      <a:r>
                        <a:rPr sz="1200" b="0" i="0">
                          <a:solidFill>
                            <a:srgbClr val="222222"/>
                          </a:solidFill>
                          <a:latin typeface="Georgia"/>
                        </a:rPr>
                        <a:t>Real servers, cloud/edge</a:t>
                      </a:r>
                    </a:p>
                  </a:txBody>
                  <a:tcPr marL="54864" marR="54864" marT="27432" marB="27432" anchor="ctr">
                    <a:solidFill>
                      <a:srgbClr val="FBF1F4"/>
                    </a:solidFill>
                  </a:tcPr>
                </a:tc>
                <a:tc>
                  <a:txBody>
                    <a:bodyPr wrap="square"/>
                    <a:lstStyle/>
                    <a:p>
                      <a:r>
                        <a:rPr sz="1200" b="0" i="0">
                          <a:solidFill>
                            <a:srgbClr val="222222"/>
                          </a:solidFill>
                          <a:latin typeface="Georgia"/>
                        </a:rPr>
                        <a:t>Latency, tail effects</a:t>
                      </a:r>
                    </a:p>
                  </a:txBody>
                  <a:tcPr marL="54864" marR="54864" marT="27432" marB="27432" anchor="ctr">
                    <a:solidFill>
                      <a:srgbClr val="FBF1F4"/>
                    </a:solidFill>
                  </a:tcPr>
                </a:tc>
                <a:tc>
                  <a:txBody>
                    <a:bodyPr wrap="square"/>
                    <a:lstStyle/>
                    <a:p>
                      <a:r>
                        <a:rPr sz="1200" b="0" i="0">
                          <a:solidFill>
                            <a:srgbClr val="222222"/>
                          </a:solidFill>
                          <a:latin typeface="Georgia"/>
                        </a:rPr>
                        <a:t>Heavy for small hardware</a:t>
                      </a:r>
                    </a:p>
                  </a:txBody>
                  <a:tcPr marL="54864" marR="54864" marT="27432" marB="27432" anchor="ctr">
                    <a:solidFill>
                      <a:srgbClr val="FBF1F4"/>
                    </a:solidFill>
                  </a:tcPr>
                </a:tc>
              </a:tr>
            </a:tbl>
          </a:graphicData>
        </a:graphic>
      </p:graphicFrame>
    </p:spTree>
    <p:extLst>
      <p:ext uri="{BB962C8B-B14F-4D97-AF65-F5344CB8AC3E}">
        <p14:creationId xmlns:p14="http://schemas.microsoft.com/office/powerpoint/2010/main" val="2822922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BB3914-566F-EFD5-8CCC-E666C35071CE}"/>
              </a:ext>
            </a:extLst>
          </p:cNvPr>
          <p:cNvSpPr>
            <a:spLocks noGrp="1"/>
          </p:cNvSpPr>
          <p:nvPr>
            <p:ph type="title"/>
          </p:nvPr>
        </p:nvSpPr>
        <p:spPr>
          <a:xfrm>
            <a:off x="566928" y="347472"/>
            <a:ext cx="11210544" cy="466344"/>
          </a:xfrm>
        </p:spPr>
        <p:txBody>
          <a:bodyPr/>
          <a:lstStyle/>
          <a:p>
            <a:r>
              <a:rPr lang="en-IN" dirty="0"/>
              <a:t>Research Gap</a:t>
            </a:r>
          </a:p>
        </p:txBody>
      </p:sp>
      <p:sp>
        <p:nvSpPr>
          <p:cNvPr id="4" name="Slide Number Placeholder 3">
            <a:extLst>
              <a:ext uri="{FF2B5EF4-FFF2-40B4-BE49-F238E27FC236}">
                <a16:creationId xmlns:a16="http://schemas.microsoft.com/office/drawing/2014/main" id="{3033B24C-F522-2F81-772E-A90036EAD383}"/>
              </a:ext>
            </a:extLst>
          </p:cNvPr>
          <p:cNvSpPr>
            <a:spLocks noGrp="1"/>
          </p:cNvSpPr>
          <p:nvPr>
            <p:ph type="sldNum" sz="quarter" idx="12"/>
          </p:nvPr>
        </p:nvSpPr>
        <p:spPr/>
        <p:txBody>
          <a:bodyPr/>
          <a:lstStyle/>
          <a:p>
            <a:fld id="{330EA680-D336-4FF7-8B7A-9848BB0A1C32}" type="slidenum">
              <a:rPr lang="en-US" smtClean="0"/>
              <a:pPr/>
              <a:t>7</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Identified from the twelve reviewed works</a:t>
            </a:r>
          </a:p>
        </p:txBody>
      </p:sp>
      <p:sp>
        <p:nvSpPr>
          <p:cNvPr id="6" name="TextBox 5"/>
          <p:cNvSpPr txBox="1"/>
          <p:nvPr/>
        </p:nvSpPr>
        <p:spPr>
          <a:xfrm>
            <a:off x="566928" y="1325880"/>
            <a:ext cx="5394960" cy="365760"/>
          </a:xfrm>
          <a:prstGeom prst="rect">
            <a:avLst/>
          </a:prstGeom>
          <a:noFill/>
        </p:spPr>
        <p:txBody>
          <a:bodyPr wrap="square" anchor="t" lIns="36576" rIns="36576" tIns="36576" bIns="36576">
            <a:spAutoFit/>
          </a:bodyPr>
          <a:lstStyle/>
          <a:p>
            <a:pPr algn="l">
              <a:spcAft>
                <a:spcPts val="400"/>
              </a:spcAft>
            </a:pPr>
            <a:r>
              <a:rPr sz="1600" b="1" i="0">
                <a:solidFill>
                  <a:srgbClr val="5F6670"/>
                </a:solidFill>
                <a:latin typeface="Georgia"/>
              </a:rPr>
              <a:t>Gap in the literature</a:t>
            </a:r>
          </a:p>
        </p:txBody>
      </p:sp>
      <p:sp>
        <p:nvSpPr>
          <p:cNvPr id="7" name="TextBox 6"/>
          <p:cNvSpPr txBox="1"/>
          <p:nvPr/>
        </p:nvSpPr>
        <p:spPr>
          <a:xfrm>
            <a:off x="6446520" y="1325880"/>
            <a:ext cx="5303520" cy="365760"/>
          </a:xfrm>
          <a:prstGeom prst="rect">
            <a:avLst/>
          </a:prstGeom>
          <a:noFill/>
        </p:spPr>
        <p:txBody>
          <a:bodyPr wrap="square" anchor="t" lIns="36576" rIns="36576" tIns="36576" bIns="36576">
            <a:spAutoFit/>
          </a:bodyPr>
          <a:lstStyle/>
          <a:p>
            <a:pPr algn="l">
              <a:spcAft>
                <a:spcPts val="400"/>
              </a:spcAft>
            </a:pPr>
            <a:r>
              <a:rPr sz="1600" b="1" i="0">
                <a:solidFill>
                  <a:srgbClr val="A4123F"/>
                </a:solidFill>
                <a:latin typeface="Georgia"/>
              </a:rPr>
              <a:t>How FlexaScale addresses it</a:t>
            </a:r>
          </a:p>
        </p:txBody>
      </p:sp>
      <p:sp>
        <p:nvSpPr>
          <p:cNvPr id="8" name="Rounded Rectangle 7"/>
          <p:cNvSpPr/>
          <p:nvPr/>
        </p:nvSpPr>
        <p:spPr>
          <a:xfrm>
            <a:off x="566928" y="1783080"/>
            <a:ext cx="5440680" cy="128016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74519"/>
            <a:ext cx="5120640" cy="365760"/>
          </a:xfrm>
          <a:prstGeom prst="rect">
            <a:avLst/>
          </a:prstGeom>
          <a:noFill/>
        </p:spPr>
        <p:txBody>
          <a:bodyPr wrap="square" anchor="t" lIns="36576" rIns="36576" tIns="36576" bIns="36576">
            <a:spAutoFit/>
          </a:bodyPr>
          <a:lstStyle/>
          <a:p>
            <a:pPr algn="l">
              <a:spcAft>
                <a:spcPts val="400"/>
              </a:spcAft>
            </a:pPr>
            <a:r>
              <a:rPr sz="1600" b="1" i="0">
                <a:solidFill>
                  <a:srgbClr val="222222"/>
                </a:solidFill>
                <a:latin typeface="Georgia"/>
              </a:rPr>
              <a:t>Baselines are weak</a:t>
            </a:r>
          </a:p>
        </p:txBody>
      </p:sp>
      <p:sp>
        <p:nvSpPr>
          <p:cNvPr id="10" name="TextBox 9"/>
          <p:cNvSpPr txBox="1"/>
          <p:nvPr/>
        </p:nvSpPr>
        <p:spPr>
          <a:xfrm>
            <a:off x="749808" y="2258568"/>
            <a:ext cx="5120640" cy="77724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Learned autoscalers are compared with the default HPA, so it is unknown how much a tuned rule would also gain.</a:t>
            </a:r>
          </a:p>
        </p:txBody>
      </p:sp>
      <p:sp>
        <p:nvSpPr>
          <p:cNvPr id="11" name="Right Arrow 10"/>
          <p:cNvSpPr/>
          <p:nvPr/>
        </p:nvSpPr>
        <p:spPr>
          <a:xfrm>
            <a:off x="6108192" y="2240280"/>
            <a:ext cx="274320" cy="365760"/>
          </a:xfrm>
          <a:prstGeom prst="rightArrow">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1783080"/>
            <a:ext cx="5330952" cy="1280160"/>
          </a:xfrm>
          <a:prstGeom prst="roundRect">
            <a:avLst>
              <a:gd name="adj" fmla="val 6000"/>
            </a:avLst>
          </a:prstGeom>
          <a:solidFill>
            <a:srgbClr val="F7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874519"/>
            <a:ext cx="4983480" cy="1097280"/>
          </a:xfrm>
          <a:prstGeom prst="rect">
            <a:avLst/>
          </a:prstGeom>
          <a:noFill/>
        </p:spPr>
        <p:txBody>
          <a:bodyPr wrap="square" anchor="ctr" lIns="36576" rIns="36576" tIns="36576" bIns="36576">
            <a:spAutoFit/>
          </a:bodyPr>
          <a:lstStyle/>
          <a:p>
            <a:pPr algn="l">
              <a:spcAft>
                <a:spcPts val="400"/>
              </a:spcAft>
            </a:pPr>
            <a:r>
              <a:rPr sz="1500" b="1" i="0">
                <a:solidFill>
                  <a:srgbClr val="6E0B2A"/>
                </a:solidFill>
                <a:latin typeface="Georgia"/>
              </a:rPr>
              <a:t>Compare with default and a calibrated, tuned HPA under rules fixed before the runs</a:t>
            </a:r>
          </a:p>
        </p:txBody>
      </p:sp>
      <p:sp>
        <p:nvSpPr>
          <p:cNvPr id="14" name="Rounded Rectangle 13"/>
          <p:cNvSpPr/>
          <p:nvPr/>
        </p:nvSpPr>
        <p:spPr>
          <a:xfrm>
            <a:off x="566928" y="3246120"/>
            <a:ext cx="5440680" cy="128016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337560"/>
            <a:ext cx="5120640" cy="365760"/>
          </a:xfrm>
          <a:prstGeom prst="rect">
            <a:avLst/>
          </a:prstGeom>
          <a:noFill/>
        </p:spPr>
        <p:txBody>
          <a:bodyPr wrap="square" anchor="t" lIns="36576" rIns="36576" tIns="36576" bIns="36576">
            <a:spAutoFit/>
          </a:bodyPr>
          <a:lstStyle/>
          <a:p>
            <a:pPr algn="l">
              <a:spcAft>
                <a:spcPts val="400"/>
              </a:spcAft>
            </a:pPr>
            <a:r>
              <a:rPr sz="1600" b="1" i="0">
                <a:solidFill>
                  <a:srgbClr val="222222"/>
                </a:solidFill>
                <a:latin typeface="Georgia"/>
              </a:rPr>
              <a:t>Coexistence is ignored</a:t>
            </a:r>
          </a:p>
        </p:txBody>
      </p:sp>
      <p:sp>
        <p:nvSpPr>
          <p:cNvPr id="16" name="TextBox 15"/>
          <p:cNvSpPr txBox="1"/>
          <p:nvPr/>
        </p:nvSpPr>
        <p:spPr>
          <a:xfrm>
            <a:off x="749808" y="3721608"/>
            <a:ext cx="5120640" cy="77724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Few works say who owns a service, or what happens when telemetry or the controller fails.</a:t>
            </a:r>
          </a:p>
        </p:txBody>
      </p:sp>
      <p:sp>
        <p:nvSpPr>
          <p:cNvPr id="17" name="Right Arrow 16"/>
          <p:cNvSpPr/>
          <p:nvPr/>
        </p:nvSpPr>
        <p:spPr>
          <a:xfrm>
            <a:off x="6108192" y="3703320"/>
            <a:ext cx="274320" cy="365760"/>
          </a:xfrm>
          <a:prstGeom prst="rightArrow">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46520" y="3246120"/>
            <a:ext cx="5330952" cy="1280160"/>
          </a:xfrm>
          <a:prstGeom prst="roundRect">
            <a:avLst>
              <a:gd name="adj" fmla="val 6000"/>
            </a:avLst>
          </a:prstGeom>
          <a:solidFill>
            <a:srgbClr val="F7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3337560"/>
            <a:ext cx="4983480" cy="1097280"/>
          </a:xfrm>
          <a:prstGeom prst="rect">
            <a:avLst/>
          </a:prstGeom>
          <a:noFill/>
        </p:spPr>
        <p:txBody>
          <a:bodyPr wrap="square" anchor="ctr" lIns="36576" rIns="36576" tIns="36576" bIns="36576">
            <a:spAutoFit/>
          </a:bodyPr>
          <a:lstStyle/>
          <a:p>
            <a:pPr algn="l">
              <a:spcAft>
                <a:spcPts val="400"/>
              </a:spcAft>
            </a:pPr>
            <a:r>
              <a:rPr sz="1500" b="1" i="0">
                <a:solidFill>
                  <a:srgbClr val="6E0B2A"/>
                </a:solidFill>
                <a:latin typeface="Georgia"/>
              </a:rPr>
              <a:t>Per-service Auto arbitration, Lease + HPA freeze, verified fallback</a:t>
            </a:r>
          </a:p>
        </p:txBody>
      </p:sp>
      <p:sp>
        <p:nvSpPr>
          <p:cNvPr id="20" name="Rounded Rectangle 19"/>
          <p:cNvSpPr/>
          <p:nvPr/>
        </p:nvSpPr>
        <p:spPr>
          <a:xfrm>
            <a:off x="566928" y="4709160"/>
            <a:ext cx="5440680" cy="128016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800600"/>
            <a:ext cx="5120640" cy="365760"/>
          </a:xfrm>
          <a:prstGeom prst="rect">
            <a:avLst/>
          </a:prstGeom>
          <a:noFill/>
        </p:spPr>
        <p:txBody>
          <a:bodyPr wrap="square" anchor="t" lIns="36576" rIns="36576" tIns="36576" bIns="36576">
            <a:spAutoFit/>
          </a:bodyPr>
          <a:lstStyle/>
          <a:p>
            <a:pPr algn="l">
              <a:spcAft>
                <a:spcPts val="400"/>
              </a:spcAft>
            </a:pPr>
            <a:r>
              <a:rPr sz="1600" b="1" i="0">
                <a:solidFill>
                  <a:srgbClr val="222222"/>
                </a:solidFill>
                <a:latin typeface="Georgia"/>
              </a:rPr>
              <a:t>Graph benefit is assumed</a:t>
            </a:r>
          </a:p>
        </p:txBody>
      </p:sp>
      <p:sp>
        <p:nvSpPr>
          <p:cNvPr id="22" name="TextBox 21"/>
          <p:cNvSpPr txBox="1"/>
          <p:nvPr/>
        </p:nvSpPr>
        <p:spPr>
          <a:xfrm>
            <a:off x="749808" y="5184648"/>
            <a:ext cx="5120640" cy="77724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Dependencies are used in many ways, but their benefit is rarely isolated.</a:t>
            </a:r>
          </a:p>
        </p:txBody>
      </p:sp>
      <p:sp>
        <p:nvSpPr>
          <p:cNvPr id="23" name="Right Arrow 22"/>
          <p:cNvSpPr/>
          <p:nvPr/>
        </p:nvSpPr>
        <p:spPr>
          <a:xfrm>
            <a:off x="6108192" y="5166360"/>
            <a:ext cx="274320" cy="365760"/>
          </a:xfrm>
          <a:prstGeom prst="rightArrow">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46520" y="4709160"/>
            <a:ext cx="5330952" cy="1280160"/>
          </a:xfrm>
          <a:prstGeom prst="roundRect">
            <a:avLst>
              <a:gd name="adj" fmla="val 6000"/>
            </a:avLst>
          </a:prstGeom>
          <a:solidFill>
            <a:srgbClr val="F7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4800600"/>
            <a:ext cx="4983480" cy="1097280"/>
          </a:xfrm>
          <a:prstGeom prst="rect">
            <a:avLst/>
          </a:prstGeom>
          <a:noFill/>
        </p:spPr>
        <p:txBody>
          <a:bodyPr wrap="square" anchor="ctr" lIns="36576" rIns="36576" tIns="36576" bIns="36576">
            <a:spAutoFit/>
          </a:bodyPr>
          <a:lstStyle/>
          <a:p>
            <a:pPr algn="l">
              <a:spcAft>
                <a:spcPts val="400"/>
              </a:spcAft>
            </a:pPr>
            <a:r>
              <a:rPr sz="1500" b="1" i="0">
                <a:solidFill>
                  <a:srgbClr val="6E0B2A"/>
                </a:solidFill>
                <a:latin typeface="Georgia"/>
              </a:rPr>
              <a:t>Graph vs no-graph ablation on three held-out test sets</a:t>
            </a:r>
          </a:p>
        </p:txBody>
      </p:sp>
    </p:spTree>
    <p:extLst>
      <p:ext uri="{BB962C8B-B14F-4D97-AF65-F5344CB8AC3E}">
        <p14:creationId xmlns:p14="http://schemas.microsoft.com/office/powerpoint/2010/main" val="1351316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8260AE-BF8E-7474-399B-2567246C206F}"/>
              </a:ext>
            </a:extLst>
          </p:cNvPr>
          <p:cNvSpPr>
            <a:spLocks noGrp="1"/>
          </p:cNvSpPr>
          <p:nvPr>
            <p:ph type="title"/>
          </p:nvPr>
        </p:nvSpPr>
        <p:spPr>
          <a:xfrm>
            <a:off x="566928" y="347472"/>
            <a:ext cx="11210544" cy="466344"/>
          </a:xfrm>
        </p:spPr>
        <p:txBody>
          <a:bodyPr/>
          <a:lstStyle/>
          <a:p>
            <a:r>
              <a:rPr lang="en-IN" dirty="0"/>
              <a:t>Datasets, Platforms, and Implementation Tools</a:t>
            </a:r>
          </a:p>
        </p:txBody>
      </p:sp>
      <p:sp>
        <p:nvSpPr>
          <p:cNvPr id="4" name="Slide Number Placeholder 3">
            <a:extLst>
              <a:ext uri="{FF2B5EF4-FFF2-40B4-BE49-F238E27FC236}">
                <a16:creationId xmlns:a16="http://schemas.microsoft.com/office/drawing/2014/main" id="{78F4BFA5-43C0-8D1F-D8B9-ED3FD7F323D7}"/>
              </a:ext>
            </a:extLst>
          </p:cNvPr>
          <p:cNvSpPr>
            <a:spLocks noGrp="1"/>
          </p:cNvSpPr>
          <p:nvPr>
            <p:ph type="sldNum" sz="quarter" idx="12"/>
          </p:nvPr>
        </p:nvSpPr>
        <p:spPr/>
        <p:txBody>
          <a:bodyPr/>
          <a:lstStyle/>
          <a:p>
            <a:fld id="{330EA680-D336-4FF7-8B7A-9848BB0A1C32}" type="slidenum">
              <a:rPr lang="en-US" smtClean="0"/>
              <a:pPr/>
              <a:t>8</a:t>
            </a:fld>
            <a:endParaRPr lang="en-US"/>
          </a:p>
        </p:txBody>
      </p:sp>
      <p:graphicFrame>
        <p:nvGraphicFramePr>
          <p:cNvPr id="5" name="Table 4"/>
          <p:cNvGraphicFramePr>
            <a:graphicFrameLocks noGrp="1"/>
          </p:cNvGraphicFramePr>
          <p:nvPr/>
        </p:nvGraphicFramePr>
        <p:xfrm>
          <a:off x="566928" y="1188720"/>
          <a:ext cx="11210544" cy="4937760"/>
        </p:xfrm>
        <a:graphic>
          <a:graphicData uri="http://schemas.openxmlformats.org/drawingml/2006/table">
            <a:tbl>
              <a:tblPr firstRow="0" bandRow="0">
                <a:tableStyleId>{5C22544A-7EE6-4342-B048-85BDC9FD1C3A}</a:tableStyleId>
              </a:tblPr>
              <a:tblGrid>
                <a:gridCol w="1965960"/>
                <a:gridCol w="6035040"/>
                <a:gridCol w="3209544"/>
              </a:tblGrid>
              <a:tr h="548640">
                <a:tc>
                  <a:txBody>
                    <a:bodyPr wrap="square"/>
                    <a:lstStyle/>
                    <a:p>
                      <a:r>
                        <a:rPr sz="1300" b="1" i="0">
                          <a:solidFill>
                            <a:srgbClr val="FFFFFF"/>
                          </a:solidFill>
                          <a:latin typeface="Georgia"/>
                        </a:rPr>
                        <a:t>Category</a:t>
                      </a:r>
                    </a:p>
                  </a:txBody>
                  <a:tcPr marL="54864" marR="54864" marT="27432" marB="27432" anchor="ctr">
                    <a:solidFill>
                      <a:srgbClr val="A4123F"/>
                    </a:solidFill>
                  </a:tcPr>
                </a:tc>
                <a:tc>
                  <a:txBody>
                    <a:bodyPr wrap="square"/>
                    <a:lstStyle/>
                    <a:p>
                      <a:r>
                        <a:rPr sz="1300" b="1" i="0">
                          <a:solidFill>
                            <a:srgbClr val="FFFFFF"/>
                          </a:solidFill>
                          <a:latin typeface="Georgia"/>
                        </a:rPr>
                        <a:t>Used in FlexaScale</a:t>
                      </a:r>
                    </a:p>
                  </a:txBody>
                  <a:tcPr marL="54864" marR="54864" marT="27432" marB="27432" anchor="ctr">
                    <a:solidFill>
                      <a:srgbClr val="A4123F"/>
                    </a:solidFill>
                  </a:tcPr>
                </a:tc>
                <a:tc>
                  <a:txBody>
                    <a:bodyPr wrap="square"/>
                    <a:lstStyle/>
                    <a:p>
                      <a:r>
                        <a:rPr sz="1300" b="1" i="0">
                          <a:solidFill>
                            <a:srgbClr val="FFFFFF"/>
                          </a:solidFill>
                          <a:latin typeface="Georgia"/>
                        </a:rPr>
                        <a:t>Purpose</a:t>
                      </a:r>
                    </a:p>
                  </a:txBody>
                  <a:tcPr marL="54864" marR="54864" marT="27432" marB="27432" anchor="ctr">
                    <a:solidFill>
                      <a:srgbClr val="A4123F"/>
                    </a:solidFill>
                  </a:tcPr>
                </a:tc>
              </a:tr>
              <a:tr h="548640">
                <a:tc>
                  <a:txBody>
                    <a:bodyPr wrap="square"/>
                    <a:lstStyle/>
                    <a:p>
                      <a:r>
                        <a:rPr sz="1300" b="1" i="0">
                          <a:solidFill>
                            <a:srgbClr val="222222"/>
                          </a:solidFill>
                          <a:latin typeface="Georgia"/>
                        </a:rPr>
                        <a:t>Dataset</a:t>
                      </a:r>
                    </a:p>
                  </a:txBody>
                  <a:tcPr marL="54864" marR="54864" marT="27432" marB="27432" anchor="ctr">
                    <a:solidFill>
                      <a:srgbClr val="FFFFFF"/>
                    </a:solidFill>
                  </a:tcPr>
                </a:tc>
                <a:tc>
                  <a:txBody>
                    <a:bodyPr wrap="square"/>
                    <a:lstStyle/>
                    <a:p>
                      <a:r>
                        <a:rPr sz="1300" b="0" i="0">
                          <a:solidFill>
                            <a:srgbClr val="222222"/>
                          </a:solidFill>
                          <a:latin typeface="Georgia"/>
                        </a:rPr>
                        <a:t>Alibaba microservice trace v2021 (7.4 GB raw → 36,355 rows, split by service); calibration runs; 289+ live runs</a:t>
                      </a:r>
                    </a:p>
                  </a:txBody>
                  <a:tcPr marL="54864" marR="54864" marT="27432" marB="27432" anchor="ctr">
                    <a:solidFill>
                      <a:srgbClr val="FFFFFF"/>
                    </a:solidFill>
                  </a:tcPr>
                </a:tc>
                <a:tc>
                  <a:txBody>
                    <a:bodyPr wrap="square"/>
                    <a:lstStyle/>
                    <a:p>
                      <a:r>
                        <a:rPr sz="1300" b="0" i="0">
                          <a:solidFill>
                            <a:srgbClr val="222222"/>
                          </a:solidFill>
                          <a:latin typeface="Georgia"/>
                        </a:rPr>
                        <a:t>Train v1-v6; fit the twin; evaluate</a:t>
                      </a:r>
                    </a:p>
                  </a:txBody>
                  <a:tcPr marL="54864" marR="54864" marT="27432" marB="27432" anchor="ctr">
                    <a:solidFill>
                      <a:srgbClr val="FFFFFF"/>
                    </a:solidFill>
                  </a:tcPr>
                </a:tc>
              </a:tr>
              <a:tr h="548640">
                <a:tc>
                  <a:txBody>
                    <a:bodyPr wrap="square"/>
                    <a:lstStyle/>
                    <a:p>
                      <a:r>
                        <a:rPr sz="1300" b="1" i="0">
                          <a:solidFill>
                            <a:srgbClr val="222222"/>
                          </a:solidFill>
                          <a:latin typeface="Georgia"/>
                        </a:rPr>
                        <a:t>Platform</a:t>
                      </a:r>
                    </a:p>
                  </a:txBody>
                  <a:tcPr marL="54864" marR="54864" marT="27432" marB="27432" anchor="ctr">
                    <a:solidFill>
                      <a:srgbClr val="FBF1F4"/>
                    </a:solidFill>
                  </a:tcPr>
                </a:tc>
                <a:tc>
                  <a:txBody>
                    <a:bodyPr wrap="square"/>
                    <a:lstStyle/>
                    <a:p>
                      <a:r>
                        <a:rPr sz="1300" b="0" i="0">
                          <a:solidFill>
                            <a:srgbClr val="222222"/>
                          </a:solidFill>
                          <a:latin typeface="Georgia"/>
                        </a:rPr>
                        <a:t>Kubernetes v1.31 on single-node Minikube (Docker driver)</a:t>
                      </a:r>
                    </a:p>
                  </a:txBody>
                  <a:tcPr marL="54864" marR="54864" marT="27432" marB="27432" anchor="ctr">
                    <a:solidFill>
                      <a:srgbClr val="FBF1F4"/>
                    </a:solidFill>
                  </a:tcPr>
                </a:tc>
                <a:tc>
                  <a:txBody>
                    <a:bodyPr wrap="square"/>
                    <a:lstStyle/>
                    <a:p>
                      <a:r>
                        <a:rPr sz="1300" b="0" i="0">
                          <a:solidFill>
                            <a:srgbClr val="222222"/>
                          </a:solidFill>
                          <a:latin typeface="Georgia"/>
                        </a:rPr>
                        <a:t>System under control</a:t>
                      </a:r>
                    </a:p>
                  </a:txBody>
                  <a:tcPr marL="54864" marR="54864" marT="27432" marB="27432" anchor="ctr">
                    <a:solidFill>
                      <a:srgbClr val="FBF1F4"/>
                    </a:solidFill>
                  </a:tcPr>
                </a:tc>
              </a:tr>
              <a:tr h="548640">
                <a:tc>
                  <a:txBody>
                    <a:bodyPr wrap="square"/>
                    <a:lstStyle/>
                    <a:p>
                      <a:r>
                        <a:rPr sz="1300" b="1" i="0">
                          <a:solidFill>
                            <a:srgbClr val="222222"/>
                          </a:solidFill>
                          <a:latin typeface="Georgia"/>
                        </a:rPr>
                        <a:t>Hardware</a:t>
                      </a:r>
                    </a:p>
                  </a:txBody>
                  <a:tcPr marL="54864" marR="54864" marT="27432" marB="27432" anchor="ctr">
                    <a:solidFill>
                      <a:srgbClr val="FFFFFF"/>
                    </a:solidFill>
                  </a:tcPr>
                </a:tc>
                <a:tc>
                  <a:txBody>
                    <a:bodyPr wrap="square"/>
                    <a:lstStyle/>
                    <a:p>
                      <a:r>
                        <a:rPr sz="1300" b="0" i="0">
                          <a:solidFill>
                            <a:srgbClr val="222222"/>
                          </a:solidFill>
                          <a:latin typeface="Georgia"/>
                        </a:rPr>
                        <a:t>Laptop 1: Intel i5-1340P, 16 GB, Fedora 43 · Laptop 2: Ryzen 7 6800H, RTX 3050 4 GB, Windows 11</a:t>
                      </a:r>
                    </a:p>
                  </a:txBody>
                  <a:tcPr marL="54864" marR="54864" marT="27432" marB="27432" anchor="ctr">
                    <a:solidFill>
                      <a:srgbClr val="FFFFFF"/>
                    </a:solidFill>
                  </a:tcPr>
                </a:tc>
                <a:tc>
                  <a:txBody>
                    <a:bodyPr wrap="square"/>
                    <a:lstStyle/>
                    <a:p>
                      <a:r>
                        <a:rPr sz="1300" b="0" i="0">
                          <a:solidFill>
                            <a:srgbClr val="222222"/>
                          </a:solidFill>
                          <a:latin typeface="Georgia"/>
                        </a:rPr>
                        <a:t>Development, verification · GPU training, v9 evaluation</a:t>
                      </a:r>
                    </a:p>
                  </a:txBody>
                  <a:tcPr marL="54864" marR="54864" marT="27432" marB="27432" anchor="ctr">
                    <a:solidFill>
                      <a:srgbClr val="FFFFFF"/>
                    </a:solidFill>
                  </a:tcPr>
                </a:tc>
              </a:tr>
              <a:tr h="548640">
                <a:tc>
                  <a:txBody>
                    <a:bodyPr wrap="square"/>
                    <a:lstStyle/>
                    <a:p>
                      <a:r>
                        <a:rPr sz="1300" b="1" i="0">
                          <a:solidFill>
                            <a:srgbClr val="222222"/>
                          </a:solidFill>
                          <a:latin typeface="Georgia"/>
                        </a:rPr>
                        <a:t>Learning</a:t>
                      </a:r>
                    </a:p>
                  </a:txBody>
                  <a:tcPr marL="54864" marR="54864" marT="27432" marB="27432" anchor="ctr">
                    <a:solidFill>
                      <a:srgbClr val="FBF1F4"/>
                    </a:solidFill>
                  </a:tcPr>
                </a:tc>
                <a:tc>
                  <a:txBody>
                    <a:bodyPr wrap="square"/>
                    <a:lstStyle/>
                    <a:p>
                      <a:r>
                        <a:rPr sz="1300" b="0" i="0">
                          <a:solidFill>
                            <a:srgbClr val="222222"/>
                          </a:solidFill>
                          <a:latin typeface="Georgia"/>
                        </a:rPr>
                        <a:t>PyTorch 2.13, Stable-Baselines3 2.9 (PPO), Gymnasium 1.3</a:t>
                      </a:r>
                    </a:p>
                  </a:txBody>
                  <a:tcPr marL="54864" marR="54864" marT="27432" marB="27432" anchor="ctr">
                    <a:solidFill>
                      <a:srgbClr val="FBF1F4"/>
                    </a:solidFill>
                  </a:tcPr>
                </a:tc>
                <a:tc>
                  <a:txBody>
                    <a:bodyPr wrap="square"/>
                    <a:lstStyle/>
                    <a:p>
                      <a:r>
                        <a:rPr sz="1300" b="0" i="0">
                          <a:solidFill>
                            <a:srgbClr val="222222"/>
                          </a:solidFill>
                          <a:latin typeface="Georgia"/>
                        </a:rPr>
                        <a:t>GNN + PPO policy, simulators</a:t>
                      </a:r>
                    </a:p>
                  </a:txBody>
                  <a:tcPr marL="54864" marR="54864" marT="27432" marB="27432" anchor="ctr">
                    <a:solidFill>
                      <a:srgbClr val="FBF1F4"/>
                    </a:solidFill>
                  </a:tcPr>
                </a:tc>
              </a:tr>
              <a:tr h="548640">
                <a:tc>
                  <a:txBody>
                    <a:bodyPr wrap="square"/>
                    <a:lstStyle/>
                    <a:p>
                      <a:r>
                        <a:rPr sz="1300" b="1" i="0">
                          <a:solidFill>
                            <a:srgbClr val="222222"/>
                          </a:solidFill>
                          <a:latin typeface="Georgia"/>
                        </a:rPr>
                        <a:t>Monitoring</a:t>
                      </a:r>
                    </a:p>
                  </a:txBody>
                  <a:tcPr marL="54864" marR="54864" marT="27432" marB="27432" anchor="ctr">
                    <a:solidFill>
                      <a:srgbClr val="FFFFFF"/>
                    </a:solidFill>
                  </a:tcPr>
                </a:tc>
                <a:tc>
                  <a:txBody>
                    <a:bodyPr wrap="square"/>
                    <a:lstStyle/>
                    <a:p>
                      <a:r>
                        <a:rPr sz="1300" b="0" i="0">
                          <a:solidFill>
                            <a:srgbClr val="222222"/>
                          </a:solidFill>
                          <a:latin typeface="Georgia"/>
                        </a:rPr>
                        <a:t>Prometheus + Grafana (kube-prometheus-stack 92.11), cAdvisor</a:t>
                      </a:r>
                    </a:p>
                  </a:txBody>
                  <a:tcPr marL="54864" marR="54864" marT="27432" marB="27432" anchor="ctr">
                    <a:solidFill>
                      <a:srgbClr val="FFFFFF"/>
                    </a:solidFill>
                  </a:tcPr>
                </a:tc>
                <a:tc>
                  <a:txBody>
                    <a:bodyPr wrap="square"/>
                    <a:lstStyle/>
                    <a:p>
                      <a:r>
                        <a:rPr sz="1300" b="0" i="0">
                          <a:solidFill>
                            <a:srgbClr val="222222"/>
                          </a:solidFill>
                          <a:latin typeface="Georgia"/>
                        </a:rPr>
                        <a:t>CPU, memory, request and latency metrics</a:t>
                      </a:r>
                    </a:p>
                  </a:txBody>
                  <a:tcPr marL="54864" marR="54864" marT="27432" marB="27432" anchor="ctr">
                    <a:solidFill>
                      <a:srgbClr val="FFFFFF"/>
                    </a:solidFill>
                  </a:tcPr>
                </a:tc>
              </a:tr>
              <a:tr h="548640">
                <a:tc>
                  <a:txBody>
                    <a:bodyPr wrap="square"/>
                    <a:lstStyle/>
                    <a:p>
                      <a:r>
                        <a:rPr sz="1300" b="1" i="0">
                          <a:solidFill>
                            <a:srgbClr val="222222"/>
                          </a:solidFill>
                          <a:latin typeface="Georgia"/>
                        </a:rPr>
                        <a:t>Application &amp; load</a:t>
                      </a:r>
                    </a:p>
                  </a:txBody>
                  <a:tcPr marL="54864" marR="54864" marT="27432" marB="27432" anchor="ctr">
                    <a:solidFill>
                      <a:srgbClr val="FBF1F4"/>
                    </a:solidFill>
                  </a:tcPr>
                </a:tc>
                <a:tc>
                  <a:txBody>
                    <a:bodyPr wrap="square"/>
                    <a:lstStyle/>
                    <a:p>
                      <a:r>
                        <a:rPr sz="1300" b="0" i="0">
                          <a:solidFill>
                            <a:srgbClr val="222222"/>
                          </a:solidFill>
                          <a:latin typeface="Georgia"/>
                        </a:rPr>
                        <a:t>16 FastAPI microservices, PostgreSQL 16, React frontend; Locust 2.46</a:t>
                      </a:r>
                    </a:p>
                  </a:txBody>
                  <a:tcPr marL="54864" marR="54864" marT="27432" marB="27432" anchor="ctr">
                    <a:solidFill>
                      <a:srgbClr val="FBF1F4"/>
                    </a:solidFill>
                  </a:tcPr>
                </a:tc>
                <a:tc>
                  <a:txBody>
                    <a:bodyPr wrap="square"/>
                    <a:lstStyle/>
                    <a:p>
                      <a:r>
                        <a:rPr sz="1300" b="0" i="0">
                          <a:solidFill>
                            <a:srgbClr val="222222"/>
                          </a:solidFill>
                          <a:latin typeface="Georgia"/>
                        </a:rPr>
                        <a:t>Test application and workloads</a:t>
                      </a:r>
                    </a:p>
                  </a:txBody>
                  <a:tcPr marL="54864" marR="54864" marT="27432" marB="27432" anchor="ctr">
                    <a:solidFill>
                      <a:srgbClr val="FBF1F4"/>
                    </a:solidFill>
                  </a:tcPr>
                </a:tc>
              </a:tr>
              <a:tr h="548640">
                <a:tc>
                  <a:txBody>
                    <a:bodyPr wrap="square"/>
                    <a:lstStyle/>
                    <a:p>
                      <a:r>
                        <a:rPr sz="1300" b="1" i="0">
                          <a:solidFill>
                            <a:srgbClr val="222222"/>
                          </a:solidFill>
                          <a:latin typeface="Georgia"/>
                        </a:rPr>
                        <a:t>Control center</a:t>
                      </a:r>
                    </a:p>
                  </a:txBody>
                  <a:tcPr marL="54864" marR="54864" marT="27432" marB="27432" anchor="ctr">
                    <a:solidFill>
                      <a:srgbClr val="FFFFFF"/>
                    </a:solidFill>
                  </a:tcPr>
                </a:tc>
                <a:tc>
                  <a:txBody>
                    <a:bodyPr wrap="square"/>
                    <a:lstStyle/>
                    <a:p>
                      <a:r>
                        <a:rPr sz="1300" b="0" i="0">
                          <a:solidFill>
                            <a:srgbClr val="222222"/>
                          </a:solidFill>
                          <a:latin typeface="Georgia"/>
                        </a:rPr>
                        <a:t>FastAPI lab server; React 18, TypeScript, Vite, Tailwind</a:t>
                      </a:r>
                    </a:p>
                  </a:txBody>
                  <a:tcPr marL="54864" marR="54864" marT="27432" marB="27432" anchor="ctr">
                    <a:solidFill>
                      <a:srgbClr val="FFFFFF"/>
                    </a:solidFill>
                  </a:tcPr>
                </a:tc>
                <a:tc>
                  <a:txBody>
                    <a:bodyPr wrap="square"/>
                    <a:lstStyle/>
                    <a:p>
                      <a:r>
                        <a:rPr sz="1300" b="0" i="0">
                          <a:solidFill>
                            <a:srgbClr val="222222"/>
                          </a:solidFill>
                          <a:latin typeface="Georgia"/>
                        </a:rPr>
                        <a:t>Dashboard and experiment API</a:t>
                      </a:r>
                    </a:p>
                  </a:txBody>
                  <a:tcPr marL="54864" marR="54864" marT="27432" marB="27432" anchor="ctr">
                    <a:solidFill>
                      <a:srgbClr val="FFFFFF"/>
                    </a:solidFill>
                  </a:tcPr>
                </a:tc>
              </a:tr>
              <a:tr h="548640">
                <a:tc>
                  <a:txBody>
                    <a:bodyPr wrap="square"/>
                    <a:lstStyle/>
                    <a:p>
                      <a:r>
                        <a:rPr sz="1300" b="1" i="0">
                          <a:solidFill>
                            <a:srgbClr val="222222"/>
                          </a:solidFill>
                          <a:latin typeface="Georgia"/>
                        </a:rPr>
                        <a:t>Packaging &amp; testing</a:t>
                      </a:r>
                    </a:p>
                  </a:txBody>
                  <a:tcPr marL="54864" marR="54864" marT="27432" marB="27432" anchor="ctr">
                    <a:solidFill>
                      <a:srgbClr val="FBF1F4"/>
                    </a:solidFill>
                  </a:tcPr>
                </a:tc>
                <a:tc>
                  <a:txBody>
                    <a:bodyPr wrap="square"/>
                    <a:lstStyle/>
                    <a:p>
                      <a:r>
                        <a:rPr sz="1300" b="0" i="0">
                          <a:solidFill>
                            <a:srgbClr val="222222"/>
                          </a:solidFill>
                          <a:latin typeface="Georgia"/>
                        </a:rPr>
                        <a:t>Helm chart 0.5.1, operator image 0.6.0; pytest (373 tests)</a:t>
                      </a:r>
                    </a:p>
                  </a:txBody>
                  <a:tcPr marL="54864" marR="54864" marT="27432" marB="27432" anchor="ctr">
                    <a:solidFill>
                      <a:srgbClr val="FBF1F4"/>
                    </a:solidFill>
                  </a:tcPr>
                </a:tc>
                <a:tc>
                  <a:txBody>
                    <a:bodyPr wrap="square"/>
                    <a:lstStyle/>
                    <a:p>
                      <a:r>
                        <a:rPr sz="1300" b="0" i="0">
                          <a:solidFill>
                            <a:srgbClr val="222222"/>
                          </a:solidFill>
                          <a:latin typeface="Georgia"/>
                        </a:rPr>
                        <a:t>Installation; verification</a:t>
                      </a:r>
                    </a:p>
                  </a:txBody>
                  <a:tcPr marL="54864" marR="54864" marT="27432" marB="27432" anchor="ctr">
                    <a:solidFill>
                      <a:srgbClr val="FBF1F4"/>
                    </a:solidFill>
                  </a:tcPr>
                </a:tc>
              </a:tr>
            </a:tbl>
          </a:graphicData>
        </a:graphic>
      </p:graphicFrame>
    </p:spTree>
    <p:extLst>
      <p:ext uri="{BB962C8B-B14F-4D97-AF65-F5344CB8AC3E}">
        <p14:creationId xmlns:p14="http://schemas.microsoft.com/office/powerpoint/2010/main" val="91648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8678CB-C5C5-BE8F-8CA5-690E8466B05B}"/>
              </a:ext>
            </a:extLst>
          </p:cNvPr>
          <p:cNvSpPr>
            <a:spLocks noGrp="1"/>
          </p:cNvSpPr>
          <p:nvPr>
            <p:ph type="title"/>
          </p:nvPr>
        </p:nvSpPr>
        <p:spPr>
          <a:xfrm>
            <a:off x="566928" y="347472"/>
            <a:ext cx="11210544" cy="466344"/>
          </a:xfrm>
        </p:spPr>
        <p:txBody>
          <a:bodyPr/>
          <a:lstStyle/>
          <a:p>
            <a:r>
              <a:rPr lang="en-IN" dirty="0"/>
              <a:t>Proposed Methodology</a:t>
            </a:r>
          </a:p>
        </p:txBody>
      </p:sp>
      <p:sp>
        <p:nvSpPr>
          <p:cNvPr id="4" name="Slide Number Placeholder 3">
            <a:extLst>
              <a:ext uri="{FF2B5EF4-FFF2-40B4-BE49-F238E27FC236}">
                <a16:creationId xmlns:a16="http://schemas.microsoft.com/office/drawing/2014/main" id="{EDC54E39-B1CC-4003-BC5C-15F05FCC6A5A}"/>
              </a:ext>
            </a:extLst>
          </p:cNvPr>
          <p:cNvSpPr>
            <a:spLocks noGrp="1"/>
          </p:cNvSpPr>
          <p:nvPr>
            <p:ph type="sldNum" sz="quarter" idx="12"/>
          </p:nvPr>
        </p:nvSpPr>
        <p:spPr/>
        <p:txBody>
          <a:bodyPr/>
          <a:lstStyle/>
          <a:p>
            <a:fld id="{330EA680-D336-4FF7-8B7A-9848BB0A1C32}" type="slidenum">
              <a:rPr lang="en-US" smtClean="0"/>
              <a:pPr/>
              <a:t>9</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Architecture: an add-on that controls the application from outside</a:t>
            </a:r>
          </a:p>
        </p:txBody>
      </p:sp>
      <p:pic>
        <p:nvPicPr>
          <p:cNvPr id="6" name="Picture 5" descr="fig_architecture.png"/>
          <p:cNvPicPr>
            <a:picLocks noChangeAspect="1"/>
          </p:cNvPicPr>
          <p:nvPr/>
        </p:nvPicPr>
        <p:blipFill>
          <a:blip r:embed="rId2"/>
          <a:stretch>
            <a:fillRect/>
          </a:stretch>
        </p:blipFill>
        <p:spPr>
          <a:xfrm>
            <a:off x="566928" y="1280160"/>
            <a:ext cx="7432957" cy="4892040"/>
          </a:xfrm>
          <a:prstGeom prst="rect">
            <a:avLst/>
          </a:prstGeom>
        </p:spPr>
      </p:pic>
      <p:sp>
        <p:nvSpPr>
          <p:cNvPr id="7" name="TextBox 6"/>
          <p:cNvSpPr txBox="1"/>
          <p:nvPr/>
        </p:nvSpPr>
        <p:spPr>
          <a:xfrm>
            <a:off x="8275320" y="1280160"/>
            <a:ext cx="347472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Novelty</a:t>
            </a:r>
          </a:p>
        </p:txBody>
      </p:sp>
      <p:sp>
        <p:nvSpPr>
          <p:cNvPr id="8" name="Rounded Rectangle 7"/>
          <p:cNvSpPr/>
          <p:nvPr/>
        </p:nvSpPr>
        <p:spPr>
          <a:xfrm>
            <a:off x="8275320" y="1737360"/>
            <a:ext cx="3502152" cy="9601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792224"/>
            <a:ext cx="3291840" cy="320040"/>
          </a:xfrm>
          <a:prstGeom prst="rect">
            <a:avLst/>
          </a:prstGeom>
          <a:noFill/>
        </p:spPr>
        <p:txBody>
          <a:bodyPr wrap="square" anchor="t" lIns="36576" rIns="36576" tIns="36576" bIns="36576">
            <a:spAutoFit/>
          </a:bodyPr>
          <a:lstStyle/>
          <a:p>
            <a:pPr algn="l">
              <a:spcAft>
                <a:spcPts val="400"/>
              </a:spcAft>
            </a:pPr>
            <a:r>
              <a:rPr sz="1400" b="1" i="0">
                <a:solidFill>
                  <a:srgbClr val="6E0B2A"/>
                </a:solidFill>
                <a:latin typeface="Georgia"/>
              </a:rPr>
              <a:t>Graph policy</a:t>
            </a:r>
          </a:p>
        </p:txBody>
      </p:sp>
      <p:sp>
        <p:nvSpPr>
          <p:cNvPr id="10" name="TextBox 9"/>
          <p:cNvSpPr txBox="1"/>
          <p:nvPr/>
        </p:nvSpPr>
        <p:spPr>
          <a:xfrm>
            <a:off x="8412480" y="2121408"/>
            <a:ext cx="3291840" cy="566928"/>
          </a:xfrm>
          <a:prstGeom prst="rect">
            <a:avLst/>
          </a:prstGeom>
          <a:noFill/>
        </p:spPr>
        <p:txBody>
          <a:bodyPr wrap="square" anchor="t" lIns="36576" rIns="36576" tIns="36576" bIns="36576">
            <a:spAutoFit/>
          </a:bodyPr>
          <a:lstStyle/>
          <a:p>
            <a:pPr algn="l">
              <a:spcAft>
                <a:spcPts val="400"/>
              </a:spcAft>
            </a:pPr>
            <a:r>
              <a:rPr sz="1200" b="0" i="0">
                <a:solidFill>
                  <a:srgbClr val="222222"/>
                </a:solidFill>
                <a:latin typeface="Georgia"/>
              </a:rPr>
              <a:t>GNN message passing over the real call graph, PPO actor</a:t>
            </a:r>
          </a:p>
        </p:txBody>
      </p:sp>
      <p:sp>
        <p:nvSpPr>
          <p:cNvPr id="11" name="Rounded Rectangle 10"/>
          <p:cNvSpPr/>
          <p:nvPr/>
        </p:nvSpPr>
        <p:spPr>
          <a:xfrm>
            <a:off x="8275320" y="2834639"/>
            <a:ext cx="3502152" cy="9601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889503"/>
            <a:ext cx="3291840" cy="320040"/>
          </a:xfrm>
          <a:prstGeom prst="rect">
            <a:avLst/>
          </a:prstGeom>
          <a:noFill/>
        </p:spPr>
        <p:txBody>
          <a:bodyPr wrap="square" anchor="t" lIns="36576" rIns="36576" tIns="36576" bIns="36576">
            <a:spAutoFit/>
          </a:bodyPr>
          <a:lstStyle/>
          <a:p>
            <a:pPr algn="l">
              <a:spcAft>
                <a:spcPts val="400"/>
              </a:spcAft>
            </a:pPr>
            <a:r>
              <a:rPr sz="1400" b="1" i="0">
                <a:solidFill>
                  <a:srgbClr val="6E0B2A"/>
                </a:solidFill>
                <a:latin typeface="Georgia"/>
              </a:rPr>
              <a:t>Auto mode</a:t>
            </a:r>
          </a:p>
        </p:txBody>
      </p:sp>
      <p:sp>
        <p:nvSpPr>
          <p:cNvPr id="13" name="TextBox 12"/>
          <p:cNvSpPr txBox="1"/>
          <p:nvPr/>
        </p:nvSpPr>
        <p:spPr>
          <a:xfrm>
            <a:off x="8412480" y="3218687"/>
            <a:ext cx="3291840" cy="566928"/>
          </a:xfrm>
          <a:prstGeom prst="rect">
            <a:avLst/>
          </a:prstGeom>
          <a:noFill/>
        </p:spPr>
        <p:txBody>
          <a:bodyPr wrap="square" anchor="t" lIns="36576" rIns="36576" tIns="36576" bIns="36576">
            <a:spAutoFit/>
          </a:bodyPr>
          <a:lstStyle/>
          <a:p>
            <a:pPr algn="l">
              <a:spcAft>
                <a:spcPts val="400"/>
              </a:spcAft>
            </a:pPr>
            <a:r>
              <a:rPr sz="1200" b="0" i="0">
                <a:solidFill>
                  <a:srgbClr val="222222"/>
                </a:solidFill>
                <a:latin typeface="Georgia"/>
              </a:rPr>
              <a:t>Per-service choice between FlexaScale and HPA, with reasons</a:t>
            </a:r>
          </a:p>
        </p:txBody>
      </p:sp>
      <p:sp>
        <p:nvSpPr>
          <p:cNvPr id="14" name="Rounded Rectangle 13"/>
          <p:cNvSpPr/>
          <p:nvPr/>
        </p:nvSpPr>
        <p:spPr>
          <a:xfrm>
            <a:off x="8275320" y="3931920"/>
            <a:ext cx="3502152" cy="9601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3986783"/>
            <a:ext cx="3291840" cy="320040"/>
          </a:xfrm>
          <a:prstGeom prst="rect">
            <a:avLst/>
          </a:prstGeom>
          <a:noFill/>
        </p:spPr>
        <p:txBody>
          <a:bodyPr wrap="square" anchor="t" lIns="36576" rIns="36576" tIns="36576" bIns="36576">
            <a:spAutoFit/>
          </a:bodyPr>
          <a:lstStyle/>
          <a:p>
            <a:pPr algn="l">
              <a:spcAft>
                <a:spcPts val="400"/>
              </a:spcAft>
            </a:pPr>
            <a:r>
              <a:rPr sz="1400" b="1" i="0">
                <a:solidFill>
                  <a:srgbClr val="6E0B2A"/>
                </a:solidFill>
                <a:latin typeface="Georgia"/>
              </a:rPr>
              <a:t>Exclusive ownership</a:t>
            </a:r>
          </a:p>
        </p:txBody>
      </p:sp>
      <p:sp>
        <p:nvSpPr>
          <p:cNvPr id="16" name="TextBox 15"/>
          <p:cNvSpPr txBox="1"/>
          <p:nvPr/>
        </p:nvSpPr>
        <p:spPr>
          <a:xfrm>
            <a:off x="8412480" y="4315968"/>
            <a:ext cx="3291840" cy="566928"/>
          </a:xfrm>
          <a:prstGeom prst="rect">
            <a:avLst/>
          </a:prstGeom>
          <a:noFill/>
        </p:spPr>
        <p:txBody>
          <a:bodyPr wrap="square" anchor="t" lIns="36576" rIns="36576" tIns="36576" bIns="36576">
            <a:spAutoFit/>
          </a:bodyPr>
          <a:lstStyle/>
          <a:p>
            <a:pPr algn="l">
              <a:spcAft>
                <a:spcPts val="400"/>
              </a:spcAft>
            </a:pPr>
            <a:r>
              <a:rPr sz="1200" b="0" i="0">
                <a:solidFill>
                  <a:srgbClr val="222222"/>
                </a:solidFill>
                <a:latin typeface="Georgia"/>
              </a:rPr>
              <a:t>Lease + HPA freeze; never two controllers on one service</a:t>
            </a:r>
          </a:p>
        </p:txBody>
      </p:sp>
      <p:sp>
        <p:nvSpPr>
          <p:cNvPr id="17" name="Rounded Rectangle 16"/>
          <p:cNvSpPr/>
          <p:nvPr/>
        </p:nvSpPr>
        <p:spPr>
          <a:xfrm>
            <a:off x="8275320" y="5029200"/>
            <a:ext cx="3502152" cy="9601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5084064"/>
            <a:ext cx="3291840" cy="320040"/>
          </a:xfrm>
          <a:prstGeom prst="rect">
            <a:avLst/>
          </a:prstGeom>
          <a:noFill/>
        </p:spPr>
        <p:txBody>
          <a:bodyPr wrap="square" anchor="t" lIns="36576" rIns="36576" tIns="36576" bIns="36576">
            <a:spAutoFit/>
          </a:bodyPr>
          <a:lstStyle/>
          <a:p>
            <a:pPr algn="l">
              <a:spcAft>
                <a:spcPts val="400"/>
              </a:spcAft>
            </a:pPr>
            <a:r>
              <a:rPr sz="1400" b="1" i="0">
                <a:solidFill>
                  <a:srgbClr val="6E0B2A"/>
                </a:solidFill>
                <a:latin typeface="Georgia"/>
              </a:rPr>
              <a:t>Verified fallback</a:t>
            </a:r>
          </a:p>
        </p:txBody>
      </p:sp>
      <p:sp>
        <p:nvSpPr>
          <p:cNvPr id="19" name="TextBox 18"/>
          <p:cNvSpPr txBox="1"/>
          <p:nvPr/>
        </p:nvSpPr>
        <p:spPr>
          <a:xfrm>
            <a:off x="8412480" y="5413248"/>
            <a:ext cx="3291840" cy="566928"/>
          </a:xfrm>
          <a:prstGeom prst="rect">
            <a:avLst/>
          </a:prstGeom>
          <a:noFill/>
        </p:spPr>
        <p:txBody>
          <a:bodyPr wrap="square" anchor="t" lIns="36576" rIns="36576" tIns="36576" bIns="36576">
            <a:spAutoFit/>
          </a:bodyPr>
          <a:lstStyle/>
          <a:p>
            <a:pPr algn="l">
              <a:spcAft>
                <a:spcPts val="400"/>
              </a:spcAft>
            </a:pPr>
            <a:r>
              <a:rPr sz="1200" b="0" i="0">
                <a:solidFill>
                  <a:srgbClr val="222222"/>
                </a:solidFill>
                <a:latin typeface="Georgia"/>
              </a:rPr>
              <a:t>Telemetry loss, crash or Lease loss → HPA</a:t>
            </a:r>
          </a:p>
        </p:txBody>
      </p:sp>
    </p:spTree>
    <p:extLst>
      <p:ext uri="{BB962C8B-B14F-4D97-AF65-F5344CB8AC3E}">
        <p14:creationId xmlns:p14="http://schemas.microsoft.com/office/powerpoint/2010/main" val="806364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8678CB-C5C5-BE8F-8CA5-690E8466B05B}"/>
              </a:ext>
            </a:extLst>
          </p:cNvPr>
          <p:cNvSpPr>
            <a:spLocks noGrp="1"/>
          </p:cNvSpPr>
          <p:nvPr>
            <p:ph type="title"/>
          </p:nvPr>
        </p:nvSpPr>
        <p:spPr>
          <a:xfrm>
            <a:off x="566928" y="347472"/>
            <a:ext cx="11210544" cy="466344"/>
          </a:xfrm>
        </p:spPr>
        <p:txBody>
          <a:bodyPr/>
          <a:lstStyle/>
          <a:p>
            <a:r>
              <a:rPr lang="en-IN" dirty="0"/>
              <a:t>Proposed Methodology</a:t>
            </a:r>
          </a:p>
        </p:txBody>
      </p:sp>
      <p:sp>
        <p:nvSpPr>
          <p:cNvPr id="4" name="Slide Number Placeholder 3">
            <a:extLst>
              <a:ext uri="{FF2B5EF4-FFF2-40B4-BE49-F238E27FC236}">
                <a16:creationId xmlns:a16="http://schemas.microsoft.com/office/drawing/2014/main" id="{EDC54E39-B1CC-4003-BC5C-15F05FCC6A5A}"/>
              </a:ext>
            </a:extLst>
          </p:cNvPr>
          <p:cNvSpPr>
            <a:spLocks noGrp="1"/>
          </p:cNvSpPr>
          <p:nvPr>
            <p:ph type="sldNum" sz="quarter" idx="12"/>
          </p:nvPr>
        </p:nvSpPr>
        <p:spPr/>
        <p:txBody>
          <a:bodyPr/>
          <a:lstStyle/>
          <a:p>
            <a:fld id="{330EA680-D336-4FF7-8B7A-9848BB0A1C32}" type="slidenum">
              <a:rPr lang="en-US" smtClean="0"/>
              <a:pPr/>
              <a:t>9</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Auto mode and the safety layer</a:t>
            </a:r>
          </a:p>
        </p:txBody>
      </p:sp>
      <p:pic>
        <p:nvPicPr>
          <p:cNvPr id="6" name="Picture 5" descr="fig_auto_rules.png"/>
          <p:cNvPicPr>
            <a:picLocks noChangeAspect="1"/>
          </p:cNvPicPr>
          <p:nvPr/>
        </p:nvPicPr>
        <p:blipFill>
          <a:blip r:embed="rId2"/>
          <a:stretch>
            <a:fillRect/>
          </a:stretch>
        </p:blipFill>
        <p:spPr>
          <a:xfrm>
            <a:off x="566928" y="1280160"/>
            <a:ext cx="8000135" cy="4846320"/>
          </a:xfrm>
          <a:prstGeom prst="rect">
            <a:avLst/>
          </a:prstGeom>
        </p:spPr>
      </p:pic>
      <p:sp>
        <p:nvSpPr>
          <p:cNvPr id="7" name="TextBox 6"/>
          <p:cNvSpPr txBox="1"/>
          <p:nvPr/>
        </p:nvSpPr>
        <p:spPr>
          <a:xfrm>
            <a:off x="8778240" y="1280160"/>
            <a:ext cx="301752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Safety guards</a:t>
            </a:r>
          </a:p>
        </p:txBody>
      </p:sp>
      <p:sp>
        <p:nvSpPr>
          <p:cNvPr id="8" name="TextBox 7"/>
          <p:cNvSpPr txBox="1"/>
          <p:nvPr/>
        </p:nvSpPr>
        <p:spPr>
          <a:xfrm>
            <a:off x="8778240" y="1737360"/>
            <a:ext cx="3017520" cy="4023360"/>
          </a:xfrm>
          <a:prstGeom prst="rect">
            <a:avLst/>
          </a:prstGeom>
          <a:noFill/>
        </p:spPr>
        <p:txBody>
          <a:bodyPr wrap="square" anchor="t" lIns="36576" rIns="36576" tIns="36576" bIns="36576">
            <a:spAutoFit/>
          </a:bodyPr>
          <a:lstStyle/>
          <a:p>
            <a:pPr algn="l">
              <a:spcAft>
                <a:spcPts val="800"/>
              </a:spcAft>
            </a:pPr>
            <a:r>
              <a:rPr sz="1400" b="1" i="0">
                <a:solidFill>
                  <a:srgbClr val="A4123F"/>
                </a:solidFill>
                <a:latin typeface="Georgia"/>
              </a:rPr>
              <a:t>•  </a:t>
            </a:r>
            <a:r>
              <a:rPr sz="1400" b="0" i="0">
                <a:solidFill>
                  <a:srgbClr val="222222"/>
                </a:solidFill>
                <a:latin typeface="Georgia"/>
              </a:rPr>
              <a:t>Replicas within 1-10</a:t>
            </a:r>
          </a:p>
          <a:p>
            <a:pPr algn="l">
              <a:spcAft>
                <a:spcPts val="800"/>
              </a:spcAft>
            </a:pPr>
            <a:r>
              <a:rPr sz="1400" b="1" i="0">
                <a:solidFill>
                  <a:srgbClr val="A4123F"/>
                </a:solidFill>
                <a:latin typeface="Georgia"/>
              </a:rPr>
              <a:t>•  </a:t>
            </a:r>
            <a:r>
              <a:rPr sz="1400" b="0" i="0">
                <a:solidFill>
                  <a:srgbClr val="222222"/>
                </a:solidFill>
                <a:latin typeface="Georgia"/>
              </a:rPr>
              <a:t>At most +3 / −1 per step</a:t>
            </a:r>
          </a:p>
          <a:p>
            <a:pPr algn="l">
              <a:spcAft>
                <a:spcPts val="800"/>
              </a:spcAft>
            </a:pPr>
            <a:r>
              <a:rPr sz="1400" b="1" i="0">
                <a:solidFill>
                  <a:srgbClr val="A4123F"/>
                </a:solidFill>
                <a:latin typeface="Georgia"/>
              </a:rPr>
              <a:t>•  </a:t>
            </a:r>
            <a:r>
              <a:rPr sz="1400" b="0" i="0">
                <a:solidFill>
                  <a:srgbClr val="222222"/>
                </a:solidFill>
                <a:latin typeface="Georgia"/>
              </a:rPr>
              <a:t>Budget: 48 replicas in total</a:t>
            </a:r>
          </a:p>
          <a:p>
            <a:pPr algn="l">
              <a:spcAft>
                <a:spcPts val="800"/>
              </a:spcAft>
            </a:pPr>
            <a:r>
              <a:rPr sz="1400" b="1" i="0">
                <a:solidFill>
                  <a:srgbClr val="A4123F"/>
                </a:solidFill>
                <a:latin typeface="Georgia"/>
              </a:rPr>
              <a:t>•  </a:t>
            </a:r>
            <a:r>
              <a:rPr sz="1400" b="0" i="0">
                <a:solidFill>
                  <a:srgbClr val="222222"/>
                </a:solidFill>
                <a:latin typeface="Georgia"/>
              </a:rPr>
              <a:t>Cooldowns 20 s up, 30 s down</a:t>
            </a:r>
          </a:p>
          <a:p>
            <a:pPr algn="l">
              <a:spcAft>
                <a:spcPts val="800"/>
              </a:spcAft>
            </a:pPr>
            <a:r>
              <a:rPr sz="1400" b="1" i="0">
                <a:solidFill>
                  <a:srgbClr val="A4123F"/>
                </a:solidFill>
                <a:latin typeface="Georgia"/>
              </a:rPr>
              <a:t>•  </a:t>
            </a:r>
            <a:r>
              <a:rPr sz="1400" b="0" i="0">
                <a:solidFill>
                  <a:srgbClr val="222222"/>
                </a:solidFill>
                <a:latin typeface="Georgia"/>
              </a:rPr>
              <a:t>No scale-up while pods start</a:t>
            </a:r>
          </a:p>
          <a:p>
            <a:pPr algn="l">
              <a:spcAft>
                <a:spcPts val="800"/>
              </a:spcAft>
            </a:pPr>
            <a:r>
              <a:rPr sz="1400" b="1" i="0">
                <a:solidFill>
                  <a:srgbClr val="A4123F"/>
                </a:solidFill>
                <a:latin typeface="Georgia"/>
              </a:rPr>
              <a:t>•  </a:t>
            </a:r>
            <a:r>
              <a:rPr sz="1400" b="0" i="0">
                <a:solidFill>
                  <a:srgbClr val="222222"/>
                </a:solidFill>
                <a:latin typeface="Georgia"/>
              </a:rPr>
              <a:t>No scale-down at CPU ≥ 400% of request</a:t>
            </a:r>
          </a:p>
          <a:p>
            <a:pPr algn="l">
              <a:spcAft>
                <a:spcPts val="800"/>
              </a:spcAft>
            </a:pPr>
            <a:r>
              <a:rPr sz="1400" b="1" i="0">
                <a:solidFill>
                  <a:srgbClr val="A4123F"/>
                </a:solidFill>
                <a:latin typeface="Georgia"/>
              </a:rPr>
              <a:t>•  </a:t>
            </a:r>
            <a:r>
              <a:rPr sz="1400" b="0" i="0">
                <a:solidFill>
                  <a:srgbClr val="222222"/>
                </a:solidFill>
                <a:latin typeface="Georgia"/>
              </a:rPr>
              <a:t>Stale telemetry → HPA</a:t>
            </a:r>
          </a:p>
        </p:txBody>
      </p:sp>
    </p:spTree>
    <p:extLst>
      <p:ext uri="{BB962C8B-B14F-4D97-AF65-F5344CB8AC3E}">
        <p14:creationId xmlns:p14="http://schemas.microsoft.com/office/powerpoint/2010/main" val="806364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2E7AB6-E2BB-CD94-1D96-075336726241}"/>
              </a:ext>
            </a:extLst>
          </p:cNvPr>
          <p:cNvSpPr>
            <a:spLocks noGrp="1"/>
          </p:cNvSpPr>
          <p:nvPr>
            <p:ph type="title"/>
          </p:nvPr>
        </p:nvSpPr>
        <p:spPr>
          <a:xfrm>
            <a:off x="566928" y="347472"/>
            <a:ext cx="11210544" cy="466344"/>
          </a:xfrm>
        </p:spPr>
        <p:txBody>
          <a:bodyPr/>
          <a:lstStyle/>
          <a:p>
            <a:r>
              <a:rPr lang="en-IN" dirty="0"/>
              <a:t>Proposed Approach</a:t>
            </a:r>
          </a:p>
        </p:txBody>
      </p:sp>
      <p:sp>
        <p:nvSpPr>
          <p:cNvPr id="4" name="Slide Number Placeholder 3">
            <a:extLst>
              <a:ext uri="{FF2B5EF4-FFF2-40B4-BE49-F238E27FC236}">
                <a16:creationId xmlns:a16="http://schemas.microsoft.com/office/drawing/2014/main" id="{44F1B617-330A-1E3A-E2ED-7DBD9CBD85D8}"/>
              </a:ext>
            </a:extLst>
          </p:cNvPr>
          <p:cNvSpPr>
            <a:spLocks noGrp="1"/>
          </p:cNvSpPr>
          <p:nvPr>
            <p:ph type="sldNum" sz="quarter" idx="12"/>
          </p:nvPr>
        </p:nvSpPr>
        <p:spPr/>
        <p:txBody>
          <a:bodyPr/>
          <a:lstStyle/>
          <a:p>
            <a:fld id="{330EA680-D336-4FF7-8B7A-9848BB0A1C32}" type="slidenum">
              <a:rPr lang="en-US" smtClean="0"/>
              <a:pPr/>
              <a:t>10</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Algorithm, training and testing, hyperparameters</a:t>
            </a:r>
          </a:p>
        </p:txBody>
      </p:sp>
      <p:sp>
        <p:nvSpPr>
          <p:cNvPr id="6" name="TextBox 5"/>
          <p:cNvSpPr txBox="1"/>
          <p:nvPr/>
        </p:nvSpPr>
        <p:spPr>
          <a:xfrm>
            <a:off x="566928" y="1325880"/>
            <a:ext cx="3566160" cy="365760"/>
          </a:xfrm>
          <a:prstGeom prst="rect">
            <a:avLst/>
          </a:prstGeom>
          <a:noFill/>
        </p:spPr>
        <p:txBody>
          <a:bodyPr wrap="square" anchor="t" lIns="36576" rIns="36576" tIns="36576" bIns="36576">
            <a:spAutoFit/>
          </a:bodyPr>
          <a:lstStyle/>
          <a:p>
            <a:pPr algn="l">
              <a:spcAft>
                <a:spcPts val="400"/>
              </a:spcAft>
            </a:pPr>
            <a:r>
              <a:rPr sz="1600" b="1" i="0">
                <a:solidFill>
                  <a:srgbClr val="A4123F"/>
                </a:solidFill>
                <a:latin typeface="Georgia"/>
              </a:rPr>
              <a:t>Algorithm (every 10 s)</a:t>
            </a:r>
          </a:p>
        </p:txBody>
      </p:sp>
      <p:sp>
        <p:nvSpPr>
          <p:cNvPr id="7" name="Oval 6"/>
          <p:cNvSpPr/>
          <p:nvPr/>
        </p:nvSpPr>
        <p:spPr>
          <a:xfrm>
            <a:off x="566928" y="1783080"/>
            <a:ext cx="384048" cy="384048"/>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Georgia"/>
              </a:rPr>
              <a:t>1</a:t>
            </a:r>
          </a:p>
        </p:txBody>
      </p:sp>
      <p:sp>
        <p:nvSpPr>
          <p:cNvPr id="8" name="TextBox 7"/>
          <p:cNvSpPr txBox="1"/>
          <p:nvPr/>
        </p:nvSpPr>
        <p:spPr>
          <a:xfrm>
            <a:off x="1069848" y="1764792"/>
            <a:ext cx="3108960" cy="457200"/>
          </a:xfrm>
          <a:prstGeom prst="rect">
            <a:avLst/>
          </a:prstGeom>
          <a:noFill/>
        </p:spPr>
        <p:txBody>
          <a:bodyPr wrap="square" anchor="ctr" lIns="36576" rIns="36576" tIns="36576" bIns="36576">
            <a:spAutoFit/>
          </a:bodyPr>
          <a:lstStyle/>
          <a:p>
            <a:pPr algn="l">
              <a:spcAft>
                <a:spcPts val="400"/>
              </a:spcAft>
            </a:pPr>
            <a:r>
              <a:rPr sz="1400" b="0" i="0">
                <a:solidFill>
                  <a:srgbClr val="222222"/>
                </a:solidFill>
                <a:latin typeface="Georgia"/>
              </a:rPr>
              <a:t>Discover services and HPAs</a:t>
            </a:r>
          </a:p>
        </p:txBody>
      </p:sp>
      <p:sp>
        <p:nvSpPr>
          <p:cNvPr id="9" name="Oval 8"/>
          <p:cNvSpPr/>
          <p:nvPr/>
        </p:nvSpPr>
        <p:spPr>
          <a:xfrm>
            <a:off x="566928" y="2386584"/>
            <a:ext cx="384048" cy="384048"/>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Georgia"/>
              </a:rPr>
              <a:t>2</a:t>
            </a:r>
          </a:p>
        </p:txBody>
      </p:sp>
      <p:sp>
        <p:nvSpPr>
          <p:cNvPr id="10" name="TextBox 9"/>
          <p:cNvSpPr txBox="1"/>
          <p:nvPr/>
        </p:nvSpPr>
        <p:spPr>
          <a:xfrm>
            <a:off x="1069848" y="2368296"/>
            <a:ext cx="3108960" cy="457200"/>
          </a:xfrm>
          <a:prstGeom prst="rect">
            <a:avLst/>
          </a:prstGeom>
          <a:noFill/>
        </p:spPr>
        <p:txBody>
          <a:bodyPr wrap="square" anchor="ctr" lIns="36576" rIns="36576" tIns="36576" bIns="36576">
            <a:spAutoFit/>
          </a:bodyPr>
          <a:lstStyle/>
          <a:p>
            <a:pPr algn="l">
              <a:spcAft>
                <a:spcPts val="400"/>
              </a:spcAft>
            </a:pPr>
            <a:r>
              <a:rPr sz="1400" b="0" i="0">
                <a:solidFill>
                  <a:srgbClr val="222222"/>
                </a:solidFill>
                <a:latin typeface="Georgia"/>
              </a:rPr>
              <a:t>Query Prometheus (1-min window)</a:t>
            </a:r>
          </a:p>
        </p:txBody>
      </p:sp>
      <p:sp>
        <p:nvSpPr>
          <p:cNvPr id="11" name="Oval 10"/>
          <p:cNvSpPr/>
          <p:nvPr/>
        </p:nvSpPr>
        <p:spPr>
          <a:xfrm>
            <a:off x="566928" y="2990088"/>
            <a:ext cx="384048" cy="384048"/>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Georgia"/>
              </a:rPr>
              <a:t>3</a:t>
            </a:r>
          </a:p>
        </p:txBody>
      </p:sp>
      <p:sp>
        <p:nvSpPr>
          <p:cNvPr id="12" name="TextBox 11"/>
          <p:cNvSpPr txBox="1"/>
          <p:nvPr/>
        </p:nvSpPr>
        <p:spPr>
          <a:xfrm>
            <a:off x="1069848" y="2971800"/>
            <a:ext cx="3108960" cy="457200"/>
          </a:xfrm>
          <a:prstGeom prst="rect">
            <a:avLst/>
          </a:prstGeom>
          <a:noFill/>
        </p:spPr>
        <p:txBody>
          <a:bodyPr wrap="square" anchor="ctr" lIns="36576" rIns="36576" tIns="36576" bIns="36576">
            <a:spAutoFit/>
          </a:bodyPr>
          <a:lstStyle/>
          <a:p>
            <a:pPr algn="l">
              <a:spcAft>
                <a:spcPts val="400"/>
              </a:spcAft>
            </a:pPr>
            <a:r>
              <a:rPr sz="1400" b="0" i="0">
                <a:solidFill>
                  <a:srgbClr val="222222"/>
                </a:solidFill>
                <a:latin typeface="Georgia"/>
              </a:rPr>
              <a:t>Build 10 features per service</a:t>
            </a:r>
          </a:p>
        </p:txBody>
      </p:sp>
      <p:sp>
        <p:nvSpPr>
          <p:cNvPr id="13" name="Oval 12"/>
          <p:cNvSpPr/>
          <p:nvPr/>
        </p:nvSpPr>
        <p:spPr>
          <a:xfrm>
            <a:off x="566928" y="3593591"/>
            <a:ext cx="384048" cy="384048"/>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Georgia"/>
              </a:rPr>
              <a:t>4</a:t>
            </a:r>
          </a:p>
        </p:txBody>
      </p:sp>
      <p:sp>
        <p:nvSpPr>
          <p:cNvPr id="14" name="TextBox 13"/>
          <p:cNvSpPr txBox="1"/>
          <p:nvPr/>
        </p:nvSpPr>
        <p:spPr>
          <a:xfrm>
            <a:off x="1069848" y="3575303"/>
            <a:ext cx="3108960" cy="457200"/>
          </a:xfrm>
          <a:prstGeom prst="rect">
            <a:avLst/>
          </a:prstGeom>
          <a:noFill/>
        </p:spPr>
        <p:txBody>
          <a:bodyPr wrap="square" anchor="ctr" lIns="36576" rIns="36576" tIns="36576" bIns="36576">
            <a:spAutoFit/>
          </a:bodyPr>
          <a:lstStyle/>
          <a:p>
            <a:pPr algn="l">
              <a:spcAft>
                <a:spcPts val="400"/>
              </a:spcAft>
            </a:pPr>
            <a:r>
              <a:rPr sz="1400" b="0" i="0">
                <a:solidFill>
                  <a:srgbClr val="222222"/>
                </a:solidFill>
                <a:latin typeface="Georgia"/>
              </a:rPr>
              <a:t>GNN + PPO → action −1…+3</a:t>
            </a:r>
          </a:p>
        </p:txBody>
      </p:sp>
      <p:sp>
        <p:nvSpPr>
          <p:cNvPr id="15" name="Oval 14"/>
          <p:cNvSpPr/>
          <p:nvPr/>
        </p:nvSpPr>
        <p:spPr>
          <a:xfrm>
            <a:off x="566928" y="4197096"/>
            <a:ext cx="384048" cy="384048"/>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Georgia"/>
              </a:rPr>
              <a:t>5</a:t>
            </a:r>
          </a:p>
        </p:txBody>
      </p:sp>
      <p:sp>
        <p:nvSpPr>
          <p:cNvPr id="16" name="TextBox 15"/>
          <p:cNvSpPr txBox="1"/>
          <p:nvPr/>
        </p:nvSpPr>
        <p:spPr>
          <a:xfrm>
            <a:off x="1069848" y="4178808"/>
            <a:ext cx="3108960" cy="457200"/>
          </a:xfrm>
          <a:prstGeom prst="rect">
            <a:avLst/>
          </a:prstGeom>
          <a:noFill/>
        </p:spPr>
        <p:txBody>
          <a:bodyPr wrap="square" anchor="ctr" lIns="36576" rIns="36576" tIns="36576" bIns="36576">
            <a:spAutoFit/>
          </a:bodyPr>
          <a:lstStyle/>
          <a:p>
            <a:pPr algn="l">
              <a:spcAft>
                <a:spcPts val="400"/>
              </a:spcAft>
            </a:pPr>
            <a:r>
              <a:rPr sz="1400" b="0" i="0">
                <a:solidFill>
                  <a:srgbClr val="222222"/>
                </a:solidFill>
                <a:latin typeface="Georgia"/>
              </a:rPr>
              <a:t>Auto rules choose the owner</a:t>
            </a:r>
          </a:p>
        </p:txBody>
      </p:sp>
      <p:sp>
        <p:nvSpPr>
          <p:cNvPr id="17" name="Oval 16"/>
          <p:cNvSpPr/>
          <p:nvPr/>
        </p:nvSpPr>
        <p:spPr>
          <a:xfrm>
            <a:off x="566928" y="4800600"/>
            <a:ext cx="384048" cy="384048"/>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Georgia"/>
              </a:rPr>
              <a:t>6</a:t>
            </a:r>
          </a:p>
        </p:txBody>
      </p:sp>
      <p:sp>
        <p:nvSpPr>
          <p:cNvPr id="18" name="TextBox 17"/>
          <p:cNvSpPr txBox="1"/>
          <p:nvPr/>
        </p:nvSpPr>
        <p:spPr>
          <a:xfrm>
            <a:off x="1069848" y="4782312"/>
            <a:ext cx="3108960" cy="457200"/>
          </a:xfrm>
          <a:prstGeom prst="rect">
            <a:avLst/>
          </a:prstGeom>
          <a:noFill/>
        </p:spPr>
        <p:txBody>
          <a:bodyPr wrap="square" anchor="ctr" lIns="36576" rIns="36576" tIns="36576" bIns="36576">
            <a:spAutoFit/>
          </a:bodyPr>
          <a:lstStyle/>
          <a:p>
            <a:pPr algn="l">
              <a:spcAft>
                <a:spcPts val="400"/>
              </a:spcAft>
            </a:pPr>
            <a:r>
              <a:rPr sz="1400" b="0" i="0">
                <a:solidFill>
                  <a:srgbClr val="222222"/>
                </a:solidFill>
                <a:latin typeface="Georgia"/>
              </a:rPr>
              <a:t>Guards approve or reduce</a:t>
            </a:r>
          </a:p>
        </p:txBody>
      </p:sp>
      <p:sp>
        <p:nvSpPr>
          <p:cNvPr id="19" name="Oval 18"/>
          <p:cNvSpPr/>
          <p:nvPr/>
        </p:nvSpPr>
        <p:spPr>
          <a:xfrm>
            <a:off x="566928" y="5404104"/>
            <a:ext cx="384048" cy="384048"/>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Georgia"/>
              </a:rPr>
              <a:t>7</a:t>
            </a:r>
          </a:p>
        </p:txBody>
      </p:sp>
      <p:sp>
        <p:nvSpPr>
          <p:cNvPr id="20" name="TextBox 19"/>
          <p:cNvSpPr txBox="1"/>
          <p:nvPr/>
        </p:nvSpPr>
        <p:spPr>
          <a:xfrm>
            <a:off x="1069848" y="5385816"/>
            <a:ext cx="3108960" cy="457200"/>
          </a:xfrm>
          <a:prstGeom prst="rect">
            <a:avLst/>
          </a:prstGeom>
          <a:noFill/>
        </p:spPr>
        <p:txBody>
          <a:bodyPr wrap="square" anchor="ctr" lIns="36576" rIns="36576" tIns="36576" bIns="36576">
            <a:spAutoFit/>
          </a:bodyPr>
          <a:lstStyle/>
          <a:p>
            <a:pPr algn="l">
              <a:spcAft>
                <a:spcPts val="400"/>
              </a:spcAft>
            </a:pPr>
            <a:r>
              <a:rPr sz="1400" b="0" i="0">
                <a:solidFill>
                  <a:srgbClr val="222222"/>
                </a:solidFill>
                <a:latin typeface="Georgia"/>
              </a:rPr>
              <a:t>Freeze HPA, scale, log</a:t>
            </a:r>
          </a:p>
        </p:txBody>
      </p:sp>
      <p:sp>
        <p:nvSpPr>
          <p:cNvPr id="21" name="TextBox 20"/>
          <p:cNvSpPr txBox="1"/>
          <p:nvPr/>
        </p:nvSpPr>
        <p:spPr>
          <a:xfrm>
            <a:off x="4343400" y="1325880"/>
            <a:ext cx="3566160" cy="365760"/>
          </a:xfrm>
          <a:prstGeom prst="rect">
            <a:avLst/>
          </a:prstGeom>
          <a:noFill/>
        </p:spPr>
        <p:txBody>
          <a:bodyPr wrap="square" anchor="t" lIns="36576" rIns="36576" tIns="36576" bIns="36576">
            <a:spAutoFit/>
          </a:bodyPr>
          <a:lstStyle/>
          <a:p>
            <a:pPr algn="l">
              <a:spcAft>
                <a:spcPts val="400"/>
              </a:spcAft>
            </a:pPr>
            <a:r>
              <a:rPr sz="1600" b="1" i="0">
                <a:solidFill>
                  <a:srgbClr val="A4123F"/>
                </a:solidFill>
                <a:latin typeface="Georgia"/>
              </a:rPr>
              <a:t>Training and testing</a:t>
            </a:r>
          </a:p>
        </p:txBody>
      </p:sp>
      <p:sp>
        <p:nvSpPr>
          <p:cNvPr id="22" name="Rounded Rectangle 21"/>
          <p:cNvSpPr/>
          <p:nvPr/>
        </p:nvSpPr>
        <p:spPr>
          <a:xfrm>
            <a:off x="4343400" y="1783080"/>
            <a:ext cx="3611880" cy="603504"/>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62272" y="1801368"/>
            <a:ext cx="3429000" cy="56692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Fit an application twin to live runs (p95 error 8.9%)</a:t>
            </a:r>
          </a:p>
        </p:txBody>
      </p:sp>
      <p:sp>
        <p:nvSpPr>
          <p:cNvPr id="24" name="Rounded Rectangle 23"/>
          <p:cNvSpPr/>
          <p:nvPr/>
        </p:nvSpPr>
        <p:spPr>
          <a:xfrm>
            <a:off x="4343400" y="2487168"/>
            <a:ext cx="3611880" cy="603504"/>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62272" y="2505456"/>
            <a:ext cx="3429000" cy="56692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Warm start: imitate limit_target(0.6/0.3)</a:t>
            </a:r>
          </a:p>
        </p:txBody>
      </p:sp>
      <p:sp>
        <p:nvSpPr>
          <p:cNvPr id="26" name="Rounded Rectangle 25"/>
          <p:cNvSpPr/>
          <p:nvPr/>
        </p:nvSpPr>
        <p:spPr>
          <a:xfrm>
            <a:off x="4343400" y="3191256"/>
            <a:ext cx="3611880" cy="603504"/>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62272" y="3209544"/>
            <a:ext cx="3429000" cy="56692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PPO fine-tuning: 2M steps per run, seeds 1-2</a:t>
            </a:r>
          </a:p>
        </p:txBody>
      </p:sp>
      <p:sp>
        <p:nvSpPr>
          <p:cNvPr id="28" name="Rounded Rectangle 27"/>
          <p:cNvSpPr/>
          <p:nvPr/>
        </p:nvSpPr>
        <p:spPr>
          <a:xfrm>
            <a:off x="4343400" y="3895344"/>
            <a:ext cx="3611880" cy="603504"/>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3913631"/>
            <a:ext cx="3429000" cy="56692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Select on 40 validation workloads; gate vs v7</a:t>
            </a:r>
          </a:p>
        </p:txBody>
      </p:sp>
      <p:sp>
        <p:nvSpPr>
          <p:cNvPr id="30" name="Rounded Rectangle 29"/>
          <p:cNvSpPr/>
          <p:nvPr/>
        </p:nvSpPr>
        <p:spPr>
          <a:xfrm>
            <a:off x="4343400" y="4599432"/>
            <a:ext cx="3611880" cy="603504"/>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62272" y="4617720"/>
            <a:ext cx="3429000" cy="56692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Test once on T1-T3 held-out sets</a:t>
            </a:r>
          </a:p>
        </p:txBody>
      </p:sp>
      <p:sp>
        <p:nvSpPr>
          <p:cNvPr id="32" name="Rounded Rectangle 31"/>
          <p:cNvSpPr/>
          <p:nvPr/>
        </p:nvSpPr>
        <p:spPr>
          <a:xfrm>
            <a:off x="4343400" y="5303520"/>
            <a:ext cx="3611880" cy="603504"/>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62272" y="5321807"/>
            <a:ext cx="3429000" cy="56692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Live: pre-registered paired evaluation</a:t>
            </a:r>
          </a:p>
        </p:txBody>
      </p:sp>
      <p:sp>
        <p:nvSpPr>
          <p:cNvPr id="34" name="TextBox 33"/>
          <p:cNvSpPr txBox="1"/>
          <p:nvPr/>
        </p:nvSpPr>
        <p:spPr>
          <a:xfrm>
            <a:off x="8183879" y="1325880"/>
            <a:ext cx="3566160" cy="365760"/>
          </a:xfrm>
          <a:prstGeom prst="rect">
            <a:avLst/>
          </a:prstGeom>
          <a:noFill/>
        </p:spPr>
        <p:txBody>
          <a:bodyPr wrap="square" anchor="t" lIns="36576" rIns="36576" tIns="36576" bIns="36576">
            <a:spAutoFit/>
          </a:bodyPr>
          <a:lstStyle/>
          <a:p>
            <a:pPr algn="l">
              <a:spcAft>
                <a:spcPts val="400"/>
              </a:spcAft>
            </a:pPr>
            <a:r>
              <a:rPr sz="1600" b="1" i="0">
                <a:solidFill>
                  <a:srgbClr val="A4123F"/>
                </a:solidFill>
                <a:latin typeface="Georgia"/>
              </a:rPr>
              <a:t>Hyperparameters</a:t>
            </a:r>
          </a:p>
        </p:txBody>
      </p:sp>
      <p:graphicFrame>
        <p:nvGraphicFramePr>
          <p:cNvPr id="35" name="Table 34"/>
          <p:cNvGraphicFramePr>
            <a:graphicFrameLocks noGrp="1"/>
          </p:cNvGraphicFramePr>
          <p:nvPr/>
        </p:nvGraphicFramePr>
        <p:xfrm>
          <a:off x="8183879" y="1783080"/>
          <a:ext cx="3593592" cy="4114800"/>
        </p:xfrm>
        <a:graphic>
          <a:graphicData uri="http://schemas.openxmlformats.org/drawingml/2006/table">
            <a:tbl>
              <a:tblPr firstRow="0" bandRow="0">
                <a:tableStyleId>{5C22544A-7EE6-4342-B048-85BDC9FD1C3A}</a:tableStyleId>
              </a:tblPr>
              <a:tblGrid>
                <a:gridCol w="2057400"/>
                <a:gridCol w="1536192"/>
              </a:tblGrid>
              <a:tr h="457200">
                <a:tc>
                  <a:txBody>
                    <a:bodyPr wrap="square"/>
                    <a:lstStyle/>
                    <a:p>
                      <a:r>
                        <a:rPr sz="1200" b="1" i="0">
                          <a:solidFill>
                            <a:srgbClr val="FFFFFF"/>
                          </a:solidFill>
                          <a:latin typeface="Georgia"/>
                        </a:rPr>
                        <a:t>Parameter</a:t>
                      </a:r>
                    </a:p>
                  </a:txBody>
                  <a:tcPr marL="54864" marR="54864" marT="27432" marB="27432" anchor="ctr">
                    <a:solidFill>
                      <a:srgbClr val="A4123F"/>
                    </a:solidFill>
                  </a:tcPr>
                </a:tc>
                <a:tc>
                  <a:txBody>
                    <a:bodyPr wrap="square"/>
                    <a:lstStyle/>
                    <a:p>
                      <a:r>
                        <a:rPr sz="1200" b="1" i="0">
                          <a:solidFill>
                            <a:srgbClr val="FFFFFF"/>
                          </a:solidFill>
                          <a:latin typeface="Georgia"/>
                        </a:rPr>
                        <a:t>Value</a:t>
                      </a:r>
                    </a:p>
                  </a:txBody>
                  <a:tcPr marL="54864" marR="54864" marT="27432" marB="27432" anchor="ctr">
                    <a:solidFill>
                      <a:srgbClr val="A4123F"/>
                    </a:solidFill>
                  </a:tcPr>
                </a:tc>
              </a:tr>
              <a:tr h="457200">
                <a:tc>
                  <a:txBody>
                    <a:bodyPr wrap="square"/>
                    <a:lstStyle/>
                    <a:p>
                      <a:r>
                        <a:rPr sz="1200" b="0" i="0">
                          <a:solidFill>
                            <a:srgbClr val="222222"/>
                          </a:solidFill>
                          <a:latin typeface="Georgia"/>
                        </a:rPr>
                        <a:t>Learning rate</a:t>
                      </a:r>
                    </a:p>
                  </a:txBody>
                  <a:tcPr marL="54864" marR="54864" marT="27432" marB="27432" anchor="ctr">
                    <a:solidFill>
                      <a:srgbClr val="FFFFFF"/>
                    </a:solidFill>
                  </a:tcPr>
                </a:tc>
                <a:tc>
                  <a:txBody>
                    <a:bodyPr wrap="square"/>
                    <a:lstStyle/>
                    <a:p>
                      <a:r>
                        <a:rPr sz="1200" b="0" i="0">
                          <a:solidFill>
                            <a:srgbClr val="222222"/>
                          </a:solidFill>
                          <a:latin typeface="Georgia"/>
                        </a:rPr>
                        <a:t>3e-4 → 1e-4</a:t>
                      </a:r>
                    </a:p>
                  </a:txBody>
                  <a:tcPr marL="54864" marR="54864" marT="27432" marB="27432" anchor="ctr">
                    <a:solidFill>
                      <a:srgbClr val="FFFFFF"/>
                    </a:solidFill>
                  </a:tcPr>
                </a:tc>
              </a:tr>
              <a:tr h="457200">
                <a:tc>
                  <a:txBody>
                    <a:bodyPr wrap="square"/>
                    <a:lstStyle/>
                    <a:p>
                      <a:r>
                        <a:rPr sz="1200" b="0" i="0">
                          <a:solidFill>
                            <a:srgbClr val="222222"/>
                          </a:solidFill>
                          <a:latin typeface="Georgia"/>
                        </a:rPr>
                        <a:t>Clip range</a:t>
                      </a:r>
                    </a:p>
                  </a:txBody>
                  <a:tcPr marL="54864" marR="54864" marT="27432" marB="27432" anchor="ctr">
                    <a:solidFill>
                      <a:srgbClr val="FBF1F4"/>
                    </a:solidFill>
                  </a:tcPr>
                </a:tc>
                <a:tc>
                  <a:txBody>
                    <a:bodyPr wrap="square"/>
                    <a:lstStyle/>
                    <a:p>
                      <a:r>
                        <a:rPr sz="1200" b="0" i="0">
                          <a:solidFill>
                            <a:srgbClr val="222222"/>
                          </a:solidFill>
                          <a:latin typeface="Georgia"/>
                        </a:rPr>
                        <a:t>0.2 → 0.1</a:t>
                      </a:r>
                    </a:p>
                  </a:txBody>
                  <a:tcPr marL="54864" marR="54864" marT="27432" marB="27432" anchor="ctr">
                    <a:solidFill>
                      <a:srgbClr val="FBF1F4"/>
                    </a:solidFill>
                  </a:tcPr>
                </a:tc>
              </a:tr>
              <a:tr h="457200">
                <a:tc>
                  <a:txBody>
                    <a:bodyPr wrap="square"/>
                    <a:lstStyle/>
                    <a:p>
                      <a:r>
                        <a:rPr sz="1200" b="0" i="0">
                          <a:solidFill>
                            <a:srgbClr val="222222"/>
                          </a:solidFill>
                          <a:latin typeface="Georgia"/>
                        </a:rPr>
                        <a:t>Discount γ / GAE λ</a:t>
                      </a:r>
                    </a:p>
                  </a:txBody>
                  <a:tcPr marL="54864" marR="54864" marT="27432" marB="27432" anchor="ctr">
                    <a:solidFill>
                      <a:srgbClr val="FFFFFF"/>
                    </a:solidFill>
                  </a:tcPr>
                </a:tc>
                <a:tc>
                  <a:txBody>
                    <a:bodyPr wrap="square"/>
                    <a:lstStyle/>
                    <a:p>
                      <a:r>
                        <a:rPr sz="1200" b="0" i="0">
                          <a:solidFill>
                            <a:srgbClr val="222222"/>
                          </a:solidFill>
                          <a:latin typeface="Georgia"/>
                        </a:rPr>
                        <a:t>0.97 / 0.95</a:t>
                      </a:r>
                    </a:p>
                  </a:txBody>
                  <a:tcPr marL="54864" marR="54864" marT="27432" marB="27432" anchor="ctr">
                    <a:solidFill>
                      <a:srgbClr val="FFFFFF"/>
                    </a:solidFill>
                  </a:tcPr>
                </a:tc>
              </a:tr>
              <a:tr h="457200">
                <a:tc>
                  <a:txBody>
                    <a:bodyPr wrap="square"/>
                    <a:lstStyle/>
                    <a:p>
                      <a:r>
                        <a:rPr sz="1200" b="0" i="0">
                          <a:solidFill>
                            <a:srgbClr val="222222"/>
                          </a:solidFill>
                          <a:latin typeface="Georgia"/>
                        </a:rPr>
                        <a:t>Rollout / batch / epochs</a:t>
                      </a:r>
                    </a:p>
                  </a:txBody>
                  <a:tcPr marL="54864" marR="54864" marT="27432" marB="27432" anchor="ctr">
                    <a:solidFill>
                      <a:srgbClr val="FBF1F4"/>
                    </a:solidFill>
                  </a:tcPr>
                </a:tc>
                <a:tc>
                  <a:txBody>
                    <a:bodyPr wrap="square"/>
                    <a:lstStyle/>
                    <a:p>
                      <a:r>
                        <a:rPr sz="1200" b="0" i="0">
                          <a:solidFill>
                            <a:srgbClr val="222222"/>
                          </a:solidFill>
                          <a:latin typeface="Georgia"/>
                        </a:rPr>
                        <a:t>64 / 512 / 10</a:t>
                      </a:r>
                    </a:p>
                  </a:txBody>
                  <a:tcPr marL="54864" marR="54864" marT="27432" marB="27432" anchor="ctr">
                    <a:solidFill>
                      <a:srgbClr val="FBF1F4"/>
                    </a:solidFill>
                  </a:tcPr>
                </a:tc>
              </a:tr>
              <a:tr h="457200">
                <a:tc>
                  <a:txBody>
                    <a:bodyPr wrap="square"/>
                    <a:lstStyle/>
                    <a:p>
                      <a:r>
                        <a:rPr sz="1200" b="0" i="0">
                          <a:solidFill>
                            <a:srgbClr val="222222"/>
                          </a:solidFill>
                          <a:latin typeface="Georgia"/>
                        </a:rPr>
                        <a:t>Entropy coefficient</a:t>
                      </a:r>
                    </a:p>
                  </a:txBody>
                  <a:tcPr marL="54864" marR="54864" marT="27432" marB="27432" anchor="ctr">
                    <a:solidFill>
                      <a:srgbClr val="FFFFFF"/>
                    </a:solidFill>
                  </a:tcPr>
                </a:tc>
                <a:tc>
                  <a:txBody>
                    <a:bodyPr wrap="square"/>
                    <a:lstStyle/>
                    <a:p>
                      <a:r>
                        <a:rPr sz="1200" b="0" i="0">
                          <a:solidFill>
                            <a:srgbClr val="222222"/>
                          </a:solidFill>
                          <a:latin typeface="Georgia"/>
                        </a:rPr>
                        <a:t>0.01</a:t>
                      </a:r>
                    </a:p>
                  </a:txBody>
                  <a:tcPr marL="54864" marR="54864" marT="27432" marB="27432" anchor="ctr">
                    <a:solidFill>
                      <a:srgbClr val="FFFFFF"/>
                    </a:solidFill>
                  </a:tcPr>
                </a:tc>
              </a:tr>
              <a:tr h="457200">
                <a:tc>
                  <a:txBody>
                    <a:bodyPr wrap="square"/>
                    <a:lstStyle/>
                    <a:p>
                      <a:r>
                        <a:rPr sz="1200" b="0" i="0">
                          <a:solidFill>
                            <a:srgbClr val="222222"/>
                          </a:solidFill>
                          <a:latin typeface="Georgia"/>
                        </a:rPr>
                        <a:t>Parallel agents</a:t>
                      </a:r>
                    </a:p>
                  </a:txBody>
                  <a:tcPr marL="54864" marR="54864" marT="27432" marB="27432" anchor="ctr">
                    <a:solidFill>
                      <a:srgbClr val="FBF1F4"/>
                    </a:solidFill>
                  </a:tcPr>
                </a:tc>
                <a:tc>
                  <a:txBody>
                    <a:bodyPr wrap="square"/>
                    <a:lstStyle/>
                    <a:p>
                      <a:r>
                        <a:rPr sz="1200" b="0" i="0">
                          <a:solidFill>
                            <a:srgbClr val="222222"/>
                          </a:solidFill>
                          <a:latin typeface="Georgia"/>
                        </a:rPr>
                        <a:t>4 sims × 20</a:t>
                      </a:r>
                    </a:p>
                  </a:txBody>
                  <a:tcPr marL="54864" marR="54864" marT="27432" marB="27432" anchor="ctr">
                    <a:solidFill>
                      <a:srgbClr val="FBF1F4"/>
                    </a:solidFill>
                  </a:tcPr>
                </a:tc>
              </a:tr>
              <a:tr h="457200">
                <a:tc>
                  <a:txBody>
                    <a:bodyPr wrap="square"/>
                    <a:lstStyle/>
                    <a:p>
                      <a:r>
                        <a:rPr sz="1200" b="0" i="0">
                          <a:solidFill>
                            <a:srgbClr val="222222"/>
                          </a:solidFill>
                          <a:latin typeface="Georgia"/>
                        </a:rPr>
                        <a:t>Hidden / MP rounds</a:t>
                      </a:r>
                    </a:p>
                  </a:txBody>
                  <a:tcPr marL="54864" marR="54864" marT="27432" marB="27432" anchor="ctr">
                    <a:solidFill>
                      <a:srgbClr val="FFFFFF"/>
                    </a:solidFill>
                  </a:tcPr>
                </a:tc>
                <a:tc>
                  <a:txBody>
                    <a:bodyPr wrap="square"/>
                    <a:lstStyle/>
                    <a:p>
                      <a:r>
                        <a:rPr sz="1200" b="0" i="0">
                          <a:solidFill>
                            <a:srgbClr val="222222"/>
                          </a:solidFill>
                          <a:latin typeface="Georgia"/>
                        </a:rPr>
                        <a:t>64 / 2</a:t>
                      </a:r>
                    </a:p>
                  </a:txBody>
                  <a:tcPr marL="54864" marR="54864" marT="27432" marB="27432" anchor="ctr">
                    <a:solidFill>
                      <a:srgbClr val="FFFFFF"/>
                    </a:solidFill>
                  </a:tcPr>
                </a:tc>
              </a:tr>
              <a:tr h="457200">
                <a:tc>
                  <a:txBody>
                    <a:bodyPr wrap="square"/>
                    <a:lstStyle/>
                    <a:p>
                      <a:r>
                        <a:rPr sz="1200" b="0" i="0">
                          <a:solidFill>
                            <a:srgbClr val="222222"/>
                          </a:solidFill>
                          <a:latin typeface="Georgia"/>
                        </a:rPr>
                        <a:t>Steps per run</a:t>
                      </a:r>
                    </a:p>
                  </a:txBody>
                  <a:tcPr marL="54864" marR="54864" marT="27432" marB="27432" anchor="ctr">
                    <a:solidFill>
                      <a:srgbClr val="FBF1F4"/>
                    </a:solidFill>
                  </a:tcPr>
                </a:tc>
                <a:tc>
                  <a:txBody>
                    <a:bodyPr wrap="square"/>
                    <a:lstStyle/>
                    <a:p>
                      <a:r>
                        <a:rPr sz="1200" b="0" i="0">
                          <a:solidFill>
                            <a:srgbClr val="222222"/>
                          </a:solidFill>
                          <a:latin typeface="Georgia"/>
                        </a:rPr>
                        <a:t>2,000,000</a:t>
                      </a:r>
                    </a:p>
                  </a:txBody>
                  <a:tcPr marL="54864" marR="54864" marT="27432" marB="27432" anchor="ctr">
                    <a:solidFill>
                      <a:srgbClr val="FBF1F4"/>
                    </a:solidFill>
                  </a:tcPr>
                </a:tc>
              </a:tr>
            </a:tbl>
          </a:graphicData>
        </a:graphic>
      </p:graphicFrame>
      <p:sp>
        <p:nvSpPr>
          <p:cNvPr id="36" name="TextBox 35"/>
          <p:cNvSpPr txBox="1"/>
          <p:nvPr/>
        </p:nvSpPr>
        <p:spPr>
          <a:xfrm>
            <a:off x="8183879" y="5943600"/>
            <a:ext cx="3593592" cy="274320"/>
          </a:xfrm>
          <a:prstGeom prst="rect">
            <a:avLst/>
          </a:prstGeom>
          <a:noFill/>
        </p:spPr>
        <p:txBody>
          <a:bodyPr wrap="square" anchor="t" lIns="36576" rIns="36576" tIns="36576" bIns="36576">
            <a:spAutoFit/>
          </a:bodyPr>
          <a:lstStyle/>
          <a:p>
            <a:pPr algn="l">
              <a:spcAft>
                <a:spcPts val="400"/>
              </a:spcAft>
            </a:pPr>
            <a:r>
              <a:rPr sz="1000" b="0" i="1">
                <a:solidFill>
                  <a:srgbClr val="5F6670"/>
                </a:solidFill>
                <a:latin typeface="Georgia"/>
              </a:rPr>
              <a:t>→ after warm start; v9 trained on RTX 3050 (1.79× CPU)</a:t>
            </a:r>
          </a:p>
        </p:txBody>
      </p:sp>
    </p:spTree>
    <p:extLst>
      <p:ext uri="{BB962C8B-B14F-4D97-AF65-F5344CB8AC3E}">
        <p14:creationId xmlns:p14="http://schemas.microsoft.com/office/powerpoint/2010/main" val="3412474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E01F1-5098-232C-185A-D1391D1799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5BF2894-E009-81A8-E7D8-059F16E0921E}"/>
              </a:ext>
            </a:extLst>
          </p:cNvPr>
          <p:cNvSpPr>
            <a:spLocks noGrp="1"/>
          </p:cNvSpPr>
          <p:nvPr>
            <p:ph type="title"/>
          </p:nvPr>
        </p:nvSpPr>
        <p:spPr>
          <a:xfrm>
            <a:off x="566928" y="347472"/>
            <a:ext cx="11210544" cy="466344"/>
          </a:xfrm>
        </p:spPr>
        <p:txBody>
          <a:bodyPr/>
          <a:lstStyle/>
          <a:p>
            <a:r>
              <a:rPr lang="en-IN" dirty="0"/>
              <a:t>Evaluation Setup and Criteria</a:t>
            </a:r>
          </a:p>
        </p:txBody>
      </p:sp>
      <p:sp>
        <p:nvSpPr>
          <p:cNvPr id="4" name="Slide Number Placeholder 3">
            <a:extLst>
              <a:ext uri="{FF2B5EF4-FFF2-40B4-BE49-F238E27FC236}">
                <a16:creationId xmlns:a16="http://schemas.microsoft.com/office/drawing/2014/main" id="{A94852D8-9A56-3026-55CB-A3DAA509A6CD}"/>
              </a:ext>
            </a:extLst>
          </p:cNvPr>
          <p:cNvSpPr>
            <a:spLocks noGrp="1"/>
          </p:cNvSpPr>
          <p:nvPr>
            <p:ph type="sldNum" sz="quarter" idx="12"/>
          </p:nvPr>
        </p:nvSpPr>
        <p:spPr/>
        <p:txBody>
          <a:bodyPr/>
          <a:lstStyle/>
          <a:p>
            <a:fld id="{330EA680-D336-4FF7-8B7A-9848BB0A1C32}" type="slidenum">
              <a:rPr lang="en-US" smtClean="0"/>
              <a:pPr/>
              <a:t>11</a:t>
            </a:fld>
            <a:endParaRPr lang="en-US"/>
          </a:p>
        </p:txBody>
      </p:sp>
      <p:sp>
        <p:nvSpPr>
          <p:cNvPr id="5" name="TextBox 4"/>
          <p:cNvSpPr txBox="1"/>
          <p:nvPr/>
        </p:nvSpPr>
        <p:spPr>
          <a:xfrm>
            <a:off x="566928" y="1280160"/>
            <a:ext cx="548640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Setup</a:t>
            </a:r>
          </a:p>
        </p:txBody>
      </p:sp>
      <p:sp>
        <p:nvSpPr>
          <p:cNvPr id="6" name="TextBox 5"/>
          <p:cNvSpPr txBox="1"/>
          <p:nvPr/>
        </p:nvSpPr>
        <p:spPr>
          <a:xfrm>
            <a:off x="566928" y="1737360"/>
            <a:ext cx="5486400" cy="4389120"/>
          </a:xfrm>
          <a:prstGeom prst="rect">
            <a:avLst/>
          </a:prstGeom>
          <a:noFill/>
        </p:spPr>
        <p:txBody>
          <a:bodyPr wrap="square" anchor="t" lIns="36576" rIns="36576" tIns="36576" bIns="36576">
            <a:spAutoFit/>
          </a:bodyPr>
          <a:lstStyle/>
          <a:p>
            <a:pPr algn="l">
              <a:spcAft>
                <a:spcPts val="1200"/>
              </a:spcAft>
            </a:pPr>
            <a:r>
              <a:rPr sz="1500" b="1" i="0">
                <a:solidFill>
                  <a:srgbClr val="A4123F"/>
                </a:solidFill>
                <a:latin typeface="Georgia"/>
              </a:rPr>
              <a:t>•  </a:t>
            </a:r>
            <a:r>
              <a:rPr sz="1500" b="1" i="0">
                <a:solidFill>
                  <a:srgbClr val="222222"/>
                </a:solidFill>
                <a:latin typeface="Georgia"/>
              </a:rPr>
              <a:t>Workloads:</a:t>
            </a:r>
            <a:r>
              <a:rPr sz="1500" b="0" i="0">
                <a:solidFill>
                  <a:srgbClr val="222222"/>
                </a:solidFill>
                <a:latin typeface="Georgia"/>
              </a:rPr>
              <a:t> 6 Locust scenarios (steady, ramp, flash sale, checkout heavy, traffic drop, payment degradation); 25 users, 300 s</a:t>
            </a:r>
          </a:p>
          <a:p>
            <a:pPr algn="l">
              <a:spcAft>
                <a:spcPts val="1200"/>
              </a:spcAft>
            </a:pPr>
            <a:r>
              <a:rPr sz="1500" b="1" i="0">
                <a:solidFill>
                  <a:srgbClr val="A4123F"/>
                </a:solidFill>
                <a:latin typeface="Georgia"/>
              </a:rPr>
              <a:t>•  </a:t>
            </a:r>
            <a:r>
              <a:rPr sz="1500" b="1" i="0">
                <a:solidFill>
                  <a:srgbClr val="222222"/>
                </a:solidFill>
                <a:latin typeface="Georgia"/>
              </a:rPr>
              <a:t>Baselines:</a:t>
            </a:r>
            <a:r>
              <a:rPr sz="1500" b="0" i="0">
                <a:solidFill>
                  <a:srgbClr val="222222"/>
                </a:solidFill>
                <a:latin typeface="Georgia"/>
              </a:rPr>
              <a:t> default HPA (70%, 300 s window) and tuned HPA (350%, 60 s, chosen by a fixed calibration rule)</a:t>
            </a:r>
          </a:p>
          <a:p>
            <a:pPr algn="l">
              <a:spcAft>
                <a:spcPts val="1200"/>
              </a:spcAft>
            </a:pPr>
            <a:r>
              <a:rPr sz="1500" b="1" i="0">
                <a:solidFill>
                  <a:srgbClr val="A4123F"/>
                </a:solidFill>
                <a:latin typeface="Georgia"/>
              </a:rPr>
              <a:t>•  </a:t>
            </a:r>
            <a:r>
              <a:rPr sz="1500" b="1" i="0">
                <a:solidFill>
                  <a:srgbClr val="222222"/>
                </a:solidFill>
                <a:latin typeface="Georgia"/>
              </a:rPr>
              <a:t>Candidates:</a:t>
            </a:r>
            <a:r>
              <a:rPr sz="1500" b="0" i="0">
                <a:solidFill>
                  <a:srgbClr val="222222"/>
                </a:solidFill>
                <a:latin typeface="Georgia"/>
              </a:rPr>
              <a:t> FlexaScale RL and FlexaScale Auto</a:t>
            </a:r>
          </a:p>
          <a:p>
            <a:pPr algn="l">
              <a:spcAft>
                <a:spcPts val="1200"/>
              </a:spcAft>
            </a:pPr>
            <a:r>
              <a:rPr sz="1500" b="1" i="0">
                <a:solidFill>
                  <a:srgbClr val="A4123F"/>
                </a:solidFill>
                <a:latin typeface="Georgia"/>
              </a:rPr>
              <a:t>•  </a:t>
            </a:r>
            <a:r>
              <a:rPr sz="1500" b="1" i="0">
                <a:solidFill>
                  <a:srgbClr val="222222"/>
                </a:solidFill>
                <a:latin typeface="Georgia"/>
              </a:rPr>
              <a:t>Design:</a:t>
            </a:r>
            <a:r>
              <a:rPr sz="1500" b="0" i="0">
                <a:solidFill>
                  <a:srgbClr val="222222"/>
                </a:solidFill>
                <a:latin typeface="Georgia"/>
              </a:rPr>
              <a:t> 12 blocks, 4 arms back to back in seeded order; rules fixed before the first run</a:t>
            </a:r>
          </a:p>
          <a:p>
            <a:pPr algn="l">
              <a:spcAft>
                <a:spcPts val="1200"/>
              </a:spcAft>
            </a:pPr>
            <a:r>
              <a:rPr sz="1500" b="1" i="0">
                <a:solidFill>
                  <a:srgbClr val="A4123F"/>
                </a:solidFill>
                <a:latin typeface="Georgia"/>
              </a:rPr>
              <a:t>•  </a:t>
            </a:r>
            <a:r>
              <a:rPr sz="1500" b="1" i="0">
                <a:solidFill>
                  <a:srgbClr val="222222"/>
                </a:solidFill>
                <a:latin typeface="Georgia"/>
              </a:rPr>
              <a:t>Validity:</a:t>
            </a:r>
            <a:r>
              <a:rPr sz="1500" b="0" i="0">
                <a:solidFill>
                  <a:srgbClr val="222222"/>
                </a:solidFill>
                <a:latin typeface="Georgia"/>
              </a:rPr>
              <a:t> settled start, cleanup safe, AC power, host load within idle + 2 cores → 46 of 53 runs valid</a:t>
            </a:r>
          </a:p>
        </p:txBody>
      </p:sp>
      <p:sp>
        <p:nvSpPr>
          <p:cNvPr id="7" name="TextBox 6"/>
          <p:cNvSpPr txBox="1"/>
          <p:nvPr/>
        </p:nvSpPr>
        <p:spPr>
          <a:xfrm>
            <a:off x="6446520" y="1280160"/>
            <a:ext cx="530352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Metrics and formulas</a:t>
            </a:r>
          </a:p>
        </p:txBody>
      </p:sp>
      <p:sp>
        <p:nvSpPr>
          <p:cNvPr id="8" name="Rounded Rectangle 7"/>
          <p:cNvSpPr/>
          <p:nvPr/>
        </p:nvSpPr>
        <p:spPr>
          <a:xfrm>
            <a:off x="6446520" y="1737360"/>
            <a:ext cx="5330952" cy="7315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773936"/>
            <a:ext cx="1920240" cy="658368"/>
          </a:xfrm>
          <a:prstGeom prst="rect">
            <a:avLst/>
          </a:prstGeom>
          <a:noFill/>
        </p:spPr>
        <p:txBody>
          <a:bodyPr wrap="square" anchor="ctr" lIns="36576" rIns="36576" tIns="36576" bIns="36576">
            <a:spAutoFit/>
          </a:bodyPr>
          <a:lstStyle/>
          <a:p>
            <a:pPr algn="l">
              <a:spcAft>
                <a:spcPts val="400"/>
              </a:spcAft>
            </a:pPr>
            <a:r>
              <a:rPr sz="1300" b="1" i="0">
                <a:solidFill>
                  <a:srgbClr val="6E0B2A"/>
                </a:solidFill>
                <a:latin typeface="Georgia"/>
              </a:rPr>
              <a:t>Replica-hours</a:t>
            </a:r>
          </a:p>
        </p:txBody>
      </p:sp>
      <p:sp>
        <p:nvSpPr>
          <p:cNvPr id="10" name="TextBox 9"/>
          <p:cNvSpPr txBox="1"/>
          <p:nvPr/>
        </p:nvSpPr>
        <p:spPr>
          <a:xfrm>
            <a:off x="8503920" y="1773936"/>
            <a:ext cx="320040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RH = Σt Σi ready_i(t) · Δt / 3600</a:t>
            </a:r>
          </a:p>
        </p:txBody>
      </p:sp>
      <p:sp>
        <p:nvSpPr>
          <p:cNvPr id="11" name="Rounded Rectangle 10"/>
          <p:cNvSpPr/>
          <p:nvPr/>
        </p:nvSpPr>
        <p:spPr>
          <a:xfrm>
            <a:off x="6446520" y="2606039"/>
            <a:ext cx="5330952" cy="7315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642615"/>
            <a:ext cx="1920240" cy="658368"/>
          </a:xfrm>
          <a:prstGeom prst="rect">
            <a:avLst/>
          </a:prstGeom>
          <a:noFill/>
        </p:spPr>
        <p:txBody>
          <a:bodyPr wrap="square" anchor="ctr" lIns="36576" rIns="36576" tIns="36576" bIns="36576">
            <a:spAutoFit/>
          </a:bodyPr>
          <a:lstStyle/>
          <a:p>
            <a:pPr algn="l">
              <a:spcAft>
                <a:spcPts val="400"/>
              </a:spcAft>
            </a:pPr>
            <a:r>
              <a:rPr sz="1300" b="1" i="0">
                <a:solidFill>
                  <a:srgbClr val="6E0B2A"/>
                </a:solidFill>
                <a:latin typeface="Georgia"/>
              </a:rPr>
              <a:t>Paired difference</a:t>
            </a:r>
          </a:p>
        </p:txBody>
      </p:sp>
      <p:sp>
        <p:nvSpPr>
          <p:cNvPr id="13" name="TextBox 12"/>
          <p:cNvSpPr txBox="1"/>
          <p:nvPr/>
        </p:nvSpPr>
        <p:spPr>
          <a:xfrm>
            <a:off x="8503920" y="2642615"/>
            <a:ext cx="320040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Δ% = 100 · (candidate − reference) / reference</a:t>
            </a:r>
          </a:p>
        </p:txBody>
      </p:sp>
      <p:sp>
        <p:nvSpPr>
          <p:cNvPr id="14" name="Rounded Rectangle 13"/>
          <p:cNvSpPr/>
          <p:nvPr/>
        </p:nvSpPr>
        <p:spPr>
          <a:xfrm>
            <a:off x="6446520" y="3474720"/>
            <a:ext cx="5330952" cy="7315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3511296"/>
            <a:ext cx="1920240" cy="658368"/>
          </a:xfrm>
          <a:prstGeom prst="rect">
            <a:avLst/>
          </a:prstGeom>
          <a:noFill/>
        </p:spPr>
        <p:txBody>
          <a:bodyPr wrap="square" anchor="ctr" lIns="36576" rIns="36576" tIns="36576" bIns="36576">
            <a:spAutoFit/>
          </a:bodyPr>
          <a:lstStyle/>
          <a:p>
            <a:pPr algn="l">
              <a:spcAft>
                <a:spcPts val="400"/>
              </a:spcAft>
            </a:pPr>
            <a:r>
              <a:rPr sz="1300" b="1" i="0">
                <a:solidFill>
                  <a:srgbClr val="6E0B2A"/>
                </a:solidFill>
                <a:latin typeface="Georgia"/>
              </a:rPr>
              <a:t>95% confidence interval</a:t>
            </a:r>
          </a:p>
        </p:txBody>
      </p:sp>
      <p:sp>
        <p:nvSpPr>
          <p:cNvPr id="16" name="TextBox 15"/>
          <p:cNvSpPr txBox="1"/>
          <p:nvPr/>
        </p:nvSpPr>
        <p:spPr>
          <a:xfrm>
            <a:off x="8503920" y="3511296"/>
            <a:ext cx="320040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mean Δ ± t(0.975, n−1) · s / √n</a:t>
            </a:r>
          </a:p>
        </p:txBody>
      </p:sp>
      <p:sp>
        <p:nvSpPr>
          <p:cNvPr id="17" name="Rounded Rectangle 16"/>
          <p:cNvSpPr/>
          <p:nvPr/>
        </p:nvSpPr>
        <p:spPr>
          <a:xfrm>
            <a:off x="6446520" y="4343400"/>
            <a:ext cx="5330952" cy="7315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379976"/>
            <a:ext cx="1920240" cy="658368"/>
          </a:xfrm>
          <a:prstGeom prst="rect">
            <a:avLst/>
          </a:prstGeom>
          <a:noFill/>
        </p:spPr>
        <p:txBody>
          <a:bodyPr wrap="square" anchor="ctr" lIns="36576" rIns="36576" tIns="36576" bIns="36576">
            <a:spAutoFit/>
          </a:bodyPr>
          <a:lstStyle/>
          <a:p>
            <a:pPr algn="l">
              <a:spcAft>
                <a:spcPts val="400"/>
              </a:spcAft>
            </a:pPr>
            <a:r>
              <a:rPr sz="1300" b="1" i="0">
                <a:solidFill>
                  <a:srgbClr val="6E0B2A"/>
                </a:solidFill>
                <a:latin typeface="Georgia"/>
              </a:rPr>
              <a:t>SLO violation</a:t>
            </a:r>
          </a:p>
        </p:txBody>
      </p:sp>
      <p:sp>
        <p:nvSpPr>
          <p:cNvPr id="19" name="TextBox 18"/>
          <p:cNvSpPr txBox="1"/>
          <p:nvPr/>
        </p:nvSpPr>
        <p:spPr>
          <a:xfrm>
            <a:off x="8503920" y="4379976"/>
            <a:ext cx="320040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seconds of 10 s windows with p95 &gt; 1000 ms</a:t>
            </a:r>
          </a:p>
        </p:txBody>
      </p:sp>
      <p:sp>
        <p:nvSpPr>
          <p:cNvPr id="20" name="Rounded Rectangle 19"/>
          <p:cNvSpPr/>
          <p:nvPr/>
        </p:nvSpPr>
        <p:spPr>
          <a:xfrm>
            <a:off x="6446520" y="5212079"/>
            <a:ext cx="5330952" cy="7315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5248655"/>
            <a:ext cx="1920240" cy="658368"/>
          </a:xfrm>
          <a:prstGeom prst="rect">
            <a:avLst/>
          </a:prstGeom>
          <a:noFill/>
        </p:spPr>
        <p:txBody>
          <a:bodyPr wrap="square" anchor="ctr" lIns="36576" rIns="36576" tIns="36576" bIns="36576">
            <a:spAutoFit/>
          </a:bodyPr>
          <a:lstStyle/>
          <a:p>
            <a:pPr algn="l">
              <a:spcAft>
                <a:spcPts val="400"/>
              </a:spcAft>
            </a:pPr>
            <a:r>
              <a:rPr sz="1300" b="1" i="0">
                <a:solidFill>
                  <a:srgbClr val="6E0B2A"/>
                </a:solidFill>
                <a:latin typeface="Georgia"/>
              </a:rPr>
              <a:t>Estimated cost</a:t>
            </a:r>
          </a:p>
        </p:txBody>
      </p:sp>
      <p:sp>
        <p:nvSpPr>
          <p:cNvPr id="22" name="TextBox 21"/>
          <p:cNvSpPr txBox="1"/>
          <p:nvPr/>
        </p:nvSpPr>
        <p:spPr>
          <a:xfrm>
            <a:off x="8503920" y="5248655"/>
            <a:ext cx="320040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vCPU-h × $0.04048 + GiB-h × $0.004445</a:t>
            </a:r>
          </a:p>
        </p:txBody>
      </p:sp>
    </p:spTree>
    <p:extLst>
      <p:ext uri="{BB962C8B-B14F-4D97-AF65-F5344CB8AC3E}">
        <p14:creationId xmlns:p14="http://schemas.microsoft.com/office/powerpoint/2010/main" val="705037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325E74-F795-C0F9-3A2C-B5BA1881CE63}"/>
              </a:ext>
            </a:extLst>
          </p:cNvPr>
          <p:cNvSpPr>
            <a:spLocks noGrp="1"/>
          </p:cNvSpPr>
          <p:nvPr>
            <p:ph type="title"/>
          </p:nvPr>
        </p:nvSpPr>
        <p:spPr>
          <a:xfrm>
            <a:off x="566928" y="347472"/>
            <a:ext cx="11210544" cy="466344"/>
          </a:xfrm>
        </p:spPr>
        <p:txBody>
          <a:bodyPr/>
          <a:lstStyle/>
          <a:p>
            <a:r>
              <a:rPr lang="en-IN" dirty="0"/>
              <a:t>Results and Analysis</a:t>
            </a:r>
          </a:p>
        </p:txBody>
      </p:sp>
      <p:sp>
        <p:nvSpPr>
          <p:cNvPr id="4" name="Slide Number Placeholder 3">
            <a:extLst>
              <a:ext uri="{FF2B5EF4-FFF2-40B4-BE49-F238E27FC236}">
                <a16:creationId xmlns:a16="http://schemas.microsoft.com/office/drawing/2014/main" id="{F774A97C-2EA8-BF5C-75BA-97D4C3FF6D56}"/>
              </a:ext>
            </a:extLst>
          </p:cNvPr>
          <p:cNvSpPr>
            <a:spLocks noGrp="1"/>
          </p:cNvSpPr>
          <p:nvPr>
            <p:ph type="sldNum" sz="quarter" idx="12"/>
          </p:nvPr>
        </p:nvSpPr>
        <p:spPr/>
        <p:txBody>
          <a:bodyPr/>
          <a:lstStyle/>
          <a:p>
            <a:fld id="{330EA680-D336-4FF7-8B7A-9848BB0A1C32}" type="slidenum">
              <a:rPr lang="en-US" smtClean="0"/>
              <a:pPr/>
              <a:t>12</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End-to-end verification on the live cluster</a:t>
            </a:r>
          </a:p>
        </p:txBody>
      </p:sp>
      <p:graphicFrame>
        <p:nvGraphicFramePr>
          <p:cNvPr id="6" name="Table 5"/>
          <p:cNvGraphicFramePr>
            <a:graphicFrameLocks noGrp="1"/>
          </p:cNvGraphicFramePr>
          <p:nvPr/>
        </p:nvGraphicFramePr>
        <p:xfrm>
          <a:off x="566928" y="1325880"/>
          <a:ext cx="11210544" cy="2834640"/>
        </p:xfrm>
        <a:graphic>
          <a:graphicData uri="http://schemas.openxmlformats.org/drawingml/2006/table">
            <a:tbl>
              <a:tblPr firstRow="0" bandRow="0">
                <a:tableStyleId>{5C22544A-7EE6-4342-B048-85BDC9FD1C3A}</a:tableStyleId>
              </a:tblPr>
              <a:tblGrid>
                <a:gridCol w="1417320"/>
                <a:gridCol w="960120"/>
                <a:gridCol w="1965960"/>
                <a:gridCol w="2011680"/>
                <a:gridCol w="1188720"/>
                <a:gridCol w="2331720"/>
                <a:gridCol w="1335024"/>
              </a:tblGrid>
              <a:tr h="566928">
                <a:tc>
                  <a:txBody>
                    <a:bodyPr wrap="square"/>
                    <a:lstStyle/>
                    <a:p>
                      <a:r>
                        <a:rPr sz="1200" b="1" i="0">
                          <a:solidFill>
                            <a:srgbClr val="FFFFFF"/>
                          </a:solidFill>
                          <a:latin typeface="Georgia"/>
                        </a:rPr>
                        <a:t>Run</a:t>
                      </a:r>
                    </a:p>
                  </a:txBody>
                  <a:tcPr marL="54864" marR="54864" marT="27432" marB="27432" anchor="ctr">
                    <a:solidFill>
                      <a:srgbClr val="A4123F"/>
                    </a:solidFill>
                  </a:tcPr>
                </a:tc>
                <a:tc>
                  <a:txBody>
                    <a:bodyPr wrap="square"/>
                    <a:lstStyle/>
                    <a:p>
                      <a:r>
                        <a:rPr sz="1200" b="1" i="0">
                          <a:solidFill>
                            <a:srgbClr val="FFFFFF"/>
                          </a:solidFill>
                          <a:latin typeface="Georgia"/>
                        </a:rPr>
                        <a:t>Service</a:t>
                      </a:r>
                    </a:p>
                  </a:txBody>
                  <a:tcPr marL="54864" marR="54864" marT="27432" marB="27432" anchor="ctr">
                    <a:solidFill>
                      <a:srgbClr val="A4123F"/>
                    </a:solidFill>
                  </a:tcPr>
                </a:tc>
                <a:tc>
                  <a:txBody>
                    <a:bodyPr wrap="square"/>
                    <a:lstStyle/>
                    <a:p>
                      <a:r>
                        <a:rPr sz="1200" b="1" i="0">
                          <a:solidFill>
                            <a:srgbClr val="FFFFFF"/>
                          </a:solidFill>
                          <a:latin typeface="Georgia"/>
                        </a:rPr>
                        <a:t>Selected owner</a:t>
                      </a:r>
                    </a:p>
                  </a:txBody>
                  <a:tcPr marL="54864" marR="54864" marT="27432" marB="27432" anchor="ctr">
                    <a:solidFill>
                      <a:srgbClr val="A4123F"/>
                    </a:solidFill>
                  </a:tcPr>
                </a:tc>
                <a:tc>
                  <a:txBody>
                    <a:bodyPr wrap="square"/>
                    <a:lstStyle/>
                    <a:p>
                      <a:r>
                        <a:rPr sz="1200" b="1" i="0">
                          <a:solidFill>
                            <a:srgbClr val="FFFFFF"/>
                          </a:solidFill>
                          <a:latin typeface="Georgia"/>
                        </a:rPr>
                        <a:t>Decision reason</a:t>
                      </a:r>
                    </a:p>
                  </a:txBody>
                  <a:tcPr marL="54864" marR="54864" marT="27432" marB="27432" anchor="ctr">
                    <a:solidFill>
                      <a:srgbClr val="A4123F"/>
                    </a:solidFill>
                  </a:tcPr>
                </a:tc>
                <a:tc>
                  <a:txBody>
                    <a:bodyPr wrap="square"/>
                    <a:lstStyle/>
                    <a:p>
                      <a:r>
                        <a:rPr sz="1200" b="1" i="0">
                          <a:solidFill>
                            <a:srgbClr val="FFFFFF"/>
                          </a:solidFill>
                          <a:latin typeface="Georgia"/>
                        </a:rPr>
                        <a:t>Policy invoked</a:t>
                      </a:r>
                    </a:p>
                  </a:txBody>
                  <a:tcPr marL="54864" marR="54864" marT="27432" marB="27432" anchor="ctr">
                    <a:solidFill>
                      <a:srgbClr val="A4123F"/>
                    </a:solidFill>
                  </a:tcPr>
                </a:tc>
                <a:tc>
                  <a:txBody>
                    <a:bodyPr wrap="square"/>
                    <a:lstStyle/>
                    <a:p>
                      <a:r>
                        <a:rPr sz="1200" b="1" i="0">
                          <a:solidFill>
                            <a:srgbClr val="FFFFFF"/>
                          </a:solidFill>
                          <a:latin typeface="Georgia"/>
                        </a:rPr>
                        <a:t>Action applied</a:t>
                      </a:r>
                    </a:p>
                  </a:txBody>
                  <a:tcPr marL="54864" marR="54864" marT="27432" marB="27432" anchor="ctr">
                    <a:solidFill>
                      <a:srgbClr val="A4123F"/>
                    </a:solidFill>
                  </a:tcPr>
                </a:tc>
                <a:tc>
                  <a:txBody>
                    <a:bodyPr wrap="square"/>
                    <a:lstStyle/>
                    <a:p>
                      <a:r>
                        <a:rPr sz="1200" b="1" i="0">
                          <a:solidFill>
                            <a:srgbClr val="FFFFFF"/>
                          </a:solidFill>
                          <a:latin typeface="Georgia"/>
                        </a:rPr>
                        <a:t>Actual replicas</a:t>
                      </a:r>
                    </a:p>
                  </a:txBody>
                  <a:tcPr marL="54864" marR="54864" marT="27432" marB="27432" anchor="ctr">
                    <a:solidFill>
                      <a:srgbClr val="A4123F"/>
                    </a:solidFill>
                  </a:tcPr>
                </a:tc>
              </a:tr>
              <a:tr h="566928">
                <a:tc>
                  <a:txBody>
                    <a:bodyPr wrap="square"/>
                    <a:lstStyle/>
                    <a:p>
                      <a:r>
                        <a:rPr sz="1200" b="0" i="0">
                          <a:solidFill>
                            <a:srgbClr val="222222"/>
                          </a:solidFill>
                          <a:latin typeface="Georgia"/>
                        </a:rPr>
                        <a:t>Auto, default</a:t>
                      </a:r>
                    </a:p>
                  </a:txBody>
                  <a:tcPr marL="54864" marR="54864" marT="27432" marB="27432" anchor="ctr">
                    <a:solidFill>
                      <a:srgbClr val="FFFFFF"/>
                    </a:solidFill>
                  </a:tcPr>
                </a:tc>
                <a:tc>
                  <a:txBody>
                    <a:bodyPr wrap="square"/>
                    <a:lstStyle/>
                    <a:p>
                      <a:r>
                        <a:rPr sz="1200" b="0" i="0">
                          <a:solidFill>
                            <a:srgbClr val="222222"/>
                          </a:solidFill>
                          <a:latin typeface="Georgia"/>
                        </a:rPr>
                        <a:t>order</a:t>
                      </a:r>
                    </a:p>
                  </a:txBody>
                  <a:tcPr marL="54864" marR="54864" marT="27432" marB="27432" anchor="ctr">
                    <a:solidFill>
                      <a:srgbClr val="FFFFFF"/>
                    </a:solidFill>
                  </a:tcPr>
                </a:tc>
                <a:tc>
                  <a:txBody>
                    <a:bodyPr wrap="square"/>
                    <a:lstStyle/>
                    <a:p>
                      <a:r>
                        <a:rPr sz="1200" b="0" i="0">
                          <a:solidFill>
                            <a:srgbClr val="222222"/>
                          </a:solidFill>
                          <a:latin typeface="Georgia"/>
                        </a:rPr>
                        <a:t>FlexaScale</a:t>
                      </a:r>
                    </a:p>
                  </a:txBody>
                  <a:tcPr marL="54864" marR="54864" marT="27432" marB="27432" anchor="ctr">
                    <a:solidFill>
                      <a:srgbClr val="FFFFFF"/>
                    </a:solidFill>
                  </a:tcPr>
                </a:tc>
                <a:tc>
                  <a:txBody>
                    <a:bodyPr wrap="square"/>
                    <a:lstStyle/>
                    <a:p>
                      <a:r>
                        <a:rPr sz="1200" b="0" i="0">
                          <a:solidFill>
                            <a:srgbClr val="222222"/>
                          </a:solidFill>
                          <a:latin typeface="Georgia"/>
                        </a:rPr>
                        <a:t>efficiency</a:t>
                      </a:r>
                    </a:p>
                  </a:txBody>
                  <a:tcPr marL="54864" marR="54864" marT="27432" marB="27432" anchor="ctr">
                    <a:solidFill>
                      <a:srgbClr val="FFFFFF"/>
                    </a:solidFill>
                  </a:tcPr>
                </a:tc>
                <a:tc>
                  <a:txBody>
                    <a:bodyPr wrap="square"/>
                    <a:lstStyle/>
                    <a:p>
                      <a:r>
                        <a:rPr sz="1200" b="0" i="0">
                          <a:solidFill>
                            <a:srgbClr val="222222"/>
                          </a:solidFill>
                          <a:latin typeface="Georgia"/>
                        </a:rPr>
                        <a:t>ppo_graph</a:t>
                      </a:r>
                    </a:p>
                  </a:txBody>
                  <a:tcPr marL="54864" marR="54864" marT="27432" marB="27432" anchor="ctr">
                    <a:solidFill>
                      <a:srgbClr val="FFFFFF"/>
                    </a:solidFill>
                  </a:tcPr>
                </a:tc>
                <a:tc>
                  <a:txBody>
                    <a:bodyPr wrap="square"/>
                    <a:lstStyle/>
                    <a:p>
                      <a:r>
                        <a:rPr sz="1200" b="0" i="0">
                          <a:solidFill>
                            <a:srgbClr val="222222"/>
                          </a:solidFill>
                          <a:latin typeface="Georgia"/>
                        </a:rPr>
                        <a:t>1→2 at +289 s (desired +5.9 s, ready +15.9 s)</a:t>
                      </a:r>
                    </a:p>
                  </a:txBody>
                  <a:tcPr marL="54864" marR="54864" marT="27432" marB="27432" anchor="ctr">
                    <a:solidFill>
                      <a:srgbClr val="FFFFFF"/>
                    </a:solidFill>
                  </a:tcPr>
                </a:tc>
                <a:tc>
                  <a:txBody>
                    <a:bodyPr wrap="square"/>
                    <a:lstStyle/>
                    <a:p>
                      <a:r>
                        <a:rPr sz="1200" b="0" i="0">
                          <a:solidFill>
                            <a:srgbClr val="222222"/>
                          </a:solidFill>
                          <a:latin typeface="Georgia"/>
                        </a:rPr>
                        <a:t>1-2 / 2 ready</a:t>
                      </a:r>
                    </a:p>
                  </a:txBody>
                  <a:tcPr marL="54864" marR="54864" marT="27432" marB="27432" anchor="ctr">
                    <a:solidFill>
                      <a:srgbClr val="FFFFFF"/>
                    </a:solidFill>
                  </a:tcPr>
                </a:tc>
              </a:tr>
              <a:tr h="566928">
                <a:tc>
                  <a:txBody>
                    <a:bodyPr wrap="square"/>
                    <a:lstStyle/>
                    <a:p>
                      <a:r>
                        <a:rPr sz="1200" b="0" i="0">
                          <a:solidFill>
                            <a:srgbClr val="222222"/>
                          </a:solidFill>
                          <a:latin typeface="Georgia"/>
                        </a:rPr>
                        <a:t>Auto, SLA risk</a:t>
                      </a:r>
                    </a:p>
                  </a:txBody>
                  <a:tcPr marL="54864" marR="54864" marT="27432" marB="27432" anchor="ctr">
                    <a:solidFill>
                      <a:srgbClr val="FBF1F4"/>
                    </a:solidFill>
                  </a:tcPr>
                </a:tc>
                <a:tc>
                  <a:txBody>
                    <a:bodyPr wrap="square"/>
                    <a:lstStyle/>
                    <a:p>
                      <a:r>
                        <a:rPr sz="1200" b="0" i="0">
                          <a:solidFill>
                            <a:srgbClr val="222222"/>
                          </a:solidFill>
                          <a:latin typeface="Georgia"/>
                        </a:rPr>
                        <a:t>order</a:t>
                      </a:r>
                    </a:p>
                  </a:txBody>
                  <a:tcPr marL="54864" marR="54864" marT="27432" marB="27432" anchor="ctr">
                    <a:solidFill>
                      <a:srgbClr val="FBF1F4"/>
                    </a:solidFill>
                  </a:tcPr>
                </a:tc>
                <a:tc>
                  <a:txBody>
                    <a:bodyPr wrap="square"/>
                    <a:lstStyle/>
                    <a:p>
                      <a:r>
                        <a:rPr sz="1200" b="0" i="0">
                          <a:solidFill>
                            <a:srgbClr val="222222"/>
                          </a:solidFill>
                          <a:latin typeface="Georgia"/>
                        </a:rPr>
                        <a:t>FlexaScale 16 · HPA 15</a:t>
                      </a:r>
                    </a:p>
                  </a:txBody>
                  <a:tcPr marL="54864" marR="54864" marT="27432" marB="27432" anchor="ctr">
                    <a:solidFill>
                      <a:srgbClr val="FBF1F4"/>
                    </a:solidFill>
                  </a:tcPr>
                </a:tc>
                <a:tc>
                  <a:txBody>
                    <a:bodyPr wrap="square"/>
                    <a:lstStyle/>
                    <a:p>
                      <a:r>
                        <a:rPr sz="1200" b="0" i="0">
                          <a:solidFill>
                            <a:srgbClr val="222222"/>
                          </a:solidFill>
                          <a:latin typeface="Georgia"/>
                        </a:rPr>
                        <a:t>efficiency 19 · sla_risk 12</a:t>
                      </a:r>
                    </a:p>
                  </a:txBody>
                  <a:tcPr marL="54864" marR="54864" marT="27432" marB="27432" anchor="ctr">
                    <a:solidFill>
                      <a:srgbClr val="FBF1F4"/>
                    </a:solidFill>
                  </a:tcPr>
                </a:tc>
                <a:tc>
                  <a:txBody>
                    <a:bodyPr wrap="square"/>
                    <a:lstStyle/>
                    <a:p>
                      <a:r>
                        <a:rPr sz="1200" b="0" i="0">
                          <a:solidFill>
                            <a:srgbClr val="222222"/>
                          </a:solidFill>
                          <a:latin typeface="Georgia"/>
                        </a:rPr>
                        <a:t>ppo_graph</a:t>
                      </a:r>
                    </a:p>
                  </a:txBody>
                  <a:tcPr marL="54864" marR="54864" marT="27432" marB="27432" anchor="ctr">
                    <a:solidFill>
                      <a:srgbClr val="FBF1F4"/>
                    </a:solidFill>
                  </a:tcPr>
                </a:tc>
                <a:tc>
                  <a:txBody>
                    <a:bodyPr wrap="square"/>
                    <a:lstStyle/>
                    <a:p>
                      <a:r>
                        <a:rPr sz="1200" b="0" i="0">
                          <a:solidFill>
                            <a:srgbClr val="222222"/>
                          </a:solidFill>
                          <a:latin typeface="Georgia"/>
                        </a:rPr>
                        <a:t>1→2 at +29 s; 3→2, 2→1 later</a:t>
                      </a:r>
                    </a:p>
                  </a:txBody>
                  <a:tcPr marL="54864" marR="54864" marT="27432" marB="27432" anchor="ctr">
                    <a:solidFill>
                      <a:srgbClr val="FBF1F4"/>
                    </a:solidFill>
                  </a:tcPr>
                </a:tc>
                <a:tc>
                  <a:txBody>
                    <a:bodyPr wrap="square"/>
                    <a:lstStyle/>
                    <a:p>
                      <a:r>
                        <a:rPr sz="1200" b="0" i="0">
                          <a:solidFill>
                            <a:srgbClr val="222222"/>
                          </a:solidFill>
                          <a:latin typeface="Georgia"/>
                        </a:rPr>
                        <a:t>1-3 / 3 ready</a:t>
                      </a:r>
                    </a:p>
                  </a:txBody>
                  <a:tcPr marL="54864" marR="54864" marT="27432" marB="27432" anchor="ctr">
                    <a:solidFill>
                      <a:srgbClr val="FBF1F4"/>
                    </a:solidFill>
                  </a:tcPr>
                </a:tc>
              </a:tr>
              <a:tr h="566928">
                <a:tc>
                  <a:txBody>
                    <a:bodyPr wrap="square"/>
                    <a:lstStyle/>
                    <a:p>
                      <a:r>
                        <a:rPr sz="1200" b="0" i="0">
                          <a:solidFill>
                            <a:srgbClr val="222222"/>
                          </a:solidFill>
                          <a:latin typeface="Georgia"/>
                        </a:rPr>
                        <a:t>Auto, SLA risk</a:t>
                      </a:r>
                    </a:p>
                  </a:txBody>
                  <a:tcPr marL="54864" marR="54864" marT="27432" marB="27432" anchor="ctr">
                    <a:solidFill>
                      <a:srgbClr val="FFFFFF"/>
                    </a:solidFill>
                  </a:tcPr>
                </a:tc>
                <a:tc>
                  <a:txBody>
                    <a:bodyPr wrap="square"/>
                    <a:lstStyle/>
                    <a:p>
                      <a:r>
                        <a:rPr sz="1200" b="0" i="0">
                          <a:solidFill>
                            <a:srgbClr val="222222"/>
                          </a:solidFill>
                          <a:latin typeface="Georgia"/>
                        </a:rPr>
                        <a:t>catalog</a:t>
                      </a:r>
                    </a:p>
                  </a:txBody>
                  <a:tcPr marL="54864" marR="54864" marT="27432" marB="27432" anchor="ctr">
                    <a:solidFill>
                      <a:srgbClr val="FFFFFF"/>
                    </a:solidFill>
                  </a:tcPr>
                </a:tc>
                <a:tc>
                  <a:txBody>
                    <a:bodyPr wrap="square"/>
                    <a:lstStyle/>
                    <a:p>
                      <a:r>
                        <a:rPr sz="1200" b="0" i="0">
                          <a:solidFill>
                            <a:srgbClr val="222222"/>
                          </a:solidFill>
                          <a:latin typeface="Georgia"/>
                        </a:rPr>
                        <a:t>FlexaScale 18 · HPA 13</a:t>
                      </a:r>
                    </a:p>
                  </a:txBody>
                  <a:tcPr marL="54864" marR="54864" marT="27432" marB="27432" anchor="ctr">
                    <a:solidFill>
                      <a:srgbClr val="FFFFFF"/>
                    </a:solidFill>
                  </a:tcPr>
                </a:tc>
                <a:tc>
                  <a:txBody>
                    <a:bodyPr wrap="square"/>
                    <a:lstStyle/>
                    <a:p>
                      <a:r>
                        <a:rPr sz="1200" b="0" i="0">
                          <a:solidFill>
                            <a:srgbClr val="222222"/>
                          </a:solidFill>
                          <a:latin typeface="Georgia"/>
                        </a:rPr>
                        <a:t>efficiency 21 · sla_risk 10</a:t>
                      </a:r>
                    </a:p>
                  </a:txBody>
                  <a:tcPr marL="54864" marR="54864" marT="27432" marB="27432" anchor="ctr">
                    <a:solidFill>
                      <a:srgbClr val="FFFFFF"/>
                    </a:solidFill>
                  </a:tcPr>
                </a:tc>
                <a:tc>
                  <a:txBody>
                    <a:bodyPr wrap="square"/>
                    <a:lstStyle/>
                    <a:p>
                      <a:r>
                        <a:rPr sz="1200" b="0" i="0">
                          <a:solidFill>
                            <a:srgbClr val="222222"/>
                          </a:solidFill>
                          <a:latin typeface="Georgia"/>
                        </a:rPr>
                        <a:t>ppo_graph</a:t>
                      </a:r>
                    </a:p>
                  </a:txBody>
                  <a:tcPr marL="54864" marR="54864" marT="27432" marB="27432" anchor="ctr">
                    <a:solidFill>
                      <a:srgbClr val="FFFFFF"/>
                    </a:solidFill>
                  </a:tcPr>
                </a:tc>
                <a:tc>
                  <a:txBody>
                    <a:bodyPr wrap="square"/>
                    <a:lstStyle/>
                    <a:p>
                      <a:r>
                        <a:rPr sz="1200" b="0" i="0">
                          <a:solidFill>
                            <a:srgbClr val="222222"/>
                          </a:solidFill>
                          <a:latin typeface="Georgia"/>
                        </a:rPr>
                        <a:t>3→2 at +229 s; 2→1 at +259 s</a:t>
                      </a:r>
                    </a:p>
                  </a:txBody>
                  <a:tcPr marL="54864" marR="54864" marT="27432" marB="27432" anchor="ctr">
                    <a:solidFill>
                      <a:srgbClr val="FFFFFF"/>
                    </a:solidFill>
                  </a:tcPr>
                </a:tc>
                <a:tc>
                  <a:txBody>
                    <a:bodyPr wrap="square"/>
                    <a:lstStyle/>
                    <a:p>
                      <a:r>
                        <a:rPr sz="1200" b="0" i="0">
                          <a:solidFill>
                            <a:srgbClr val="222222"/>
                          </a:solidFill>
                          <a:latin typeface="Georgia"/>
                        </a:rPr>
                        <a:t>1-3 / 3 ready</a:t>
                      </a:r>
                    </a:p>
                  </a:txBody>
                  <a:tcPr marL="54864" marR="54864" marT="27432" marB="27432" anchor="ctr">
                    <a:solidFill>
                      <a:srgbClr val="FFFFFF"/>
                    </a:solidFill>
                  </a:tcPr>
                </a:tc>
              </a:tr>
              <a:tr h="566928">
                <a:tc>
                  <a:txBody>
                    <a:bodyPr wrap="square"/>
                    <a:lstStyle/>
                    <a:p>
                      <a:r>
                        <a:rPr sz="1200" b="0" i="0">
                          <a:solidFill>
                            <a:srgbClr val="222222"/>
                          </a:solidFill>
                          <a:latin typeface="Georgia"/>
                        </a:rPr>
                        <a:t>Auto, SLA risk</a:t>
                      </a:r>
                    </a:p>
                  </a:txBody>
                  <a:tcPr marL="54864" marR="54864" marT="27432" marB="27432" anchor="ctr">
                    <a:solidFill>
                      <a:srgbClr val="FBF1F4"/>
                    </a:solidFill>
                  </a:tcPr>
                </a:tc>
                <a:tc>
                  <a:txBody>
                    <a:bodyPr wrap="square"/>
                    <a:lstStyle/>
                    <a:p>
                      <a:r>
                        <a:rPr sz="1200" b="0" i="0">
                          <a:solidFill>
                            <a:srgbClr val="222222"/>
                          </a:solidFill>
                          <a:latin typeface="Georgia"/>
                        </a:rPr>
                        <a:t>11 others</a:t>
                      </a:r>
                    </a:p>
                  </a:txBody>
                  <a:tcPr marL="54864" marR="54864" marT="27432" marB="27432" anchor="ctr">
                    <a:solidFill>
                      <a:srgbClr val="FBF1F4"/>
                    </a:solidFill>
                  </a:tcPr>
                </a:tc>
                <a:tc>
                  <a:txBody>
                    <a:bodyPr wrap="square"/>
                    <a:lstStyle/>
                    <a:p>
                      <a:r>
                        <a:rPr sz="1200" b="0" i="0">
                          <a:solidFill>
                            <a:srgbClr val="222222"/>
                          </a:solidFill>
                          <a:latin typeface="Georgia"/>
                        </a:rPr>
                        <a:t>FlexaScale 30 · HPA 1</a:t>
                      </a:r>
                    </a:p>
                  </a:txBody>
                  <a:tcPr marL="54864" marR="54864" marT="27432" marB="27432" anchor="ctr">
                    <a:solidFill>
                      <a:srgbClr val="FBF1F4"/>
                    </a:solidFill>
                  </a:tcPr>
                </a:tc>
                <a:tc>
                  <a:txBody>
                    <a:bodyPr wrap="square"/>
                    <a:lstStyle/>
                    <a:p>
                      <a:r>
                        <a:rPr sz="1200" b="0" i="0">
                          <a:solidFill>
                            <a:srgbClr val="222222"/>
                          </a:solidFill>
                          <a:latin typeface="Georgia"/>
                        </a:rPr>
                        <a:t>efficiency 31</a:t>
                      </a:r>
                    </a:p>
                  </a:txBody>
                  <a:tcPr marL="54864" marR="54864" marT="27432" marB="27432" anchor="ctr">
                    <a:solidFill>
                      <a:srgbClr val="FBF1F4"/>
                    </a:solidFill>
                  </a:tcPr>
                </a:tc>
                <a:tc>
                  <a:txBody>
                    <a:bodyPr wrap="square"/>
                    <a:lstStyle/>
                    <a:p>
                      <a:r>
                        <a:rPr sz="1200" b="0" i="0">
                          <a:solidFill>
                            <a:srgbClr val="222222"/>
                          </a:solidFill>
                          <a:latin typeface="Georgia"/>
                        </a:rPr>
                        <a:t>ppo_graph</a:t>
                      </a:r>
                    </a:p>
                  </a:txBody>
                  <a:tcPr marL="54864" marR="54864" marT="27432" marB="27432" anchor="ctr">
                    <a:solidFill>
                      <a:srgbClr val="FBF1F4"/>
                    </a:solidFill>
                  </a:tcPr>
                </a:tc>
                <a:tc>
                  <a:txBody>
                    <a:bodyPr wrap="square"/>
                    <a:lstStyle/>
                    <a:p>
                      <a:r>
                        <a:rPr sz="1200" b="0" i="0">
                          <a:solidFill>
                            <a:srgbClr val="222222"/>
                          </a:solidFill>
                          <a:latin typeface="Georgia"/>
                        </a:rPr>
                        <a:t>none needed</a:t>
                      </a:r>
                    </a:p>
                  </a:txBody>
                  <a:tcPr marL="54864" marR="54864" marT="27432" marB="27432" anchor="ctr">
                    <a:solidFill>
                      <a:srgbClr val="FBF1F4"/>
                    </a:solidFill>
                  </a:tcPr>
                </a:tc>
                <a:tc>
                  <a:txBody>
                    <a:bodyPr wrap="square"/>
                    <a:lstStyle/>
                    <a:p>
                      <a:r>
                        <a:rPr sz="1200" b="0" i="0">
                          <a:solidFill>
                            <a:srgbClr val="222222"/>
                          </a:solidFill>
                          <a:latin typeface="Georgia"/>
                        </a:rPr>
                        <a:t>1 / 1</a:t>
                      </a:r>
                    </a:p>
                  </a:txBody>
                  <a:tcPr marL="54864" marR="54864" marT="27432" marB="27432" anchor="ctr">
                    <a:solidFill>
                      <a:srgbClr val="FBF1F4"/>
                    </a:solidFill>
                  </a:tcPr>
                </a:tc>
              </a:tr>
            </a:tbl>
          </a:graphicData>
        </a:graphic>
      </p:graphicFrame>
      <p:sp>
        <p:nvSpPr>
          <p:cNvPr id="7" name="Rounded Rectangle 6"/>
          <p:cNvSpPr/>
          <p:nvPr/>
        </p:nvSpPr>
        <p:spPr>
          <a:xfrm>
            <a:off x="566928" y="4343400"/>
            <a:ext cx="2651760" cy="17830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434840"/>
            <a:ext cx="2377440" cy="640080"/>
          </a:xfrm>
          <a:prstGeom prst="rect">
            <a:avLst/>
          </a:prstGeom>
          <a:noFill/>
        </p:spPr>
        <p:txBody>
          <a:bodyPr wrap="square" anchor="t" lIns="36576" rIns="36576" tIns="36576" bIns="36576">
            <a:spAutoFit/>
          </a:bodyPr>
          <a:lstStyle/>
          <a:p>
            <a:pPr algn="l">
              <a:spcAft>
                <a:spcPts val="400"/>
              </a:spcAft>
            </a:pPr>
            <a:r>
              <a:rPr sz="3000" b="1" i="0">
                <a:solidFill>
                  <a:srgbClr val="A4123F"/>
                </a:solidFill>
                <a:latin typeface="Georgia"/>
              </a:rPr>
              <a:t>21 / 31</a:t>
            </a:r>
          </a:p>
        </p:txBody>
      </p:sp>
      <p:sp>
        <p:nvSpPr>
          <p:cNvPr id="9" name="TextBox 8"/>
          <p:cNvSpPr txBox="1"/>
          <p:nvPr/>
        </p:nvSpPr>
        <p:spPr>
          <a:xfrm>
            <a:off x="731520" y="5120640"/>
            <a:ext cx="2377440" cy="91440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steps with mixed ownership (SLA-risk run)</a:t>
            </a:r>
          </a:p>
        </p:txBody>
      </p:sp>
      <p:sp>
        <p:nvSpPr>
          <p:cNvPr id="10" name="Rounded Rectangle 9"/>
          <p:cNvSpPr/>
          <p:nvPr/>
        </p:nvSpPr>
        <p:spPr>
          <a:xfrm>
            <a:off x="3401568" y="4343400"/>
            <a:ext cx="2651760" cy="17830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4434840"/>
            <a:ext cx="2377440" cy="640080"/>
          </a:xfrm>
          <a:prstGeom prst="rect">
            <a:avLst/>
          </a:prstGeom>
          <a:noFill/>
        </p:spPr>
        <p:txBody>
          <a:bodyPr wrap="square" anchor="t" lIns="36576" rIns="36576" tIns="36576" bIns="36576">
            <a:spAutoFit/>
          </a:bodyPr>
          <a:lstStyle/>
          <a:p>
            <a:pPr algn="l">
              <a:spcAft>
                <a:spcPts val="400"/>
              </a:spcAft>
            </a:pPr>
            <a:r>
              <a:rPr sz="3000" b="1" i="0">
                <a:solidFill>
                  <a:srgbClr val="A4123F"/>
                </a:solidFill>
                <a:latin typeface="Georgia"/>
              </a:rPr>
              <a:t>16 → HPA</a:t>
            </a:r>
          </a:p>
        </p:txBody>
      </p:sp>
      <p:sp>
        <p:nvSpPr>
          <p:cNvPr id="12" name="TextBox 11"/>
          <p:cNvSpPr txBox="1"/>
          <p:nvPr/>
        </p:nvSpPr>
        <p:spPr>
          <a:xfrm>
            <a:off x="3566160" y="5120640"/>
            <a:ext cx="2377440" cy="91440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in the same step when Prometheus was cut</a:t>
            </a:r>
          </a:p>
        </p:txBody>
      </p:sp>
      <p:sp>
        <p:nvSpPr>
          <p:cNvPr id="13" name="Rounded Rectangle 12"/>
          <p:cNvSpPr/>
          <p:nvPr/>
        </p:nvSpPr>
        <p:spPr>
          <a:xfrm>
            <a:off x="6236208" y="4343400"/>
            <a:ext cx="2651760" cy="17830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434840"/>
            <a:ext cx="2377440" cy="640080"/>
          </a:xfrm>
          <a:prstGeom prst="rect">
            <a:avLst/>
          </a:prstGeom>
          <a:noFill/>
        </p:spPr>
        <p:txBody>
          <a:bodyPr wrap="square" anchor="t" lIns="36576" rIns="36576" tIns="36576" bIns="36576">
            <a:spAutoFit/>
          </a:bodyPr>
          <a:lstStyle/>
          <a:p>
            <a:pPr algn="l">
              <a:spcAft>
                <a:spcPts val="400"/>
              </a:spcAft>
            </a:pPr>
            <a:r>
              <a:rPr sz="3000" b="1" i="0">
                <a:solidFill>
                  <a:srgbClr val="A4123F"/>
                </a:solidFill>
                <a:latin typeface="Georgia"/>
              </a:rPr>
              <a:t>+1 s</a:t>
            </a:r>
          </a:p>
        </p:txBody>
      </p:sp>
      <p:sp>
        <p:nvSpPr>
          <p:cNvPr id="15" name="TextBox 14"/>
          <p:cNvSpPr txBox="1"/>
          <p:nvPr/>
        </p:nvSpPr>
        <p:spPr>
          <a:xfrm>
            <a:off x="6400800" y="5120640"/>
            <a:ext cx="2377440" cy="91440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watchdog restored all HPAs after SIGKILL</a:t>
            </a:r>
          </a:p>
        </p:txBody>
      </p:sp>
      <p:sp>
        <p:nvSpPr>
          <p:cNvPr id="16" name="Rounded Rectangle 15"/>
          <p:cNvSpPr/>
          <p:nvPr/>
        </p:nvSpPr>
        <p:spPr>
          <a:xfrm>
            <a:off x="9070848" y="4343400"/>
            <a:ext cx="2651760" cy="178308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4434840"/>
            <a:ext cx="2377440" cy="640080"/>
          </a:xfrm>
          <a:prstGeom prst="rect">
            <a:avLst/>
          </a:prstGeom>
          <a:noFill/>
        </p:spPr>
        <p:txBody>
          <a:bodyPr wrap="square" anchor="t" lIns="36576" rIns="36576" tIns="36576" bIns="36576">
            <a:spAutoFit/>
          </a:bodyPr>
          <a:lstStyle/>
          <a:p>
            <a:pPr algn="l">
              <a:spcAft>
                <a:spcPts val="400"/>
              </a:spcAft>
            </a:pPr>
            <a:r>
              <a:rPr sz="3000" b="1" i="0">
                <a:solidFill>
                  <a:srgbClr val="A4123F"/>
                </a:solidFill>
                <a:latin typeface="Georgia"/>
              </a:rPr>
              <a:t>0</a:t>
            </a:r>
          </a:p>
        </p:txBody>
      </p:sp>
      <p:sp>
        <p:nvSpPr>
          <p:cNvPr id="18" name="TextBox 17"/>
          <p:cNvSpPr txBox="1"/>
          <p:nvPr/>
        </p:nvSpPr>
        <p:spPr>
          <a:xfrm>
            <a:off x="9235440" y="5120640"/>
            <a:ext cx="2377440" cy="91440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exclusivity violations in 9 runs</a:t>
            </a:r>
          </a:p>
        </p:txBody>
      </p:sp>
    </p:spTree>
    <p:extLst>
      <p:ext uri="{BB962C8B-B14F-4D97-AF65-F5344CB8AC3E}">
        <p14:creationId xmlns:p14="http://schemas.microsoft.com/office/powerpoint/2010/main" val="2911321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325E74-F795-C0F9-3A2C-B5BA1881CE63}"/>
              </a:ext>
            </a:extLst>
          </p:cNvPr>
          <p:cNvSpPr>
            <a:spLocks noGrp="1"/>
          </p:cNvSpPr>
          <p:nvPr>
            <p:ph type="title"/>
          </p:nvPr>
        </p:nvSpPr>
        <p:spPr>
          <a:xfrm>
            <a:off x="566928" y="347472"/>
            <a:ext cx="11210544" cy="466344"/>
          </a:xfrm>
        </p:spPr>
        <p:txBody>
          <a:bodyPr/>
          <a:lstStyle/>
          <a:p>
            <a:r>
              <a:rPr lang="en-IN" dirty="0"/>
              <a:t>Results and Analysis</a:t>
            </a:r>
          </a:p>
        </p:txBody>
      </p:sp>
      <p:sp>
        <p:nvSpPr>
          <p:cNvPr id="4" name="Slide Number Placeholder 3">
            <a:extLst>
              <a:ext uri="{FF2B5EF4-FFF2-40B4-BE49-F238E27FC236}">
                <a16:creationId xmlns:a16="http://schemas.microsoft.com/office/drawing/2014/main" id="{F774A97C-2EA8-BF5C-75BA-97D4C3FF6D56}"/>
              </a:ext>
            </a:extLst>
          </p:cNvPr>
          <p:cNvSpPr>
            <a:spLocks noGrp="1"/>
          </p:cNvSpPr>
          <p:nvPr>
            <p:ph type="sldNum" sz="quarter" idx="12"/>
          </p:nvPr>
        </p:nvSpPr>
        <p:spPr/>
        <p:txBody>
          <a:bodyPr/>
          <a:lstStyle/>
          <a:p>
            <a:fld id="{330EA680-D336-4FF7-8B7A-9848BB0A1C32}" type="slidenum">
              <a:rPr lang="en-US" smtClean="0"/>
              <a:pPr/>
              <a:t>12</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Pre-registered evaluation (46 valid runs, second laptop)</a:t>
            </a:r>
          </a:p>
        </p:txBody>
      </p:sp>
      <p:graphicFrame>
        <p:nvGraphicFramePr>
          <p:cNvPr id="6" name="Table 5"/>
          <p:cNvGraphicFramePr>
            <a:graphicFrameLocks noGrp="1"/>
          </p:cNvGraphicFramePr>
          <p:nvPr/>
        </p:nvGraphicFramePr>
        <p:xfrm>
          <a:off x="566928" y="1325880"/>
          <a:ext cx="8595360" cy="3072384"/>
        </p:xfrm>
        <a:graphic>
          <a:graphicData uri="http://schemas.openxmlformats.org/drawingml/2006/table">
            <a:tbl>
              <a:tblPr firstRow="0" bandRow="0">
                <a:tableStyleId>{5C22544A-7EE6-4342-B048-85BDC9FD1C3A}</a:tableStyleId>
              </a:tblPr>
              <a:tblGrid>
                <a:gridCol w="2697480"/>
                <a:gridCol w="640080"/>
                <a:gridCol w="2011680"/>
                <a:gridCol w="2057400"/>
                <a:gridCol w="1188720"/>
              </a:tblGrid>
              <a:tr h="512064">
                <a:tc>
                  <a:txBody>
                    <a:bodyPr wrap="square"/>
                    <a:lstStyle/>
                    <a:p>
                      <a:r>
                        <a:rPr sz="1200" b="1" i="0">
                          <a:solidFill>
                            <a:srgbClr val="FFFFFF"/>
                          </a:solidFill>
                          <a:latin typeface="Georgia"/>
                        </a:rPr>
                        <a:t>Comparison</a:t>
                      </a:r>
                    </a:p>
                  </a:txBody>
                  <a:tcPr marL="54864" marR="54864" marT="27432" marB="27432" anchor="ctr">
                    <a:solidFill>
                      <a:srgbClr val="A4123F"/>
                    </a:solidFill>
                  </a:tcPr>
                </a:tc>
                <a:tc>
                  <a:txBody>
                    <a:bodyPr wrap="square"/>
                    <a:lstStyle/>
                    <a:p>
                      <a:r>
                        <a:rPr sz="1200" b="1" i="0">
                          <a:solidFill>
                            <a:srgbClr val="FFFFFF"/>
                          </a:solidFill>
                          <a:latin typeface="Georgia"/>
                        </a:rPr>
                        <a:t>Pairs</a:t>
                      </a:r>
                    </a:p>
                  </a:txBody>
                  <a:tcPr marL="54864" marR="54864" marT="27432" marB="27432" anchor="ctr">
                    <a:solidFill>
                      <a:srgbClr val="A4123F"/>
                    </a:solidFill>
                  </a:tcPr>
                </a:tc>
                <a:tc>
                  <a:txBody>
                    <a:bodyPr wrap="square"/>
                    <a:lstStyle/>
                    <a:p>
                      <a:r>
                        <a:rPr sz="1200" b="1" i="0">
                          <a:solidFill>
                            <a:srgbClr val="FFFFFF"/>
                          </a:solidFill>
                          <a:latin typeface="Georgia"/>
                        </a:rPr>
                        <a:t>Replica-hours Δ [95% CI]</a:t>
                      </a:r>
                    </a:p>
                  </a:txBody>
                  <a:tcPr marL="54864" marR="54864" marT="27432" marB="27432" anchor="ctr">
                    <a:solidFill>
                      <a:srgbClr val="A4123F"/>
                    </a:solidFill>
                  </a:tcPr>
                </a:tc>
                <a:tc>
                  <a:txBody>
                    <a:bodyPr wrap="square"/>
                    <a:lstStyle/>
                    <a:p>
                      <a:r>
                        <a:rPr sz="1200" b="1" i="0">
                          <a:solidFill>
                            <a:srgbClr val="FFFFFF"/>
                          </a:solidFill>
                          <a:latin typeface="Georgia"/>
                        </a:rPr>
                        <a:t>p95 Δ [95% CI]</a:t>
                      </a:r>
                    </a:p>
                  </a:txBody>
                  <a:tcPr marL="54864" marR="54864" marT="27432" marB="27432" anchor="ctr">
                    <a:solidFill>
                      <a:srgbClr val="A4123F"/>
                    </a:solidFill>
                  </a:tcPr>
                </a:tc>
                <a:tc>
                  <a:txBody>
                    <a:bodyPr wrap="square"/>
                    <a:lstStyle/>
                    <a:p>
                      <a:r>
                        <a:rPr sz="1200" b="1" i="0">
                          <a:solidFill>
                            <a:srgbClr val="FFFFFF"/>
                          </a:solidFill>
                          <a:latin typeface="Georgia"/>
                        </a:rPr>
                        <a:t>Verdict</a:t>
                      </a:r>
                    </a:p>
                  </a:txBody>
                  <a:tcPr marL="54864" marR="54864" marT="27432" marB="27432" anchor="ctr">
                    <a:solidFill>
                      <a:srgbClr val="A4123F"/>
                    </a:solidFill>
                  </a:tcPr>
                </a:tc>
              </a:tr>
              <a:tr h="512064">
                <a:tc>
                  <a:txBody>
                    <a:bodyPr wrap="square"/>
                    <a:lstStyle/>
                    <a:p>
                      <a:r>
                        <a:rPr sz="1200" b="0" i="0">
                          <a:solidFill>
                            <a:srgbClr val="222222"/>
                          </a:solidFill>
                          <a:latin typeface="Georgia"/>
                        </a:rPr>
                        <a:t>Tuned HPA vs default HPA</a:t>
                      </a:r>
                    </a:p>
                  </a:txBody>
                  <a:tcPr marL="54864" marR="54864" marT="27432" marB="27432" anchor="ctr">
                    <a:solidFill>
                      <a:srgbClr val="FFFFFF"/>
                    </a:solidFill>
                  </a:tcPr>
                </a:tc>
                <a:tc>
                  <a:txBody>
                    <a:bodyPr wrap="square"/>
                    <a:lstStyle/>
                    <a:p>
                      <a:r>
                        <a:rPr sz="1200" b="0" i="0">
                          <a:solidFill>
                            <a:srgbClr val="222222"/>
                          </a:solidFill>
                          <a:latin typeface="Georgia"/>
                        </a:rPr>
                        <a:t>12</a:t>
                      </a:r>
                    </a:p>
                  </a:txBody>
                  <a:tcPr marL="54864" marR="54864" marT="27432" marB="27432" anchor="ctr">
                    <a:solidFill>
                      <a:srgbClr val="FFFFFF"/>
                    </a:solidFill>
                  </a:tcPr>
                </a:tc>
                <a:tc>
                  <a:txBody>
                    <a:bodyPr wrap="square"/>
                    <a:lstStyle/>
                    <a:p>
                      <a:r>
                        <a:rPr sz="1200" b="0" i="0">
                          <a:solidFill>
                            <a:srgbClr val="222222"/>
                          </a:solidFill>
                          <a:latin typeface="Georgia"/>
                        </a:rPr>
                        <a:t>−9.0% [−13.9, −4.1]</a:t>
                      </a:r>
                    </a:p>
                  </a:txBody>
                  <a:tcPr marL="54864" marR="54864" marT="27432" marB="27432" anchor="ctr">
                    <a:solidFill>
                      <a:srgbClr val="EAF4EF"/>
                    </a:solidFill>
                  </a:tcPr>
                </a:tc>
                <a:tc>
                  <a:txBody>
                    <a:bodyPr wrap="square"/>
                    <a:lstStyle/>
                    <a:p>
                      <a:r>
                        <a:rPr sz="1200" b="0" i="0">
                          <a:solidFill>
                            <a:srgbClr val="222222"/>
                          </a:solidFill>
                          <a:latin typeface="Georgia"/>
                        </a:rPr>
                        <a:t>−10.7% [−27.5, +6.1]</a:t>
                      </a:r>
                    </a:p>
                  </a:txBody>
                  <a:tcPr marL="54864" marR="54864" marT="27432" marB="27432" anchor="ctr">
                    <a:solidFill>
                      <a:srgbClr val="FFFFFF"/>
                    </a:solidFill>
                  </a:tcPr>
                </a:tc>
                <a:tc>
                  <a:txBody>
                    <a:bodyPr wrap="square"/>
                    <a:lstStyle/>
                    <a:p>
                      <a:r>
                        <a:rPr sz="1200" b="0" i="0">
                          <a:solidFill>
                            <a:srgbClr val="222222"/>
                          </a:solidFill>
                          <a:latin typeface="Georgia"/>
                        </a:rPr>
                        <a:t>Beats on cost</a:t>
                      </a:r>
                    </a:p>
                  </a:txBody>
                  <a:tcPr marL="54864" marR="54864" marT="27432" marB="27432" anchor="ctr">
                    <a:solidFill>
                      <a:srgbClr val="FFFFFF"/>
                    </a:solidFill>
                  </a:tcPr>
                </a:tc>
              </a:tr>
              <a:tr h="512064">
                <a:tc>
                  <a:txBody>
                    <a:bodyPr wrap="square"/>
                    <a:lstStyle/>
                    <a:p>
                      <a:r>
                        <a:rPr sz="1200" b="0" i="0">
                          <a:solidFill>
                            <a:srgbClr val="222222"/>
                          </a:solidFill>
                          <a:latin typeface="Georgia"/>
                        </a:rPr>
                        <a:t>FlexaScale RL vs default HPA</a:t>
                      </a:r>
                    </a:p>
                  </a:txBody>
                  <a:tcPr marL="54864" marR="54864" marT="27432" marB="27432" anchor="ctr">
                    <a:solidFill>
                      <a:srgbClr val="FBF1F4"/>
                    </a:solidFill>
                  </a:tcPr>
                </a:tc>
                <a:tc>
                  <a:txBody>
                    <a:bodyPr wrap="square"/>
                    <a:lstStyle/>
                    <a:p>
                      <a:r>
                        <a:rPr sz="1200" b="0" i="0">
                          <a:solidFill>
                            <a:srgbClr val="222222"/>
                          </a:solidFill>
                          <a:latin typeface="Georgia"/>
                        </a:rPr>
                        <a:t>11</a:t>
                      </a:r>
                    </a:p>
                  </a:txBody>
                  <a:tcPr marL="54864" marR="54864" marT="27432" marB="27432" anchor="ctr">
                    <a:solidFill>
                      <a:srgbClr val="FBF1F4"/>
                    </a:solidFill>
                  </a:tcPr>
                </a:tc>
                <a:tc>
                  <a:txBody>
                    <a:bodyPr wrap="square"/>
                    <a:lstStyle/>
                    <a:p>
                      <a:r>
                        <a:rPr sz="1200" b="0" i="0">
                          <a:solidFill>
                            <a:srgbClr val="222222"/>
                          </a:solidFill>
                          <a:latin typeface="Georgia"/>
                        </a:rPr>
                        <a:t>−7.3% [−11.5, −3.2]</a:t>
                      </a:r>
                    </a:p>
                  </a:txBody>
                  <a:tcPr marL="54864" marR="54864" marT="27432" marB="27432" anchor="ctr">
                    <a:solidFill>
                      <a:srgbClr val="EAF4EF"/>
                    </a:solidFill>
                  </a:tcPr>
                </a:tc>
                <a:tc>
                  <a:txBody>
                    <a:bodyPr wrap="square"/>
                    <a:lstStyle/>
                    <a:p>
                      <a:r>
                        <a:rPr sz="1200" b="0" i="0">
                          <a:solidFill>
                            <a:srgbClr val="222222"/>
                          </a:solidFill>
                          <a:latin typeface="Georgia"/>
                        </a:rPr>
                        <a:t>+53.5% [−49.4, +156.4]</a:t>
                      </a:r>
                    </a:p>
                  </a:txBody>
                  <a:tcPr marL="54864" marR="54864" marT="27432" marB="27432" anchor="ctr">
                    <a:solidFill>
                      <a:srgbClr val="FBF1F4"/>
                    </a:solidFill>
                  </a:tcPr>
                </a:tc>
                <a:tc>
                  <a:txBody>
                    <a:bodyPr wrap="square"/>
                    <a:lstStyle/>
                    <a:p>
                      <a:r>
                        <a:rPr sz="1200" b="0" i="0">
                          <a:solidFill>
                            <a:srgbClr val="222222"/>
                          </a:solidFill>
                          <a:latin typeface="Georgia"/>
                        </a:rPr>
                        <a:t>On par</a:t>
                      </a:r>
                    </a:p>
                  </a:txBody>
                  <a:tcPr marL="54864" marR="54864" marT="27432" marB="27432" anchor="ctr">
                    <a:solidFill>
                      <a:srgbClr val="FBF1F4"/>
                    </a:solidFill>
                  </a:tcPr>
                </a:tc>
              </a:tr>
              <a:tr h="512064">
                <a:tc>
                  <a:txBody>
                    <a:bodyPr wrap="square"/>
                    <a:lstStyle/>
                    <a:p>
                      <a:r>
                        <a:rPr sz="1200" b="0" i="0">
                          <a:solidFill>
                            <a:srgbClr val="222222"/>
                          </a:solidFill>
                          <a:latin typeface="Georgia"/>
                        </a:rPr>
                        <a:t>FlexaScale Auto vs default HPA</a:t>
                      </a:r>
                    </a:p>
                  </a:txBody>
                  <a:tcPr marL="54864" marR="54864" marT="27432" marB="27432" anchor="ctr">
                    <a:solidFill>
                      <a:srgbClr val="FFFFFF"/>
                    </a:solidFill>
                  </a:tcPr>
                </a:tc>
                <a:tc>
                  <a:txBody>
                    <a:bodyPr wrap="square"/>
                    <a:lstStyle/>
                    <a:p>
                      <a:r>
                        <a:rPr sz="1200" b="0" i="0">
                          <a:solidFill>
                            <a:srgbClr val="222222"/>
                          </a:solidFill>
                          <a:latin typeface="Georgia"/>
                        </a:rPr>
                        <a:t>11</a:t>
                      </a:r>
                    </a:p>
                  </a:txBody>
                  <a:tcPr marL="54864" marR="54864" marT="27432" marB="27432" anchor="ctr">
                    <a:solidFill>
                      <a:srgbClr val="FFFFFF"/>
                    </a:solidFill>
                  </a:tcPr>
                </a:tc>
                <a:tc>
                  <a:txBody>
                    <a:bodyPr wrap="square"/>
                    <a:lstStyle/>
                    <a:p>
                      <a:r>
                        <a:rPr sz="1200" b="0" i="0">
                          <a:solidFill>
                            <a:srgbClr val="222222"/>
                          </a:solidFill>
                          <a:latin typeface="Georgia"/>
                        </a:rPr>
                        <a:t>−7.7% [−12.3, −3.2]</a:t>
                      </a:r>
                    </a:p>
                  </a:txBody>
                  <a:tcPr marL="54864" marR="54864" marT="27432" marB="27432" anchor="ctr">
                    <a:solidFill>
                      <a:srgbClr val="EAF4EF"/>
                    </a:solidFill>
                  </a:tcPr>
                </a:tc>
                <a:tc>
                  <a:txBody>
                    <a:bodyPr wrap="square"/>
                    <a:lstStyle/>
                    <a:p>
                      <a:r>
                        <a:rPr sz="1200" b="0" i="0">
                          <a:solidFill>
                            <a:srgbClr val="222222"/>
                          </a:solidFill>
                          <a:latin typeface="Georgia"/>
                        </a:rPr>
                        <a:t>+17.6% [−6.0, +41.2]</a:t>
                      </a:r>
                    </a:p>
                  </a:txBody>
                  <a:tcPr marL="54864" marR="54864" marT="27432" marB="27432" anchor="ctr">
                    <a:solidFill>
                      <a:srgbClr val="FFFFFF"/>
                    </a:solidFill>
                  </a:tcPr>
                </a:tc>
                <a:tc>
                  <a:txBody>
                    <a:bodyPr wrap="square"/>
                    <a:lstStyle/>
                    <a:p>
                      <a:r>
                        <a:rPr sz="1200" b="0" i="0">
                          <a:solidFill>
                            <a:srgbClr val="222222"/>
                          </a:solidFill>
                          <a:latin typeface="Georgia"/>
                        </a:rPr>
                        <a:t>On par</a:t>
                      </a:r>
                    </a:p>
                  </a:txBody>
                  <a:tcPr marL="54864" marR="54864" marT="27432" marB="27432" anchor="ctr">
                    <a:solidFill>
                      <a:srgbClr val="FFFFFF"/>
                    </a:solidFill>
                  </a:tcPr>
                </a:tc>
              </a:tr>
              <a:tr h="512064">
                <a:tc>
                  <a:txBody>
                    <a:bodyPr wrap="square"/>
                    <a:lstStyle/>
                    <a:p>
                      <a:r>
                        <a:rPr sz="1200" b="0" i="0">
                          <a:solidFill>
                            <a:srgbClr val="222222"/>
                          </a:solidFill>
                          <a:latin typeface="Georgia"/>
                        </a:rPr>
                        <a:t>FlexaScale RL vs tuned HPA</a:t>
                      </a:r>
                    </a:p>
                  </a:txBody>
                  <a:tcPr marL="54864" marR="54864" marT="27432" marB="27432" anchor="ctr">
                    <a:solidFill>
                      <a:srgbClr val="FBF1F4"/>
                    </a:solidFill>
                  </a:tcPr>
                </a:tc>
                <a:tc>
                  <a:txBody>
                    <a:bodyPr wrap="square"/>
                    <a:lstStyle/>
                    <a:p>
                      <a:r>
                        <a:rPr sz="1200" b="0" i="0">
                          <a:solidFill>
                            <a:srgbClr val="222222"/>
                          </a:solidFill>
                          <a:latin typeface="Georgia"/>
                        </a:rPr>
                        <a:t>11</a:t>
                      </a:r>
                    </a:p>
                  </a:txBody>
                  <a:tcPr marL="54864" marR="54864" marT="27432" marB="27432" anchor="ctr">
                    <a:solidFill>
                      <a:srgbClr val="FBF1F4"/>
                    </a:solidFill>
                  </a:tcPr>
                </a:tc>
                <a:tc>
                  <a:txBody>
                    <a:bodyPr wrap="square"/>
                    <a:lstStyle/>
                    <a:p>
                      <a:r>
                        <a:rPr sz="1200" b="0" i="0">
                          <a:solidFill>
                            <a:srgbClr val="222222"/>
                          </a:solidFill>
                          <a:latin typeface="Georgia"/>
                        </a:rPr>
                        <a:t>+0.3% [−0.2, +0.7]</a:t>
                      </a:r>
                    </a:p>
                  </a:txBody>
                  <a:tcPr marL="54864" marR="54864" marT="27432" marB="27432" anchor="ctr">
                    <a:solidFill>
                      <a:srgbClr val="FBF1F4"/>
                    </a:solidFill>
                  </a:tcPr>
                </a:tc>
                <a:tc>
                  <a:txBody>
                    <a:bodyPr wrap="square"/>
                    <a:lstStyle/>
                    <a:p>
                      <a:r>
                        <a:rPr sz="1200" b="0" i="0">
                          <a:solidFill>
                            <a:srgbClr val="222222"/>
                          </a:solidFill>
                          <a:latin typeface="Georgia"/>
                        </a:rPr>
                        <a:t>+155% [−165, +475]</a:t>
                      </a:r>
                    </a:p>
                  </a:txBody>
                  <a:tcPr marL="54864" marR="54864" marT="27432" marB="27432" anchor="ctr">
                    <a:solidFill>
                      <a:srgbClr val="FBF1F4"/>
                    </a:solidFill>
                  </a:tcPr>
                </a:tc>
                <a:tc>
                  <a:txBody>
                    <a:bodyPr wrap="square"/>
                    <a:lstStyle/>
                    <a:p>
                      <a:r>
                        <a:rPr sz="1200" b="0" i="0">
                          <a:solidFill>
                            <a:srgbClr val="222222"/>
                          </a:solidFill>
                          <a:latin typeface="Georgia"/>
                        </a:rPr>
                        <a:t>On par</a:t>
                      </a:r>
                    </a:p>
                  </a:txBody>
                  <a:tcPr marL="54864" marR="54864" marT="27432" marB="27432" anchor="ctr">
                    <a:solidFill>
                      <a:srgbClr val="FBF1F4"/>
                    </a:solidFill>
                  </a:tcPr>
                </a:tc>
              </a:tr>
              <a:tr h="512064">
                <a:tc>
                  <a:txBody>
                    <a:bodyPr wrap="square"/>
                    <a:lstStyle/>
                    <a:p>
                      <a:r>
                        <a:rPr sz="1200" b="0" i="0">
                          <a:solidFill>
                            <a:srgbClr val="222222"/>
                          </a:solidFill>
                          <a:latin typeface="Georgia"/>
                        </a:rPr>
                        <a:t>FlexaScale Auto vs tuned HPA</a:t>
                      </a:r>
                    </a:p>
                  </a:txBody>
                  <a:tcPr marL="54864" marR="54864" marT="27432" marB="27432" anchor="ctr">
                    <a:solidFill>
                      <a:srgbClr val="FFFFFF"/>
                    </a:solidFill>
                  </a:tcPr>
                </a:tc>
                <a:tc>
                  <a:txBody>
                    <a:bodyPr wrap="square"/>
                    <a:lstStyle/>
                    <a:p>
                      <a:r>
                        <a:rPr sz="1200" b="0" i="0">
                          <a:solidFill>
                            <a:srgbClr val="222222"/>
                          </a:solidFill>
                          <a:latin typeface="Georgia"/>
                        </a:rPr>
                        <a:t>11</a:t>
                      </a:r>
                    </a:p>
                  </a:txBody>
                  <a:tcPr marL="54864" marR="54864" marT="27432" marB="27432" anchor="ctr">
                    <a:solidFill>
                      <a:srgbClr val="FFFFFF"/>
                    </a:solidFill>
                  </a:tcPr>
                </a:tc>
                <a:tc>
                  <a:txBody>
                    <a:bodyPr wrap="square"/>
                    <a:lstStyle/>
                    <a:p>
                      <a:r>
                        <a:rPr sz="1200" b="0" i="0">
                          <a:solidFill>
                            <a:srgbClr val="222222"/>
                          </a:solidFill>
                          <a:latin typeface="Georgia"/>
                        </a:rPr>
                        <a:t>+0.2% [−0.2, +0.5]</a:t>
                      </a:r>
                    </a:p>
                  </a:txBody>
                  <a:tcPr marL="54864" marR="54864" marT="27432" marB="27432" anchor="ctr">
                    <a:solidFill>
                      <a:srgbClr val="FFFFFF"/>
                    </a:solidFill>
                  </a:tcPr>
                </a:tc>
                <a:tc>
                  <a:txBody>
                    <a:bodyPr wrap="square"/>
                    <a:lstStyle/>
                    <a:p>
                      <a:r>
                        <a:rPr sz="1200" b="0" i="0">
                          <a:solidFill>
                            <a:srgbClr val="222222"/>
                          </a:solidFill>
                          <a:latin typeface="Georgia"/>
                        </a:rPr>
                        <a:t>+41.5% [−22.6, +105.7]</a:t>
                      </a:r>
                    </a:p>
                  </a:txBody>
                  <a:tcPr marL="54864" marR="54864" marT="27432" marB="27432" anchor="ctr">
                    <a:solidFill>
                      <a:srgbClr val="FFFFFF"/>
                    </a:solidFill>
                  </a:tcPr>
                </a:tc>
                <a:tc>
                  <a:txBody>
                    <a:bodyPr wrap="square"/>
                    <a:lstStyle/>
                    <a:p>
                      <a:r>
                        <a:rPr sz="1200" b="0" i="0">
                          <a:solidFill>
                            <a:srgbClr val="222222"/>
                          </a:solidFill>
                          <a:latin typeface="Georgia"/>
                        </a:rPr>
                        <a:t>On par</a:t>
                      </a:r>
                    </a:p>
                  </a:txBody>
                  <a:tcPr marL="54864" marR="54864" marT="27432" marB="27432" anchor="ctr">
                    <a:solidFill>
                      <a:srgbClr val="FFFFFF"/>
                    </a:solidFill>
                  </a:tcPr>
                </a:tc>
              </a:tr>
            </a:tbl>
          </a:graphicData>
        </a:graphic>
      </p:graphicFrame>
      <p:graphicFrame>
        <p:nvGraphicFramePr>
          <p:cNvPr id="7" name="Chart 6"/>
          <p:cNvGraphicFramePr>
            <a:graphicFrameLocks noGrp="1"/>
          </p:cNvGraphicFramePr>
          <p:nvPr/>
        </p:nvGraphicFramePr>
        <p:xfrm>
          <a:off x="566928" y="4526280"/>
          <a:ext cx="8595360" cy="1691640"/>
        </p:xfrm>
        <a:graphic>
          <a:graphicData uri="http://schemas.openxmlformats.org/drawingml/2006/chart">
            <c:chart xmlns:c="http://schemas.openxmlformats.org/drawingml/2006/chart" r:id="rId2"/>
          </a:graphicData>
        </a:graphic>
      </p:graphicFrame>
      <p:sp>
        <p:nvSpPr>
          <p:cNvPr id="8" name="TextBox 7"/>
          <p:cNvSpPr txBox="1"/>
          <p:nvPr/>
        </p:nvSpPr>
        <p:spPr>
          <a:xfrm>
            <a:off x="9418320" y="1325880"/>
            <a:ext cx="2359152" cy="365760"/>
          </a:xfrm>
          <a:prstGeom prst="rect">
            <a:avLst/>
          </a:prstGeom>
          <a:noFill/>
        </p:spPr>
        <p:txBody>
          <a:bodyPr wrap="square" anchor="t" lIns="36576" rIns="36576" tIns="36576" bIns="36576">
            <a:spAutoFit/>
          </a:bodyPr>
          <a:lstStyle/>
          <a:p>
            <a:pPr algn="l">
              <a:spcAft>
                <a:spcPts val="400"/>
              </a:spcAft>
            </a:pPr>
            <a:r>
              <a:rPr sz="1600" b="1" i="0">
                <a:solidFill>
                  <a:srgbClr val="A4123F"/>
                </a:solidFill>
                <a:latin typeface="Georgia"/>
              </a:rPr>
              <a:t>Key result</a:t>
            </a:r>
          </a:p>
        </p:txBody>
      </p:sp>
      <p:sp>
        <p:nvSpPr>
          <p:cNvPr id="9" name="TextBox 8"/>
          <p:cNvSpPr txBox="1"/>
          <p:nvPr/>
        </p:nvSpPr>
        <p:spPr>
          <a:xfrm>
            <a:off x="9418320" y="1783080"/>
            <a:ext cx="2359152" cy="566928"/>
          </a:xfrm>
          <a:prstGeom prst="rect">
            <a:avLst/>
          </a:prstGeom>
          <a:noFill/>
        </p:spPr>
        <p:txBody>
          <a:bodyPr wrap="square" anchor="t" lIns="36576" rIns="36576" tIns="36576" bIns="36576">
            <a:spAutoFit/>
          </a:bodyPr>
          <a:lstStyle/>
          <a:p>
            <a:pPr algn="l">
              <a:spcAft>
                <a:spcPts val="400"/>
              </a:spcAft>
            </a:pPr>
            <a:r>
              <a:rPr sz="3400" b="1" i="0">
                <a:solidFill>
                  <a:srgbClr val="A4123F"/>
                </a:solidFill>
                <a:latin typeface="Georgia"/>
              </a:rPr>
              <a:t>−7.7%</a:t>
            </a:r>
          </a:p>
        </p:txBody>
      </p:sp>
      <p:sp>
        <p:nvSpPr>
          <p:cNvPr id="10" name="TextBox 9"/>
          <p:cNvSpPr txBox="1"/>
          <p:nvPr/>
        </p:nvSpPr>
        <p:spPr>
          <a:xfrm>
            <a:off x="9418320" y="2386584"/>
            <a:ext cx="2359152" cy="566928"/>
          </a:xfrm>
          <a:prstGeom prst="rect">
            <a:avLst/>
          </a:prstGeom>
          <a:noFill/>
        </p:spPr>
        <p:txBody>
          <a:bodyPr wrap="square" anchor="t" lIns="36576" rIns="36576" tIns="36576" bIns="36576">
            <a:spAutoFit/>
          </a:bodyPr>
          <a:lstStyle/>
          <a:p>
            <a:pPr algn="l">
              <a:spcAft>
                <a:spcPts val="400"/>
              </a:spcAft>
            </a:pPr>
            <a:r>
              <a:rPr sz="1200" b="0" i="0">
                <a:solidFill>
                  <a:srgbClr val="5F6670"/>
                </a:solidFill>
                <a:latin typeface="Georgia"/>
              </a:rPr>
              <a:t>replica-hours vs default HPA (Auto), CI below 0</a:t>
            </a:r>
          </a:p>
        </p:txBody>
      </p:sp>
      <p:sp>
        <p:nvSpPr>
          <p:cNvPr id="11" name="TextBox 10"/>
          <p:cNvSpPr txBox="1"/>
          <p:nvPr/>
        </p:nvSpPr>
        <p:spPr>
          <a:xfrm>
            <a:off x="9418320" y="3154680"/>
            <a:ext cx="2359152" cy="566928"/>
          </a:xfrm>
          <a:prstGeom prst="rect">
            <a:avLst/>
          </a:prstGeom>
          <a:noFill/>
        </p:spPr>
        <p:txBody>
          <a:bodyPr wrap="square" anchor="t" lIns="36576" rIns="36576" tIns="36576" bIns="36576">
            <a:spAutoFit/>
          </a:bodyPr>
          <a:lstStyle/>
          <a:p>
            <a:pPr algn="l">
              <a:spcAft>
                <a:spcPts val="400"/>
              </a:spcAft>
            </a:pPr>
            <a:r>
              <a:rPr sz="3400" b="1" i="0">
                <a:solidFill>
                  <a:srgbClr val="A4123F"/>
                </a:solidFill>
                <a:latin typeface="Georgia"/>
              </a:rPr>
              <a:t>≈ 0%</a:t>
            </a:r>
          </a:p>
        </p:txBody>
      </p:sp>
      <p:sp>
        <p:nvSpPr>
          <p:cNvPr id="12" name="TextBox 11"/>
          <p:cNvSpPr txBox="1"/>
          <p:nvPr/>
        </p:nvSpPr>
        <p:spPr>
          <a:xfrm>
            <a:off x="9418320" y="3758184"/>
            <a:ext cx="2359152" cy="566928"/>
          </a:xfrm>
          <a:prstGeom prst="rect">
            <a:avLst/>
          </a:prstGeom>
          <a:noFill/>
        </p:spPr>
        <p:txBody>
          <a:bodyPr wrap="square" anchor="t" lIns="36576" rIns="36576" tIns="36576" bIns="36576">
            <a:spAutoFit/>
          </a:bodyPr>
          <a:lstStyle/>
          <a:p>
            <a:pPr algn="l">
              <a:spcAft>
                <a:spcPts val="400"/>
              </a:spcAft>
            </a:pPr>
            <a:r>
              <a:rPr sz="1200" b="0" i="0">
                <a:solidFill>
                  <a:srgbClr val="5F6670"/>
                </a:solidFill>
                <a:latin typeface="Georgia"/>
              </a:rPr>
              <a:t>vs tuned HPA in two independent studies</a:t>
            </a:r>
          </a:p>
        </p:txBody>
      </p:sp>
      <p:sp>
        <p:nvSpPr>
          <p:cNvPr id="13" name="TextBox 12"/>
          <p:cNvSpPr txBox="1"/>
          <p:nvPr/>
        </p:nvSpPr>
        <p:spPr>
          <a:xfrm>
            <a:off x="9418320" y="4572000"/>
            <a:ext cx="2359152" cy="164592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Mean replica-hours per arm (left). Latency checks were not met, so the verdict vs default HPA is “on par”.</a:t>
            </a:r>
          </a:p>
        </p:txBody>
      </p:sp>
    </p:spTree>
    <p:extLst>
      <p:ext uri="{BB962C8B-B14F-4D97-AF65-F5344CB8AC3E}">
        <p14:creationId xmlns:p14="http://schemas.microsoft.com/office/powerpoint/2010/main" val="2911321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325E74-F795-C0F9-3A2C-B5BA1881CE63}"/>
              </a:ext>
            </a:extLst>
          </p:cNvPr>
          <p:cNvSpPr>
            <a:spLocks noGrp="1"/>
          </p:cNvSpPr>
          <p:nvPr>
            <p:ph type="title"/>
          </p:nvPr>
        </p:nvSpPr>
        <p:spPr>
          <a:xfrm>
            <a:off x="566928" y="347472"/>
            <a:ext cx="11210544" cy="466344"/>
          </a:xfrm>
        </p:spPr>
        <p:txBody>
          <a:bodyPr/>
          <a:lstStyle/>
          <a:p>
            <a:r>
              <a:rPr lang="en-IN" dirty="0"/>
              <a:t>Results and Analysis</a:t>
            </a:r>
          </a:p>
        </p:txBody>
      </p:sp>
      <p:sp>
        <p:nvSpPr>
          <p:cNvPr id="4" name="Slide Number Placeholder 3">
            <a:extLst>
              <a:ext uri="{FF2B5EF4-FFF2-40B4-BE49-F238E27FC236}">
                <a16:creationId xmlns:a16="http://schemas.microsoft.com/office/drawing/2014/main" id="{F774A97C-2EA8-BF5C-75BA-97D4C3FF6D56}"/>
              </a:ext>
            </a:extLst>
          </p:cNvPr>
          <p:cNvSpPr>
            <a:spLocks noGrp="1"/>
          </p:cNvSpPr>
          <p:nvPr>
            <p:ph type="sldNum" sz="quarter" idx="12"/>
          </p:nvPr>
        </p:nvSpPr>
        <p:spPr/>
        <p:txBody>
          <a:bodyPr/>
          <a:lstStyle/>
          <a:p>
            <a:fld id="{330EA680-D336-4FF7-8B7A-9848BB0A1C32}" type="slidenum">
              <a:rPr lang="en-US" smtClean="0"/>
              <a:pPr/>
              <a:t>12</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Visual output: flash sale, block 4 (E1)</a:t>
            </a:r>
          </a:p>
        </p:txBody>
      </p:sp>
      <p:graphicFrame>
        <p:nvGraphicFramePr>
          <p:cNvPr id="6" name="Chart 5"/>
          <p:cNvGraphicFramePr>
            <a:graphicFrameLocks noGrp="1"/>
          </p:cNvGraphicFramePr>
          <p:nvPr/>
        </p:nvGraphicFramePr>
        <p:xfrm>
          <a:off x="566928" y="1325880"/>
          <a:ext cx="7589520" cy="4846320"/>
        </p:xfrm>
        <a:graphic>
          <a:graphicData uri="http://schemas.openxmlformats.org/drawingml/2006/chart">
            <c:chart xmlns:c="http://schemas.openxmlformats.org/drawingml/2006/chart" r:id="rId2"/>
          </a:graphicData>
        </a:graphic>
      </p:graphicFrame>
      <p:sp>
        <p:nvSpPr>
          <p:cNvPr id="7" name="Rounded Rectangle 6"/>
          <p:cNvSpPr/>
          <p:nvPr/>
        </p:nvSpPr>
        <p:spPr>
          <a:xfrm>
            <a:off x="8412480" y="1325880"/>
            <a:ext cx="3364992" cy="126187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49640" y="1389888"/>
            <a:ext cx="3108960" cy="548640"/>
          </a:xfrm>
          <a:prstGeom prst="rect">
            <a:avLst/>
          </a:prstGeom>
          <a:noFill/>
        </p:spPr>
        <p:txBody>
          <a:bodyPr wrap="square" anchor="t" lIns="36576" rIns="36576" tIns="36576" bIns="36576">
            <a:spAutoFit/>
          </a:bodyPr>
          <a:lstStyle/>
          <a:p>
            <a:pPr algn="l">
              <a:spcAft>
                <a:spcPts val="400"/>
              </a:spcAft>
            </a:pPr>
            <a:r>
              <a:rPr sz="2800" b="1" i="0">
                <a:solidFill>
                  <a:srgbClr val="A4123F"/>
                </a:solidFill>
                <a:latin typeface="Georgia"/>
              </a:rPr>
              <a:t>−22.9%</a:t>
            </a:r>
          </a:p>
        </p:txBody>
      </p:sp>
      <p:sp>
        <p:nvSpPr>
          <p:cNvPr id="9" name="TextBox 8"/>
          <p:cNvSpPr txBox="1"/>
          <p:nvPr/>
        </p:nvSpPr>
        <p:spPr>
          <a:xfrm>
            <a:off x="8549640" y="1938528"/>
            <a:ext cx="3108960" cy="54864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replica-hours vs default HPA</a:t>
            </a:r>
          </a:p>
        </p:txBody>
      </p:sp>
      <p:sp>
        <p:nvSpPr>
          <p:cNvPr id="10" name="Rounded Rectangle 9"/>
          <p:cNvSpPr/>
          <p:nvPr/>
        </p:nvSpPr>
        <p:spPr>
          <a:xfrm>
            <a:off x="8412480" y="2743200"/>
            <a:ext cx="3364992" cy="126187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2807208"/>
            <a:ext cx="3108960" cy="548640"/>
          </a:xfrm>
          <a:prstGeom prst="rect">
            <a:avLst/>
          </a:prstGeom>
          <a:noFill/>
        </p:spPr>
        <p:txBody>
          <a:bodyPr wrap="square" anchor="t" lIns="36576" rIns="36576" tIns="36576" bIns="36576">
            <a:spAutoFit/>
          </a:bodyPr>
          <a:lstStyle/>
          <a:p>
            <a:pPr algn="l">
              <a:spcAft>
                <a:spcPts val="400"/>
              </a:spcAft>
            </a:pPr>
            <a:r>
              <a:rPr sz="2800" b="1" i="0">
                <a:solidFill>
                  <a:srgbClr val="A4123F"/>
                </a:solidFill>
                <a:latin typeface="Georgia"/>
              </a:rPr>
              <a:t>−51.2%</a:t>
            </a:r>
          </a:p>
        </p:txBody>
      </p:sp>
      <p:sp>
        <p:nvSpPr>
          <p:cNvPr id="12" name="TextBox 11"/>
          <p:cNvSpPr txBox="1"/>
          <p:nvPr/>
        </p:nvSpPr>
        <p:spPr>
          <a:xfrm>
            <a:off x="8549640" y="3355848"/>
            <a:ext cx="3108960" cy="54864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p95 latency (410 → 200 ms)</a:t>
            </a:r>
          </a:p>
        </p:txBody>
      </p:sp>
      <p:sp>
        <p:nvSpPr>
          <p:cNvPr id="13" name="Rounded Rectangle 12"/>
          <p:cNvSpPr/>
          <p:nvPr/>
        </p:nvSpPr>
        <p:spPr>
          <a:xfrm>
            <a:off x="8412480" y="4160520"/>
            <a:ext cx="3364992" cy="1261872"/>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4224528"/>
            <a:ext cx="3108960" cy="548640"/>
          </a:xfrm>
          <a:prstGeom prst="rect">
            <a:avLst/>
          </a:prstGeom>
          <a:noFill/>
        </p:spPr>
        <p:txBody>
          <a:bodyPr wrap="square" anchor="t" lIns="36576" rIns="36576" tIns="36576" bIns="36576">
            <a:spAutoFit/>
          </a:bodyPr>
          <a:lstStyle/>
          <a:p>
            <a:pPr algn="l">
              <a:spcAft>
                <a:spcPts val="400"/>
              </a:spcAft>
            </a:pPr>
            <a:r>
              <a:rPr sz="2800" b="1" i="0">
                <a:solidFill>
                  <a:srgbClr val="A4123F"/>
                </a:solidFill>
                <a:latin typeface="Georgia"/>
              </a:rPr>
              <a:t>30 s → 0 s</a:t>
            </a:r>
          </a:p>
        </p:txBody>
      </p:sp>
      <p:sp>
        <p:nvSpPr>
          <p:cNvPr id="15" name="TextBox 14"/>
          <p:cNvSpPr txBox="1"/>
          <p:nvPr/>
        </p:nvSpPr>
        <p:spPr>
          <a:xfrm>
            <a:off x="8549640" y="4773168"/>
            <a:ext cx="3108960" cy="548640"/>
          </a:xfrm>
          <a:prstGeom prst="rect">
            <a:avLst/>
          </a:prstGeom>
          <a:noFill/>
        </p:spPr>
        <p:txBody>
          <a:bodyPr wrap="square" anchor="t" lIns="36576" rIns="36576" tIns="36576" bIns="36576">
            <a:spAutoFit/>
          </a:bodyPr>
          <a:lstStyle/>
          <a:p>
            <a:pPr algn="l">
              <a:spcAft>
                <a:spcPts val="400"/>
              </a:spcAft>
            </a:pPr>
            <a:r>
              <a:rPr sz="1300" b="0" i="0">
                <a:solidFill>
                  <a:srgbClr val="5F6670"/>
                </a:solidFill>
                <a:latin typeface="Georgia"/>
              </a:rPr>
              <a:t>time above the SLO</a:t>
            </a:r>
          </a:p>
        </p:txBody>
      </p:sp>
      <p:sp>
        <p:nvSpPr>
          <p:cNvPr id="16" name="TextBox 15"/>
          <p:cNvSpPr txBox="1"/>
          <p:nvPr/>
        </p:nvSpPr>
        <p:spPr>
          <a:xfrm>
            <a:off x="8412480" y="5623560"/>
            <a:ext cx="3364992" cy="594360"/>
          </a:xfrm>
          <a:prstGeom prst="rect">
            <a:avLst/>
          </a:prstGeom>
          <a:noFill/>
        </p:spPr>
        <p:txBody>
          <a:bodyPr wrap="square" anchor="t" lIns="36576" rIns="36576" tIns="36576" bIns="36576">
            <a:spAutoFit/>
          </a:bodyPr>
          <a:lstStyle/>
          <a:p>
            <a:pPr algn="l">
              <a:spcAft>
                <a:spcPts val="400"/>
              </a:spcAft>
            </a:pPr>
            <a:r>
              <a:rPr sz="1100" b="0" i="1">
                <a:solidFill>
                  <a:srgbClr val="5F6670"/>
                </a:solidFill>
                <a:latin typeface="Georgia"/>
              </a:rPr>
              <a:t>One pair; tuned HPA reached 1.386 vs Auto 1.410 replica-hours.</a:t>
            </a:r>
          </a:p>
        </p:txBody>
      </p:sp>
    </p:spTree>
    <p:extLst>
      <p:ext uri="{BB962C8B-B14F-4D97-AF65-F5344CB8AC3E}">
        <p14:creationId xmlns:p14="http://schemas.microsoft.com/office/powerpoint/2010/main" val="2911321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325E74-F795-C0F9-3A2C-B5BA1881CE63}"/>
              </a:ext>
            </a:extLst>
          </p:cNvPr>
          <p:cNvSpPr>
            <a:spLocks noGrp="1"/>
          </p:cNvSpPr>
          <p:nvPr>
            <p:ph type="title"/>
          </p:nvPr>
        </p:nvSpPr>
        <p:spPr>
          <a:xfrm>
            <a:off x="566928" y="347472"/>
            <a:ext cx="11210544" cy="466344"/>
          </a:xfrm>
        </p:spPr>
        <p:txBody>
          <a:bodyPr/>
          <a:lstStyle/>
          <a:p>
            <a:r>
              <a:rPr lang="en-IN" dirty="0"/>
              <a:t>Results and Analysis</a:t>
            </a:r>
          </a:p>
        </p:txBody>
      </p:sp>
      <p:sp>
        <p:nvSpPr>
          <p:cNvPr id="4" name="Slide Number Placeholder 3">
            <a:extLst>
              <a:ext uri="{FF2B5EF4-FFF2-40B4-BE49-F238E27FC236}">
                <a16:creationId xmlns:a16="http://schemas.microsoft.com/office/drawing/2014/main" id="{F774A97C-2EA8-BF5C-75BA-97D4C3FF6D56}"/>
              </a:ext>
            </a:extLst>
          </p:cNvPr>
          <p:cNvSpPr>
            <a:spLocks noGrp="1"/>
          </p:cNvSpPr>
          <p:nvPr>
            <p:ph type="sldNum" sz="quarter" idx="12"/>
          </p:nvPr>
        </p:nvSpPr>
        <p:spPr/>
        <p:txBody>
          <a:bodyPr/>
          <a:lstStyle/>
          <a:p>
            <a:fld id="{330EA680-D336-4FF7-8B7A-9848BB0A1C32}" type="slidenum">
              <a:rPr lang="en-US" smtClean="0"/>
              <a:pPr/>
              <a:t>12</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Comparison with the state of the art</a:t>
            </a:r>
          </a:p>
        </p:txBody>
      </p:sp>
      <p:graphicFrame>
        <p:nvGraphicFramePr>
          <p:cNvPr id="6" name="Table 5"/>
          <p:cNvGraphicFramePr>
            <a:graphicFrameLocks noGrp="1"/>
          </p:cNvGraphicFramePr>
          <p:nvPr/>
        </p:nvGraphicFramePr>
        <p:xfrm>
          <a:off x="566928" y="1325880"/>
          <a:ext cx="11210544" cy="3840480"/>
        </p:xfrm>
        <a:graphic>
          <a:graphicData uri="http://schemas.openxmlformats.org/drawingml/2006/table">
            <a:tbl>
              <a:tblPr firstRow="0" bandRow="0">
                <a:tableStyleId>{5C22544A-7EE6-4342-B048-85BDC9FD1C3A}</a:tableStyleId>
              </a:tblPr>
              <a:tblGrid>
                <a:gridCol w="2103120"/>
                <a:gridCol w="1965960"/>
                <a:gridCol w="2194560"/>
                <a:gridCol w="2194560"/>
                <a:gridCol w="2752344"/>
              </a:tblGrid>
              <a:tr h="548640">
                <a:tc>
                  <a:txBody>
                    <a:bodyPr wrap="square"/>
                    <a:lstStyle/>
                    <a:p>
                      <a:r>
                        <a:rPr sz="1300" b="1" i="0">
                          <a:solidFill>
                            <a:srgbClr val="FFFFFF"/>
                          </a:solidFill>
                          <a:latin typeface="Georgia"/>
                        </a:rPr>
                        <a:t>Aspect</a:t>
                      </a:r>
                    </a:p>
                  </a:txBody>
                  <a:tcPr marL="54864" marR="54864" marT="27432" marB="27432" anchor="ctr">
                    <a:solidFill>
                      <a:srgbClr val="A4123F"/>
                    </a:solidFill>
                  </a:tcPr>
                </a:tc>
                <a:tc>
                  <a:txBody>
                    <a:bodyPr wrap="square"/>
                    <a:lstStyle/>
                    <a:p>
                      <a:r>
                        <a:rPr sz="1300" b="1" i="0">
                          <a:solidFill>
                            <a:srgbClr val="FFFFFF"/>
                          </a:solidFill>
                          <a:latin typeface="Georgia"/>
                        </a:rPr>
                        <a:t>Gwydion [1]</a:t>
                      </a:r>
                    </a:p>
                  </a:txBody>
                  <a:tcPr marL="54864" marR="54864" marT="27432" marB="27432" anchor="ctr">
                    <a:solidFill>
                      <a:srgbClr val="A4123F"/>
                    </a:solidFill>
                  </a:tcPr>
                </a:tc>
                <a:tc>
                  <a:txBody>
                    <a:bodyPr wrap="square"/>
                    <a:lstStyle/>
                    <a:p>
                      <a:r>
                        <a:rPr sz="1300" b="1" i="0">
                          <a:solidFill>
                            <a:srgbClr val="FFFFFF"/>
                          </a:solidFill>
                          <a:latin typeface="Georgia"/>
                        </a:rPr>
                        <a:t>FIRM [7]</a:t>
                      </a:r>
                    </a:p>
                  </a:txBody>
                  <a:tcPr marL="54864" marR="54864" marT="27432" marB="27432" anchor="ctr">
                    <a:solidFill>
                      <a:srgbClr val="A4123F"/>
                    </a:solidFill>
                  </a:tcPr>
                </a:tc>
                <a:tc>
                  <a:txBody>
                    <a:bodyPr wrap="square"/>
                    <a:lstStyle/>
                    <a:p>
                      <a:r>
                        <a:rPr sz="1300" b="1" i="0">
                          <a:solidFill>
                            <a:srgbClr val="FFFFFF"/>
                          </a:solidFill>
                          <a:latin typeface="Georgia"/>
                        </a:rPr>
                        <a:t>GRAF [10]</a:t>
                      </a:r>
                    </a:p>
                  </a:txBody>
                  <a:tcPr marL="54864" marR="54864" marT="27432" marB="27432" anchor="ctr">
                    <a:solidFill>
                      <a:srgbClr val="A4123F"/>
                    </a:solidFill>
                  </a:tcPr>
                </a:tc>
                <a:tc>
                  <a:txBody>
                    <a:bodyPr wrap="square"/>
                    <a:lstStyle/>
                    <a:p>
                      <a:r>
                        <a:rPr sz="1300" b="1" i="0">
                          <a:solidFill>
                            <a:srgbClr val="FFFFFF"/>
                          </a:solidFill>
                          <a:latin typeface="Georgia"/>
                        </a:rPr>
                        <a:t>FlexaScale</a:t>
                      </a:r>
                    </a:p>
                  </a:txBody>
                  <a:tcPr marL="54864" marR="54864" marT="27432" marB="27432" anchor="ctr">
                    <a:solidFill>
                      <a:srgbClr val="A4123F"/>
                    </a:solidFill>
                  </a:tcPr>
                </a:tc>
              </a:tr>
              <a:tr h="548640">
                <a:tc>
                  <a:txBody>
                    <a:bodyPr wrap="square"/>
                    <a:lstStyle/>
                    <a:p>
                      <a:r>
                        <a:rPr sz="1300" b="1" i="0">
                          <a:solidFill>
                            <a:srgbClr val="222222"/>
                          </a:solidFill>
                          <a:latin typeface="Georgia"/>
                        </a:rPr>
                        <a:t>Decision</a:t>
                      </a:r>
                    </a:p>
                  </a:txBody>
                  <a:tcPr marL="54864" marR="54864" marT="27432" marB="27432" anchor="ctr">
                    <a:solidFill>
                      <a:srgbClr val="FFFFFF"/>
                    </a:solidFill>
                  </a:tcPr>
                </a:tc>
                <a:tc>
                  <a:txBody>
                    <a:bodyPr wrap="square"/>
                    <a:lstStyle/>
                    <a:p>
                      <a:r>
                        <a:rPr sz="1300" b="0" i="0">
                          <a:solidFill>
                            <a:srgbClr val="222222"/>
                          </a:solidFill>
                          <a:latin typeface="Georgia"/>
                        </a:rPr>
                        <a:t>Replicas (RL)</a:t>
                      </a:r>
                    </a:p>
                  </a:txBody>
                  <a:tcPr marL="54864" marR="54864" marT="27432" marB="27432" anchor="ctr">
                    <a:solidFill>
                      <a:srgbClr val="FFFFFF"/>
                    </a:solidFill>
                  </a:tcPr>
                </a:tc>
                <a:tc>
                  <a:txBody>
                    <a:bodyPr wrap="square"/>
                    <a:lstStyle/>
                    <a:p>
                      <a:r>
                        <a:rPr sz="1300" b="0" i="0">
                          <a:solidFill>
                            <a:srgbClr val="222222"/>
                          </a:solidFill>
                          <a:latin typeface="Georgia"/>
                        </a:rPr>
                        <a:t>Resource limits (RL)</a:t>
                      </a:r>
                    </a:p>
                  </a:txBody>
                  <a:tcPr marL="54864" marR="54864" marT="27432" marB="27432" anchor="ctr">
                    <a:solidFill>
                      <a:srgbClr val="FFFFFF"/>
                    </a:solidFill>
                  </a:tcPr>
                </a:tc>
                <a:tc>
                  <a:txBody>
                    <a:bodyPr wrap="square"/>
                    <a:lstStyle/>
                    <a:p>
                      <a:r>
                        <a:rPr sz="1300" b="0" i="0">
                          <a:solidFill>
                            <a:srgbClr val="222222"/>
                          </a:solidFill>
                          <a:latin typeface="Georgia"/>
                        </a:rPr>
                        <a:t>CPU allocation (GNN)</a:t>
                      </a:r>
                    </a:p>
                  </a:txBody>
                  <a:tcPr marL="54864" marR="54864" marT="27432" marB="27432" anchor="ctr">
                    <a:solidFill>
                      <a:srgbClr val="FFFFFF"/>
                    </a:solidFill>
                  </a:tcPr>
                </a:tc>
                <a:tc>
                  <a:txBody>
                    <a:bodyPr wrap="square"/>
                    <a:lstStyle/>
                    <a:p>
                      <a:r>
                        <a:rPr sz="1300" b="0" i="0">
                          <a:solidFill>
                            <a:srgbClr val="222222"/>
                          </a:solidFill>
                          <a:latin typeface="Georgia"/>
                        </a:rPr>
                        <a:t>Replicas (GNN + PPO)</a:t>
                      </a:r>
                    </a:p>
                  </a:txBody>
                  <a:tcPr marL="54864" marR="54864" marT="27432" marB="27432" anchor="ctr">
                    <a:solidFill>
                      <a:srgbClr val="F7E6EC"/>
                    </a:solidFill>
                  </a:tcPr>
                </a:tc>
              </a:tr>
              <a:tr h="548640">
                <a:tc>
                  <a:txBody>
                    <a:bodyPr wrap="square"/>
                    <a:lstStyle/>
                    <a:p>
                      <a:r>
                        <a:rPr sz="1300" b="1" i="0">
                          <a:solidFill>
                            <a:srgbClr val="222222"/>
                          </a:solidFill>
                          <a:latin typeface="Georgia"/>
                        </a:rPr>
                        <a:t>Dependencies</a:t>
                      </a:r>
                    </a:p>
                  </a:txBody>
                  <a:tcPr marL="54864" marR="54864" marT="27432" marB="27432" anchor="ctr">
                    <a:solidFill>
                      <a:srgbClr val="FBF1F4"/>
                    </a:solidFill>
                  </a:tcPr>
                </a:tc>
                <a:tc>
                  <a:txBody>
                    <a:bodyPr wrap="square"/>
                    <a:lstStyle/>
                    <a:p>
                      <a:r>
                        <a:rPr sz="1300" b="0" i="0">
                          <a:solidFill>
                            <a:srgbClr val="222222"/>
                          </a:solidFill>
                          <a:latin typeface="Georgia"/>
                        </a:rPr>
                        <a:t>In the state</a:t>
                      </a:r>
                    </a:p>
                  </a:txBody>
                  <a:tcPr marL="54864" marR="54864" marT="27432" marB="27432" anchor="ctr">
                    <a:solidFill>
                      <a:srgbClr val="FBF1F4"/>
                    </a:solidFill>
                  </a:tcPr>
                </a:tc>
                <a:tc>
                  <a:txBody>
                    <a:bodyPr wrap="square"/>
                    <a:lstStyle/>
                    <a:p>
                      <a:r>
                        <a:rPr sz="1300" b="0" i="0">
                          <a:solidFill>
                            <a:srgbClr val="222222"/>
                          </a:solidFill>
                          <a:latin typeface="Georgia"/>
                        </a:rPr>
                        <a:t>Critical path</a:t>
                      </a:r>
                    </a:p>
                  </a:txBody>
                  <a:tcPr marL="54864" marR="54864" marT="27432" marB="27432" anchor="ctr">
                    <a:solidFill>
                      <a:srgbClr val="FBF1F4"/>
                    </a:solidFill>
                  </a:tcPr>
                </a:tc>
                <a:tc>
                  <a:txBody>
                    <a:bodyPr wrap="square"/>
                    <a:lstStyle/>
                    <a:p>
                      <a:r>
                        <a:rPr sz="1300" b="0" i="0">
                          <a:solidFill>
                            <a:srgbClr val="222222"/>
                          </a:solidFill>
                          <a:latin typeface="Georgia"/>
                        </a:rPr>
                        <a:t>GNN latency model</a:t>
                      </a:r>
                    </a:p>
                  </a:txBody>
                  <a:tcPr marL="54864" marR="54864" marT="27432" marB="27432" anchor="ctr">
                    <a:solidFill>
                      <a:srgbClr val="FBF1F4"/>
                    </a:solidFill>
                  </a:tcPr>
                </a:tc>
                <a:tc>
                  <a:txBody>
                    <a:bodyPr wrap="square"/>
                    <a:lstStyle/>
                    <a:p>
                      <a:r>
                        <a:rPr sz="1300" b="0" i="0">
                          <a:solidFill>
                            <a:srgbClr val="222222"/>
                          </a:solidFill>
                          <a:latin typeface="Georgia"/>
                        </a:rPr>
                        <a:t>Message passing on call graph</a:t>
                      </a:r>
                    </a:p>
                  </a:txBody>
                  <a:tcPr marL="54864" marR="54864" marT="27432" marB="27432" anchor="ctr">
                    <a:solidFill>
                      <a:srgbClr val="F7E6EC"/>
                    </a:solidFill>
                  </a:tcPr>
                </a:tc>
              </a:tr>
              <a:tr h="548640">
                <a:tc>
                  <a:txBody>
                    <a:bodyPr wrap="square"/>
                    <a:lstStyle/>
                    <a:p>
                      <a:r>
                        <a:rPr sz="1300" b="1" i="0">
                          <a:solidFill>
                            <a:srgbClr val="222222"/>
                          </a:solidFill>
                          <a:latin typeface="Georgia"/>
                        </a:rPr>
                        <a:t>Coexistence with HPA</a:t>
                      </a:r>
                    </a:p>
                  </a:txBody>
                  <a:tcPr marL="54864" marR="54864" marT="27432" marB="27432" anchor="ctr">
                    <a:solidFill>
                      <a:srgbClr val="FFFFFF"/>
                    </a:solidFill>
                  </a:tcPr>
                </a:tc>
                <a:tc>
                  <a:txBody>
                    <a:bodyPr wrap="square"/>
                    <a:lstStyle/>
                    <a:p>
                      <a:r>
                        <a:rPr sz="1300" b="0" i="0">
                          <a:solidFill>
                            <a:srgbClr val="222222"/>
                          </a:solidFill>
                          <a:latin typeface="Georgia"/>
                        </a:rPr>
                        <a:t>Not reported</a:t>
                      </a:r>
                    </a:p>
                  </a:txBody>
                  <a:tcPr marL="54864" marR="54864" marT="27432" marB="27432" anchor="ctr">
                    <a:solidFill>
                      <a:srgbClr val="FFFFFF"/>
                    </a:solidFill>
                  </a:tcPr>
                </a:tc>
                <a:tc>
                  <a:txBody>
                    <a:bodyPr wrap="square"/>
                    <a:lstStyle/>
                    <a:p>
                      <a:r>
                        <a:rPr sz="1300" b="0" i="0">
                          <a:solidFill>
                            <a:srgbClr val="222222"/>
                          </a:solidFill>
                          <a:latin typeface="Georgia"/>
                        </a:rPr>
                        <a:t>Not addressed</a:t>
                      </a:r>
                    </a:p>
                  </a:txBody>
                  <a:tcPr marL="54864" marR="54864" marT="27432" marB="27432" anchor="ctr">
                    <a:solidFill>
                      <a:srgbClr val="FFFFFF"/>
                    </a:solidFill>
                  </a:tcPr>
                </a:tc>
                <a:tc>
                  <a:txBody>
                    <a:bodyPr wrap="square"/>
                    <a:lstStyle/>
                    <a:p>
                      <a:r>
                        <a:rPr sz="1300" b="0" i="0">
                          <a:solidFill>
                            <a:srgbClr val="222222"/>
                          </a:solidFill>
                          <a:latin typeface="Georgia"/>
                        </a:rPr>
                        <a:t>Not addressed</a:t>
                      </a:r>
                    </a:p>
                  </a:txBody>
                  <a:tcPr marL="54864" marR="54864" marT="27432" marB="27432" anchor="ctr">
                    <a:solidFill>
                      <a:srgbClr val="FFFFFF"/>
                    </a:solidFill>
                  </a:tcPr>
                </a:tc>
                <a:tc>
                  <a:txBody>
                    <a:bodyPr wrap="square"/>
                    <a:lstStyle/>
                    <a:p>
                      <a:r>
                        <a:rPr sz="1300" b="0" i="0">
                          <a:solidFill>
                            <a:srgbClr val="222222"/>
                          </a:solidFill>
                          <a:latin typeface="Georgia"/>
                        </a:rPr>
                        <a:t>Per-service Auto, freeze, Lease</a:t>
                      </a:r>
                    </a:p>
                  </a:txBody>
                  <a:tcPr marL="54864" marR="54864" marT="27432" marB="27432" anchor="ctr">
                    <a:solidFill>
                      <a:srgbClr val="F7E6EC"/>
                    </a:solidFill>
                  </a:tcPr>
                </a:tc>
              </a:tr>
              <a:tr h="548640">
                <a:tc>
                  <a:txBody>
                    <a:bodyPr wrap="square"/>
                    <a:lstStyle/>
                    <a:p>
                      <a:r>
                        <a:rPr sz="1300" b="1" i="0">
                          <a:solidFill>
                            <a:srgbClr val="222222"/>
                          </a:solidFill>
                          <a:latin typeface="Georgia"/>
                        </a:rPr>
                        <a:t>Failure fallback</a:t>
                      </a:r>
                    </a:p>
                  </a:txBody>
                  <a:tcPr marL="54864" marR="54864" marT="27432" marB="27432" anchor="ctr">
                    <a:solidFill>
                      <a:srgbClr val="FBF1F4"/>
                    </a:solidFill>
                  </a:tcPr>
                </a:tc>
                <a:tc>
                  <a:txBody>
                    <a:bodyPr wrap="square"/>
                    <a:lstStyle/>
                    <a:p>
                      <a:r>
                        <a:rPr sz="1300" b="0" i="0">
                          <a:solidFill>
                            <a:srgbClr val="222222"/>
                          </a:solidFill>
                          <a:latin typeface="Georgia"/>
                        </a:rPr>
                        <a:t>Not reported</a:t>
                      </a:r>
                    </a:p>
                  </a:txBody>
                  <a:tcPr marL="54864" marR="54864" marT="27432" marB="27432" anchor="ctr">
                    <a:solidFill>
                      <a:srgbClr val="FBF1F4"/>
                    </a:solidFill>
                  </a:tcPr>
                </a:tc>
                <a:tc>
                  <a:txBody>
                    <a:bodyPr wrap="square"/>
                    <a:lstStyle/>
                    <a:p>
                      <a:r>
                        <a:rPr sz="1300" b="0" i="0">
                          <a:solidFill>
                            <a:srgbClr val="222222"/>
                          </a:solidFill>
                          <a:latin typeface="Georgia"/>
                        </a:rPr>
                        <a:t>Not reported</a:t>
                      </a:r>
                    </a:p>
                  </a:txBody>
                  <a:tcPr marL="54864" marR="54864" marT="27432" marB="27432" anchor="ctr">
                    <a:solidFill>
                      <a:srgbClr val="FBF1F4"/>
                    </a:solidFill>
                  </a:tcPr>
                </a:tc>
                <a:tc>
                  <a:txBody>
                    <a:bodyPr wrap="square"/>
                    <a:lstStyle/>
                    <a:p>
                      <a:r>
                        <a:rPr sz="1300" b="0" i="0">
                          <a:solidFill>
                            <a:srgbClr val="222222"/>
                          </a:solidFill>
                          <a:latin typeface="Georgia"/>
                        </a:rPr>
                        <a:t>Not reported</a:t>
                      </a:r>
                    </a:p>
                  </a:txBody>
                  <a:tcPr marL="54864" marR="54864" marT="27432" marB="27432" anchor="ctr">
                    <a:solidFill>
                      <a:srgbClr val="FBF1F4"/>
                    </a:solidFill>
                  </a:tcPr>
                </a:tc>
                <a:tc>
                  <a:txBody>
                    <a:bodyPr wrap="square"/>
                    <a:lstStyle/>
                    <a:p>
                      <a:r>
                        <a:rPr sz="1300" b="0" i="0">
                          <a:solidFill>
                            <a:srgbClr val="222222"/>
                          </a:solidFill>
                          <a:latin typeface="Georgia"/>
                        </a:rPr>
                        <a:t>Verified (telemetry, crash, Lease)</a:t>
                      </a:r>
                    </a:p>
                  </a:txBody>
                  <a:tcPr marL="54864" marR="54864" marT="27432" marB="27432" anchor="ctr">
                    <a:solidFill>
                      <a:srgbClr val="F7E6EC"/>
                    </a:solidFill>
                  </a:tcPr>
                </a:tc>
              </a:tr>
              <a:tr h="548640">
                <a:tc>
                  <a:txBody>
                    <a:bodyPr wrap="square"/>
                    <a:lstStyle/>
                    <a:p>
                      <a:r>
                        <a:rPr sz="1300" b="1" i="0">
                          <a:solidFill>
                            <a:srgbClr val="222222"/>
                          </a:solidFill>
                          <a:latin typeface="Georgia"/>
                        </a:rPr>
                        <a:t>Baseline</a:t>
                      </a:r>
                    </a:p>
                  </a:txBody>
                  <a:tcPr marL="54864" marR="54864" marT="27432" marB="27432" anchor="ctr">
                    <a:solidFill>
                      <a:srgbClr val="FFFFFF"/>
                    </a:solidFill>
                  </a:tcPr>
                </a:tc>
                <a:tc>
                  <a:txBody>
                    <a:bodyPr wrap="square"/>
                    <a:lstStyle/>
                    <a:p>
                      <a:r>
                        <a:rPr sz="1300" b="0" i="0">
                          <a:solidFill>
                            <a:srgbClr val="222222"/>
                          </a:solidFill>
                          <a:latin typeface="Georgia"/>
                        </a:rPr>
                        <a:t>Default HPA</a:t>
                      </a:r>
                    </a:p>
                  </a:txBody>
                  <a:tcPr marL="54864" marR="54864" marT="27432" marB="27432" anchor="ctr">
                    <a:solidFill>
                      <a:srgbClr val="FFFFFF"/>
                    </a:solidFill>
                  </a:tcPr>
                </a:tc>
                <a:tc>
                  <a:txBody>
                    <a:bodyPr wrap="square"/>
                    <a:lstStyle/>
                    <a:p>
                      <a:r>
                        <a:rPr sz="1300" b="0" i="0">
                          <a:solidFill>
                            <a:srgbClr val="222222"/>
                          </a:solidFill>
                          <a:latin typeface="Georgia"/>
                        </a:rPr>
                        <a:t>K8s autoscaling</a:t>
                      </a:r>
                    </a:p>
                  </a:txBody>
                  <a:tcPr marL="54864" marR="54864" marT="27432" marB="27432" anchor="ctr">
                    <a:solidFill>
                      <a:srgbClr val="FFFFFF"/>
                    </a:solidFill>
                  </a:tcPr>
                </a:tc>
                <a:tc>
                  <a:txBody>
                    <a:bodyPr wrap="square"/>
                    <a:lstStyle/>
                    <a:p>
                      <a:r>
                        <a:rPr sz="1300" b="0" i="0">
                          <a:solidFill>
                            <a:srgbClr val="222222"/>
                          </a:solidFill>
                          <a:latin typeface="Georgia"/>
                        </a:rPr>
                        <a:t>Existing autoscalers</a:t>
                      </a:r>
                    </a:p>
                  </a:txBody>
                  <a:tcPr marL="54864" marR="54864" marT="27432" marB="27432" anchor="ctr">
                    <a:solidFill>
                      <a:srgbClr val="FFFFFF"/>
                    </a:solidFill>
                  </a:tcPr>
                </a:tc>
                <a:tc>
                  <a:txBody>
                    <a:bodyPr wrap="square"/>
                    <a:lstStyle/>
                    <a:p>
                      <a:r>
                        <a:rPr sz="1300" b="0" i="0">
                          <a:solidFill>
                            <a:srgbClr val="222222"/>
                          </a:solidFill>
                          <a:latin typeface="Georgia"/>
                        </a:rPr>
                        <a:t>Default and tuned HPA</a:t>
                      </a:r>
                    </a:p>
                  </a:txBody>
                  <a:tcPr marL="54864" marR="54864" marT="27432" marB="27432" anchor="ctr">
                    <a:solidFill>
                      <a:srgbClr val="F7E6EC"/>
                    </a:solidFill>
                  </a:tcPr>
                </a:tc>
              </a:tr>
              <a:tr h="548640">
                <a:tc>
                  <a:txBody>
                    <a:bodyPr wrap="square"/>
                    <a:lstStyle/>
                    <a:p>
                      <a:r>
                        <a:rPr sz="1300" b="1" i="0">
                          <a:solidFill>
                            <a:srgbClr val="222222"/>
                          </a:solidFill>
                          <a:latin typeface="Georgia"/>
                        </a:rPr>
                        <a:t>Reported gain</a:t>
                      </a:r>
                    </a:p>
                  </a:txBody>
                  <a:tcPr marL="54864" marR="54864" marT="27432" marB="27432" anchor="ctr">
                    <a:solidFill>
                      <a:srgbClr val="FBF1F4"/>
                    </a:solidFill>
                  </a:tcPr>
                </a:tc>
                <a:tc>
                  <a:txBody>
                    <a:bodyPr wrap="square"/>
                    <a:lstStyle/>
                    <a:p>
                      <a:r>
                        <a:rPr sz="1300" b="0" i="0">
                          <a:solidFill>
                            <a:srgbClr val="222222"/>
                          </a:solidFill>
                          <a:latin typeface="Georgia"/>
                        </a:rPr>
                        <a:t>Better than HPA</a:t>
                      </a:r>
                    </a:p>
                  </a:txBody>
                  <a:tcPr marL="54864" marR="54864" marT="27432" marB="27432" anchor="ctr">
                    <a:solidFill>
                      <a:srgbClr val="FBF1F4"/>
                    </a:solidFill>
                  </a:tcPr>
                </a:tc>
                <a:tc>
                  <a:txBody>
                    <a:bodyPr wrap="square"/>
                    <a:lstStyle/>
                    <a:p>
                      <a:r>
                        <a:rPr sz="1300" b="0" i="0">
                          <a:solidFill>
                            <a:srgbClr val="222222"/>
                          </a:solidFill>
                          <a:latin typeface="Georgia"/>
                        </a:rPr>
                        <a:t>Up to 16× fewer SLO violations</a:t>
                      </a:r>
                    </a:p>
                  </a:txBody>
                  <a:tcPr marL="54864" marR="54864" marT="27432" marB="27432" anchor="ctr">
                    <a:solidFill>
                      <a:srgbClr val="FBF1F4"/>
                    </a:solidFill>
                  </a:tcPr>
                </a:tc>
                <a:tc>
                  <a:txBody>
                    <a:bodyPr wrap="square"/>
                    <a:lstStyle/>
                    <a:p>
                      <a:r>
                        <a:rPr sz="1300" b="0" i="0">
                          <a:solidFill>
                            <a:srgbClr val="222222"/>
                          </a:solidFill>
                          <a:latin typeface="Georgia"/>
                        </a:rPr>
                        <a:t>Lower CPU for same SLO</a:t>
                      </a:r>
                    </a:p>
                  </a:txBody>
                  <a:tcPr marL="54864" marR="54864" marT="27432" marB="27432" anchor="ctr">
                    <a:solidFill>
                      <a:srgbClr val="FBF1F4"/>
                    </a:solidFill>
                  </a:tcPr>
                </a:tc>
                <a:tc>
                  <a:txBody>
                    <a:bodyPr wrap="square"/>
                    <a:lstStyle/>
                    <a:p>
                      <a:r>
                        <a:rPr sz="1300" b="0" i="0">
                          <a:solidFill>
                            <a:srgbClr val="222222"/>
                          </a:solidFill>
                          <a:latin typeface="Georgia"/>
                        </a:rPr>
                        <a:t>−7.7% vs default; on par vs tuned</a:t>
                      </a:r>
                    </a:p>
                  </a:txBody>
                  <a:tcPr marL="54864" marR="54864" marT="27432" marB="27432" anchor="ctr">
                    <a:solidFill>
                      <a:srgbClr val="F7E6EC"/>
                    </a:solidFill>
                  </a:tcPr>
                </a:tc>
              </a:tr>
            </a:tbl>
          </a:graphicData>
        </a:graphic>
      </p:graphicFrame>
      <p:sp>
        <p:nvSpPr>
          <p:cNvPr id="7" name="TextBox 6"/>
          <p:cNvSpPr txBox="1"/>
          <p:nvPr/>
        </p:nvSpPr>
        <p:spPr>
          <a:xfrm>
            <a:off x="566928" y="5349240"/>
            <a:ext cx="11210544" cy="822960"/>
          </a:xfrm>
          <a:prstGeom prst="rect">
            <a:avLst/>
          </a:prstGeom>
          <a:noFill/>
        </p:spPr>
        <p:txBody>
          <a:bodyPr wrap="square" anchor="t" lIns="36576" rIns="36576" tIns="36576" bIns="36576">
            <a:spAutoFit/>
          </a:bodyPr>
          <a:lstStyle/>
          <a:p>
            <a:pPr algn="l">
              <a:spcAft>
                <a:spcPts val="400"/>
              </a:spcAft>
            </a:pPr>
            <a:r>
              <a:rPr sz="1300" b="0" i="1">
                <a:solidFill>
                  <a:srgbClr val="5F6670"/>
                </a:solidFill>
                <a:latin typeface="Georgia"/>
              </a:rPr>
              <a:t>Published gains come from other applications and mostly from default-HPA baselines, so they are not directly comparable. Against default HPA our result points the same way; against a calibrated HPA, under fixed rules, the advantage disappears.</a:t>
            </a:r>
          </a:p>
        </p:txBody>
      </p:sp>
    </p:spTree>
    <p:extLst>
      <p:ext uri="{BB962C8B-B14F-4D97-AF65-F5344CB8AC3E}">
        <p14:creationId xmlns:p14="http://schemas.microsoft.com/office/powerpoint/2010/main" val="2911321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7065F2-B709-C060-92D3-8FC6647D6C80}"/>
              </a:ext>
            </a:extLst>
          </p:cNvPr>
          <p:cNvSpPr>
            <a:spLocks noGrp="1"/>
          </p:cNvSpPr>
          <p:nvPr>
            <p:ph type="title"/>
          </p:nvPr>
        </p:nvSpPr>
        <p:spPr>
          <a:xfrm>
            <a:off x="566928" y="347472"/>
            <a:ext cx="11210544" cy="466344"/>
          </a:xfrm>
        </p:spPr>
        <p:txBody>
          <a:bodyPr/>
          <a:lstStyle/>
          <a:p>
            <a:r>
              <a:rPr lang="en-IN" dirty="0"/>
              <a:t>Discussion and Limitations</a:t>
            </a:r>
          </a:p>
        </p:txBody>
      </p:sp>
      <p:sp>
        <p:nvSpPr>
          <p:cNvPr id="4" name="Slide Number Placeholder 3">
            <a:extLst>
              <a:ext uri="{FF2B5EF4-FFF2-40B4-BE49-F238E27FC236}">
                <a16:creationId xmlns:a16="http://schemas.microsoft.com/office/drawing/2014/main" id="{C29B67DC-6D3F-EE81-D74F-8EB4DB3E7750}"/>
              </a:ext>
            </a:extLst>
          </p:cNvPr>
          <p:cNvSpPr>
            <a:spLocks noGrp="1"/>
          </p:cNvSpPr>
          <p:nvPr>
            <p:ph type="sldNum" sz="quarter" idx="12"/>
          </p:nvPr>
        </p:nvSpPr>
        <p:spPr/>
        <p:txBody>
          <a:bodyPr/>
          <a:lstStyle/>
          <a:p>
            <a:fld id="{330EA680-D336-4FF7-8B7A-9848BB0A1C32}" type="slidenum">
              <a:rPr lang="en-US" smtClean="0"/>
              <a:pPr/>
              <a:t>13</a:t>
            </a:fld>
            <a:endParaRPr lang="en-US"/>
          </a:p>
        </p:txBody>
      </p:sp>
      <p:sp>
        <p:nvSpPr>
          <p:cNvPr id="5" name="TextBox 4"/>
          <p:cNvSpPr txBox="1"/>
          <p:nvPr/>
        </p:nvSpPr>
        <p:spPr>
          <a:xfrm>
            <a:off x="566928" y="1280160"/>
            <a:ext cx="548640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What the results mean</a:t>
            </a:r>
          </a:p>
        </p:txBody>
      </p:sp>
      <p:sp>
        <p:nvSpPr>
          <p:cNvPr id="6" name="TextBox 5"/>
          <p:cNvSpPr txBox="1"/>
          <p:nvPr/>
        </p:nvSpPr>
        <p:spPr>
          <a:xfrm>
            <a:off x="566928" y="1737360"/>
            <a:ext cx="5486400" cy="4480560"/>
          </a:xfrm>
          <a:prstGeom prst="rect">
            <a:avLst/>
          </a:prstGeom>
          <a:noFill/>
        </p:spPr>
        <p:txBody>
          <a:bodyPr wrap="square" anchor="t" lIns="36576" rIns="36576" tIns="36576" bIns="36576">
            <a:spAutoFit/>
          </a:bodyPr>
          <a:lstStyle/>
          <a:p>
            <a:pPr algn="l">
              <a:spcAft>
                <a:spcPts val="1000"/>
              </a:spcAft>
            </a:pPr>
            <a:r>
              <a:rPr sz="1400" b="1" i="0">
                <a:solidFill>
                  <a:srgbClr val="A4123F"/>
                </a:solidFill>
                <a:latin typeface="Georgia"/>
              </a:rPr>
              <a:t>•  </a:t>
            </a:r>
            <a:r>
              <a:rPr sz="1400" b="0" i="0">
                <a:solidFill>
                  <a:srgbClr val="222222"/>
                </a:solidFill>
                <a:latin typeface="Georgia"/>
              </a:rPr>
              <a:t>The system works: safe, explainable, per-service control with verified hand-back to the HPA.</a:t>
            </a:r>
          </a:p>
          <a:p>
            <a:pPr algn="l">
              <a:spcAft>
                <a:spcPts val="1000"/>
              </a:spcAft>
            </a:pPr>
            <a:r>
              <a:rPr sz="1400" b="1" i="0">
                <a:solidFill>
                  <a:srgbClr val="A4123F"/>
                </a:solidFill>
                <a:latin typeface="Georgia"/>
              </a:rPr>
              <a:t>•  </a:t>
            </a:r>
            <a:r>
              <a:rPr sz="1400" b="0" i="0">
                <a:solidFill>
                  <a:srgbClr val="222222"/>
                </a:solidFill>
                <a:latin typeface="Georgia"/>
              </a:rPr>
              <a:t>Savings vs default HPA are real (7-8%), mostly from not over-scaling spikes.</a:t>
            </a:r>
          </a:p>
          <a:p>
            <a:pPr algn="l">
              <a:spcAft>
                <a:spcPts val="1000"/>
              </a:spcAft>
            </a:pPr>
            <a:r>
              <a:rPr sz="1400" b="1" i="0">
                <a:solidFill>
                  <a:srgbClr val="A4123F"/>
                </a:solidFill>
                <a:latin typeface="Georgia"/>
              </a:rPr>
              <a:t>•  </a:t>
            </a:r>
            <a:r>
              <a:rPr sz="1400" b="0" i="0">
                <a:solidFill>
                  <a:srgbClr val="222222"/>
                </a:solidFill>
                <a:latin typeface="Georgia"/>
              </a:rPr>
              <a:t>A tuned HPA gets the same saving: at 25 users most services stay at 1 replica (floor 1.333 RH).</a:t>
            </a:r>
          </a:p>
          <a:p>
            <a:pPr algn="l">
              <a:spcAft>
                <a:spcPts val="1000"/>
              </a:spcAft>
            </a:pPr>
            <a:r>
              <a:rPr sz="1400" b="1" i="0">
                <a:solidFill>
                  <a:srgbClr val="A4123F"/>
                </a:solidFill>
                <a:latin typeface="Georgia"/>
              </a:rPr>
              <a:t>•  </a:t>
            </a:r>
            <a:r>
              <a:rPr sz="1400" b="0" i="0">
                <a:solidFill>
                  <a:srgbClr val="222222"/>
                </a:solidFill>
                <a:latin typeface="Georgia"/>
              </a:rPr>
              <a:t>The graph input showed no measurable benefit in the ablation.</a:t>
            </a:r>
          </a:p>
          <a:p>
            <a:pPr algn="l">
              <a:spcAft>
                <a:spcPts val="1000"/>
              </a:spcAft>
            </a:pPr>
            <a:r>
              <a:rPr sz="1400" b="1" i="0">
                <a:solidFill>
                  <a:srgbClr val="A4123F"/>
                </a:solidFill>
                <a:latin typeface="Georgia"/>
              </a:rPr>
              <a:t>•  </a:t>
            </a:r>
            <a:r>
              <a:rPr sz="1400" b="0" i="0">
                <a:solidFill>
                  <a:srgbClr val="222222"/>
                </a:solidFill>
                <a:latin typeface="Georgia"/>
              </a:rPr>
              <a:t>At 40 users the order service was database-bound (latency 10×, CPU 30-50%); CPU-based policies held 1 replica.</a:t>
            </a:r>
          </a:p>
        </p:txBody>
      </p:sp>
      <p:sp>
        <p:nvSpPr>
          <p:cNvPr id="7" name="TextBox 6"/>
          <p:cNvSpPr txBox="1"/>
          <p:nvPr/>
        </p:nvSpPr>
        <p:spPr>
          <a:xfrm>
            <a:off x="6446520" y="1280160"/>
            <a:ext cx="5303520" cy="365760"/>
          </a:xfrm>
          <a:prstGeom prst="rect">
            <a:avLst/>
          </a:prstGeom>
          <a:noFill/>
        </p:spPr>
        <p:txBody>
          <a:bodyPr wrap="square" anchor="t" lIns="36576" rIns="36576" tIns="36576" bIns="36576">
            <a:spAutoFit/>
          </a:bodyPr>
          <a:lstStyle/>
          <a:p>
            <a:pPr algn="l">
              <a:spcAft>
                <a:spcPts val="400"/>
              </a:spcAft>
            </a:pPr>
            <a:r>
              <a:rPr sz="1700" b="1" i="0">
                <a:solidFill>
                  <a:srgbClr val="A4123F"/>
                </a:solidFill>
                <a:latin typeface="Georgia"/>
              </a:rPr>
              <a:t>Limitations</a:t>
            </a:r>
          </a:p>
        </p:txBody>
      </p:sp>
      <p:sp>
        <p:nvSpPr>
          <p:cNvPr id="8" name="Rounded Rectangle 7"/>
          <p:cNvSpPr/>
          <p:nvPr/>
        </p:nvSpPr>
        <p:spPr>
          <a:xfrm>
            <a:off x="6446520" y="1737360"/>
            <a:ext cx="5330952" cy="73152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773936"/>
            <a:ext cx="1737360" cy="658368"/>
          </a:xfrm>
          <a:prstGeom prst="rect">
            <a:avLst/>
          </a:prstGeom>
          <a:noFill/>
        </p:spPr>
        <p:txBody>
          <a:bodyPr wrap="square" anchor="ctr" lIns="36576" rIns="36576" tIns="36576" bIns="36576">
            <a:spAutoFit/>
          </a:bodyPr>
          <a:lstStyle/>
          <a:p>
            <a:pPr algn="l">
              <a:spcAft>
                <a:spcPts val="400"/>
              </a:spcAft>
            </a:pPr>
            <a:r>
              <a:rPr sz="1400" b="1" i="0">
                <a:solidFill>
                  <a:srgbClr val="6E0B2A"/>
                </a:solidFill>
                <a:latin typeface="Georgia"/>
              </a:rPr>
              <a:t>Scale</a:t>
            </a:r>
          </a:p>
        </p:txBody>
      </p:sp>
      <p:sp>
        <p:nvSpPr>
          <p:cNvPr id="10" name="TextBox 9"/>
          <p:cNvSpPr txBox="1"/>
          <p:nvPr/>
        </p:nvSpPr>
        <p:spPr>
          <a:xfrm>
            <a:off x="8321040" y="1773936"/>
            <a:ext cx="338328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single-node Minikube, 25-40 users, 300 s runs</a:t>
            </a:r>
          </a:p>
        </p:txBody>
      </p:sp>
      <p:sp>
        <p:nvSpPr>
          <p:cNvPr id="11" name="Rounded Rectangle 10"/>
          <p:cNvSpPr/>
          <p:nvPr/>
        </p:nvSpPr>
        <p:spPr>
          <a:xfrm>
            <a:off x="6446520" y="2606039"/>
            <a:ext cx="5330952" cy="73152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642615"/>
            <a:ext cx="1737360" cy="658368"/>
          </a:xfrm>
          <a:prstGeom prst="rect">
            <a:avLst/>
          </a:prstGeom>
          <a:noFill/>
        </p:spPr>
        <p:txBody>
          <a:bodyPr wrap="square" anchor="ctr" lIns="36576" rIns="36576" tIns="36576" bIns="36576">
            <a:spAutoFit/>
          </a:bodyPr>
          <a:lstStyle/>
          <a:p>
            <a:pPr algn="l">
              <a:spcAft>
                <a:spcPts val="400"/>
              </a:spcAft>
            </a:pPr>
            <a:r>
              <a:rPr sz="1400" b="1" i="0">
                <a:solidFill>
                  <a:srgbClr val="6E0B2A"/>
                </a:solidFill>
                <a:latin typeface="Georgia"/>
              </a:rPr>
              <a:t>One application</a:t>
            </a:r>
          </a:p>
        </p:txBody>
      </p:sp>
      <p:sp>
        <p:nvSpPr>
          <p:cNvPr id="13" name="TextBox 12"/>
          <p:cNvSpPr txBox="1"/>
          <p:nvPr/>
        </p:nvSpPr>
        <p:spPr>
          <a:xfrm>
            <a:off x="8321040" y="2642615"/>
            <a:ext cx="338328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16-service shop (bookstore for deployment only)</a:t>
            </a:r>
          </a:p>
        </p:txBody>
      </p:sp>
      <p:sp>
        <p:nvSpPr>
          <p:cNvPr id="14" name="Rounded Rectangle 13"/>
          <p:cNvSpPr/>
          <p:nvPr/>
        </p:nvSpPr>
        <p:spPr>
          <a:xfrm>
            <a:off x="6446520" y="3474720"/>
            <a:ext cx="5330952" cy="73152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3511296"/>
            <a:ext cx="1737360" cy="658368"/>
          </a:xfrm>
          <a:prstGeom prst="rect">
            <a:avLst/>
          </a:prstGeom>
          <a:noFill/>
        </p:spPr>
        <p:txBody>
          <a:bodyPr wrap="square" anchor="ctr" lIns="36576" rIns="36576" tIns="36576" bIns="36576">
            <a:spAutoFit/>
          </a:bodyPr>
          <a:lstStyle/>
          <a:p>
            <a:pPr algn="l">
              <a:spcAft>
                <a:spcPts val="400"/>
              </a:spcAft>
            </a:pPr>
            <a:r>
              <a:rPr sz="1400" b="1" i="0">
                <a:solidFill>
                  <a:srgbClr val="6E0B2A"/>
                </a:solidFill>
                <a:latin typeface="Georgia"/>
              </a:rPr>
              <a:t>Host noise</a:t>
            </a:r>
          </a:p>
        </p:txBody>
      </p:sp>
      <p:sp>
        <p:nvSpPr>
          <p:cNvPr id="16" name="TextBox 15"/>
          <p:cNvSpPr txBox="1"/>
          <p:nvPr/>
        </p:nvSpPr>
        <p:spPr>
          <a:xfrm>
            <a:off x="8321040" y="3511296"/>
            <a:ext cx="338328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large run-to-run variance; 7 runs excluded</a:t>
            </a:r>
          </a:p>
        </p:txBody>
      </p:sp>
      <p:sp>
        <p:nvSpPr>
          <p:cNvPr id="17" name="Rounded Rectangle 16"/>
          <p:cNvSpPr/>
          <p:nvPr/>
        </p:nvSpPr>
        <p:spPr>
          <a:xfrm>
            <a:off x="6446520" y="4343400"/>
            <a:ext cx="5330952" cy="73152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379976"/>
            <a:ext cx="1737360" cy="658368"/>
          </a:xfrm>
          <a:prstGeom prst="rect">
            <a:avLst/>
          </a:prstGeom>
          <a:noFill/>
        </p:spPr>
        <p:txBody>
          <a:bodyPr wrap="square" anchor="ctr" lIns="36576" rIns="36576" tIns="36576" bIns="36576">
            <a:spAutoFit/>
          </a:bodyPr>
          <a:lstStyle/>
          <a:p>
            <a:pPr algn="l">
              <a:spcAft>
                <a:spcPts val="400"/>
              </a:spcAft>
            </a:pPr>
            <a:r>
              <a:rPr sz="1400" b="1" i="0">
                <a:solidFill>
                  <a:srgbClr val="6E0B2A"/>
                </a:solidFill>
                <a:latin typeface="Georgia"/>
              </a:rPr>
              <a:t>Calibration</a:t>
            </a:r>
          </a:p>
        </p:txBody>
      </p:sp>
      <p:sp>
        <p:nvSpPr>
          <p:cNvPr id="19" name="TextBox 18"/>
          <p:cNvSpPr txBox="1"/>
          <p:nvPr/>
        </p:nvSpPr>
        <p:spPr>
          <a:xfrm>
            <a:off x="8321040" y="4379976"/>
            <a:ext cx="338328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thresholds and twins are per laptop</a:t>
            </a:r>
          </a:p>
        </p:txBody>
      </p:sp>
      <p:sp>
        <p:nvSpPr>
          <p:cNvPr id="20" name="Rounded Rectangle 19"/>
          <p:cNvSpPr/>
          <p:nvPr/>
        </p:nvSpPr>
        <p:spPr>
          <a:xfrm>
            <a:off x="6446520" y="5212079"/>
            <a:ext cx="5330952" cy="731520"/>
          </a:xfrm>
          <a:prstGeom prst="roundRect">
            <a:avLst>
              <a:gd name="adj" fmla="val 6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5248655"/>
            <a:ext cx="1737360" cy="658368"/>
          </a:xfrm>
          <a:prstGeom prst="rect">
            <a:avLst/>
          </a:prstGeom>
          <a:noFill/>
        </p:spPr>
        <p:txBody>
          <a:bodyPr wrap="square" anchor="ctr" lIns="36576" rIns="36576" tIns="36576" bIns="36576">
            <a:spAutoFit/>
          </a:bodyPr>
          <a:lstStyle/>
          <a:p>
            <a:pPr algn="l">
              <a:spcAft>
                <a:spcPts val="400"/>
              </a:spcAft>
            </a:pPr>
            <a:r>
              <a:rPr sz="1400" b="1" i="0">
                <a:solidFill>
                  <a:srgbClr val="6E0B2A"/>
                </a:solidFill>
                <a:latin typeface="Georgia"/>
              </a:rPr>
              <a:t>Signal</a:t>
            </a:r>
          </a:p>
        </p:txBody>
      </p:sp>
      <p:sp>
        <p:nvSpPr>
          <p:cNvPr id="22" name="TextBox 21"/>
          <p:cNvSpPr txBox="1"/>
          <p:nvPr/>
        </p:nvSpPr>
        <p:spPr>
          <a:xfrm>
            <a:off x="8321040" y="5248655"/>
            <a:ext cx="3383280" cy="658368"/>
          </a:xfrm>
          <a:prstGeom prst="rect">
            <a:avLst/>
          </a:prstGeom>
          <a:noFill/>
        </p:spPr>
        <p:txBody>
          <a:bodyPr wrap="square" anchor="ctr" lIns="36576" rIns="36576" tIns="36576" bIns="36576">
            <a:spAutoFit/>
          </a:bodyPr>
          <a:lstStyle/>
          <a:p>
            <a:pPr algn="l">
              <a:spcAft>
                <a:spcPts val="400"/>
              </a:spcAft>
            </a:pPr>
            <a:r>
              <a:rPr sz="1300" b="0" i="0">
                <a:solidFill>
                  <a:srgbClr val="222222"/>
                </a:solidFill>
                <a:latin typeface="Georgia"/>
              </a:rPr>
              <a:t>policies read mainly CPU, not latency</a:t>
            </a:r>
          </a:p>
        </p:txBody>
      </p:sp>
    </p:spTree>
    <p:extLst>
      <p:ext uri="{BB962C8B-B14F-4D97-AF65-F5344CB8AC3E}">
        <p14:creationId xmlns:p14="http://schemas.microsoft.com/office/powerpoint/2010/main" val="1988382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491447-DB3F-0F09-A8B2-F74212741548}"/>
              </a:ext>
            </a:extLst>
          </p:cNvPr>
          <p:cNvSpPr>
            <a:spLocks noGrp="1"/>
          </p:cNvSpPr>
          <p:nvPr>
            <p:ph type="title"/>
          </p:nvPr>
        </p:nvSpPr>
        <p:spPr>
          <a:xfrm>
            <a:off x="566928" y="347472"/>
            <a:ext cx="11210544" cy="466344"/>
          </a:xfrm>
        </p:spPr>
        <p:txBody>
          <a:bodyPr/>
          <a:lstStyle/>
          <a:p>
            <a:r>
              <a:rPr lang="en-IN" dirty="0"/>
              <a:t>Conclusion</a:t>
            </a:r>
          </a:p>
        </p:txBody>
      </p:sp>
      <p:sp>
        <p:nvSpPr>
          <p:cNvPr id="4" name="Slide Number Placeholder 3">
            <a:extLst>
              <a:ext uri="{FF2B5EF4-FFF2-40B4-BE49-F238E27FC236}">
                <a16:creationId xmlns:a16="http://schemas.microsoft.com/office/drawing/2014/main" id="{BEA9957D-CF9E-B9CC-4B48-FE9B6E6EAF27}"/>
              </a:ext>
            </a:extLst>
          </p:cNvPr>
          <p:cNvSpPr>
            <a:spLocks noGrp="1"/>
          </p:cNvSpPr>
          <p:nvPr>
            <p:ph type="sldNum" sz="quarter" idx="12"/>
          </p:nvPr>
        </p:nvSpPr>
        <p:spPr/>
        <p:txBody>
          <a:bodyPr/>
          <a:lstStyle/>
          <a:p>
            <a:fld id="{330EA680-D336-4FF7-8B7A-9848BB0A1C32}" type="slidenum">
              <a:rPr lang="en-US" smtClean="0"/>
              <a:pPr/>
              <a:t>14</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Objective-wise status: planned vs achieved</a:t>
            </a:r>
          </a:p>
        </p:txBody>
      </p:sp>
      <p:graphicFrame>
        <p:nvGraphicFramePr>
          <p:cNvPr id="6" name="Table 5"/>
          <p:cNvGraphicFramePr>
            <a:graphicFrameLocks noGrp="1"/>
          </p:cNvGraphicFramePr>
          <p:nvPr/>
        </p:nvGraphicFramePr>
        <p:xfrm>
          <a:off x="566928" y="1325880"/>
          <a:ext cx="9555480" cy="3584448"/>
        </p:xfrm>
        <a:graphic>
          <a:graphicData uri="http://schemas.openxmlformats.org/drawingml/2006/table">
            <a:tbl>
              <a:tblPr firstRow="0" bandRow="0">
                <a:tableStyleId>{5C22544A-7EE6-4342-B048-85BDC9FD1C3A}</a:tableStyleId>
              </a:tblPr>
              <a:tblGrid>
                <a:gridCol w="2240280"/>
                <a:gridCol w="2514600"/>
                <a:gridCol w="3566160"/>
                <a:gridCol w="1234440"/>
              </a:tblGrid>
              <a:tr h="512064">
                <a:tc>
                  <a:txBody>
                    <a:bodyPr wrap="square"/>
                    <a:lstStyle/>
                    <a:p>
                      <a:r>
                        <a:rPr sz="1300" b="1" i="0">
                          <a:solidFill>
                            <a:srgbClr val="FFFFFF"/>
                          </a:solidFill>
                          <a:latin typeface="Georgia"/>
                        </a:rPr>
                        <a:t>Objective</a:t>
                      </a:r>
                    </a:p>
                  </a:txBody>
                  <a:tcPr marL="54864" marR="54864" marT="27432" marB="27432" anchor="ctr">
                    <a:solidFill>
                      <a:srgbClr val="A4123F"/>
                    </a:solidFill>
                  </a:tcPr>
                </a:tc>
                <a:tc>
                  <a:txBody>
                    <a:bodyPr wrap="square"/>
                    <a:lstStyle/>
                    <a:p>
                      <a:r>
                        <a:rPr sz="1300" b="1" i="0">
                          <a:solidFill>
                            <a:srgbClr val="FFFFFF"/>
                          </a:solidFill>
                          <a:latin typeface="Georgia"/>
                        </a:rPr>
                        <a:t>Planned</a:t>
                      </a:r>
                    </a:p>
                  </a:txBody>
                  <a:tcPr marL="54864" marR="54864" marT="27432" marB="27432" anchor="ctr">
                    <a:solidFill>
                      <a:srgbClr val="A4123F"/>
                    </a:solidFill>
                  </a:tcPr>
                </a:tc>
                <a:tc>
                  <a:txBody>
                    <a:bodyPr wrap="square"/>
                    <a:lstStyle/>
                    <a:p>
                      <a:r>
                        <a:rPr sz="1300" b="1" i="0">
                          <a:solidFill>
                            <a:srgbClr val="FFFFFF"/>
                          </a:solidFill>
                          <a:latin typeface="Georgia"/>
                        </a:rPr>
                        <a:t>Achieved</a:t>
                      </a:r>
                    </a:p>
                  </a:txBody>
                  <a:tcPr marL="54864" marR="54864" marT="27432" marB="27432" anchor="ctr">
                    <a:solidFill>
                      <a:srgbClr val="A4123F"/>
                    </a:solidFill>
                  </a:tcPr>
                </a:tc>
                <a:tc>
                  <a:txBody>
                    <a:bodyPr wrap="square"/>
                    <a:lstStyle/>
                    <a:p>
                      <a:r>
                        <a:rPr sz="1300" b="1" i="0">
                          <a:solidFill>
                            <a:srgbClr val="FFFFFF"/>
                          </a:solidFill>
                          <a:latin typeface="Georgia"/>
                        </a:rPr>
                        <a:t>Status</a:t>
                      </a:r>
                    </a:p>
                  </a:txBody>
                  <a:tcPr marL="54864" marR="54864" marT="27432" marB="27432" anchor="ctr">
                    <a:solidFill>
                      <a:srgbClr val="A4123F"/>
                    </a:solidFill>
                  </a:tcPr>
                </a:tc>
              </a:tr>
              <a:tr h="512064">
                <a:tc>
                  <a:txBody>
                    <a:bodyPr wrap="square"/>
                    <a:lstStyle/>
                    <a:p>
                      <a:r>
                        <a:rPr sz="1300" b="1" i="0">
                          <a:solidFill>
                            <a:srgbClr val="222222"/>
                          </a:solidFill>
                          <a:latin typeface="Georgia"/>
                        </a:rPr>
                        <a:t>O1 Framework</a:t>
                      </a:r>
                    </a:p>
                  </a:txBody>
                  <a:tcPr marL="54864" marR="54864" marT="27432" marB="27432" anchor="ctr">
                    <a:solidFill>
                      <a:srgbClr val="FFFFFF"/>
                    </a:solidFill>
                  </a:tcPr>
                </a:tc>
                <a:tc>
                  <a:txBody>
                    <a:bodyPr wrap="square"/>
                    <a:lstStyle/>
                    <a:p>
                      <a:r>
                        <a:rPr sz="1300" b="0" i="0">
                          <a:solidFill>
                            <a:srgbClr val="222222"/>
                          </a:solidFill>
                          <a:latin typeface="Georgia"/>
                        </a:rPr>
                        <a:t>Add-on for any K8s app</a:t>
                      </a:r>
                    </a:p>
                  </a:txBody>
                  <a:tcPr marL="54864" marR="54864" marT="27432" marB="27432" anchor="ctr">
                    <a:solidFill>
                      <a:srgbClr val="FFFFFF"/>
                    </a:solidFill>
                  </a:tcPr>
                </a:tc>
                <a:tc>
                  <a:txBody>
                    <a:bodyPr wrap="square"/>
                    <a:lstStyle/>
                    <a:p>
                      <a:r>
                        <a:rPr sz="1300" b="0" i="0">
                          <a:solidFill>
                            <a:srgbClr val="222222"/>
                          </a:solidFill>
                          <a:latin typeface="Georgia"/>
                        </a:rPr>
                        <a:t>Shop + bookstore, no code changes</a:t>
                      </a:r>
                    </a:p>
                  </a:txBody>
                  <a:tcPr marL="54864" marR="54864" marT="27432" marB="27432" anchor="ctr">
                    <a:solidFill>
                      <a:srgbClr val="FFFFFF"/>
                    </a:solidFill>
                  </a:tcPr>
                </a:tc>
                <a:tc>
                  <a:txBody>
                    <a:bodyPr wrap="square"/>
                    <a:lstStyle/>
                    <a:p>
                      <a:r>
                        <a:rPr sz="1300" b="0" i="0">
                          <a:solidFill>
                            <a:srgbClr val="222222"/>
                          </a:solidFill>
                          <a:latin typeface="Georgia"/>
                        </a:rPr>
                        <a:t>Achieved</a:t>
                      </a:r>
                    </a:p>
                  </a:txBody>
                  <a:tcPr marL="54864" marR="54864" marT="27432" marB="27432" anchor="ctr">
                    <a:solidFill>
                      <a:srgbClr val="EAF4EF"/>
                    </a:solidFill>
                  </a:tcPr>
                </a:tc>
              </a:tr>
              <a:tr h="512064">
                <a:tc>
                  <a:txBody>
                    <a:bodyPr wrap="square"/>
                    <a:lstStyle/>
                    <a:p>
                      <a:r>
                        <a:rPr sz="1300" b="1" i="0">
                          <a:solidFill>
                            <a:srgbClr val="222222"/>
                          </a:solidFill>
                          <a:latin typeface="Georgia"/>
                        </a:rPr>
                        <a:t>O2 RL engine</a:t>
                      </a:r>
                    </a:p>
                  </a:txBody>
                  <a:tcPr marL="54864" marR="54864" marT="27432" marB="27432" anchor="ctr">
                    <a:solidFill>
                      <a:srgbClr val="FBF1F4"/>
                    </a:solidFill>
                  </a:tcPr>
                </a:tc>
                <a:tc>
                  <a:txBody>
                    <a:bodyPr wrap="square"/>
                    <a:lstStyle/>
                    <a:p>
                      <a:r>
                        <a:rPr sz="1300" b="0" i="0">
                          <a:solidFill>
                            <a:srgbClr val="222222"/>
                          </a:solidFill>
                          <a:latin typeface="Georgia"/>
                        </a:rPr>
                        <a:t>PPO on live metrics</a:t>
                      </a:r>
                    </a:p>
                  </a:txBody>
                  <a:tcPr marL="54864" marR="54864" marT="27432" marB="27432" anchor="ctr">
                    <a:solidFill>
                      <a:srgbClr val="FBF1F4"/>
                    </a:solidFill>
                  </a:tcPr>
                </a:tc>
                <a:tc>
                  <a:txBody>
                    <a:bodyPr wrap="square"/>
                    <a:lstStyle/>
                    <a:p>
                      <a:r>
                        <a:rPr sz="1300" b="0" i="0">
                          <a:solidFill>
                            <a:srgbClr val="222222"/>
                          </a:solidFill>
                          <a:latin typeface="Georgia"/>
                        </a:rPr>
                        <a:t>v1-v9; v9 GPU-trained, live inference</a:t>
                      </a:r>
                    </a:p>
                  </a:txBody>
                  <a:tcPr marL="54864" marR="54864" marT="27432" marB="27432" anchor="ctr">
                    <a:solidFill>
                      <a:srgbClr val="FBF1F4"/>
                    </a:solidFill>
                  </a:tcPr>
                </a:tc>
                <a:tc>
                  <a:txBody>
                    <a:bodyPr wrap="square"/>
                    <a:lstStyle/>
                    <a:p>
                      <a:r>
                        <a:rPr sz="1300" b="0" i="0">
                          <a:solidFill>
                            <a:srgbClr val="222222"/>
                          </a:solidFill>
                          <a:latin typeface="Georgia"/>
                        </a:rPr>
                        <a:t>Achieved</a:t>
                      </a:r>
                    </a:p>
                  </a:txBody>
                  <a:tcPr marL="54864" marR="54864" marT="27432" marB="27432" anchor="ctr">
                    <a:solidFill>
                      <a:srgbClr val="EAF4EF"/>
                    </a:solidFill>
                  </a:tcPr>
                </a:tc>
              </a:tr>
              <a:tr h="512064">
                <a:tc>
                  <a:txBody>
                    <a:bodyPr wrap="square"/>
                    <a:lstStyle/>
                    <a:p>
                      <a:r>
                        <a:rPr sz="1300" b="1" i="0">
                          <a:solidFill>
                            <a:srgbClr val="222222"/>
                          </a:solidFill>
                          <a:latin typeface="Georgia"/>
                        </a:rPr>
                        <a:t>O3 Dependency-aware</a:t>
                      </a:r>
                    </a:p>
                  </a:txBody>
                  <a:tcPr marL="54864" marR="54864" marT="27432" marB="27432" anchor="ctr">
                    <a:solidFill>
                      <a:srgbClr val="FFFFFF"/>
                    </a:solidFill>
                  </a:tcPr>
                </a:tc>
                <a:tc>
                  <a:txBody>
                    <a:bodyPr wrap="square"/>
                    <a:lstStyle/>
                    <a:p>
                      <a:r>
                        <a:rPr sz="1300" b="0" i="0">
                          <a:solidFill>
                            <a:srgbClr val="222222"/>
                          </a:solidFill>
                          <a:latin typeface="Georgia"/>
                        </a:rPr>
                        <a:t>GNN over call graph</a:t>
                      </a:r>
                    </a:p>
                  </a:txBody>
                  <a:tcPr marL="54864" marR="54864" marT="27432" marB="27432" anchor="ctr">
                    <a:solidFill>
                      <a:srgbClr val="FFFFFF"/>
                    </a:solidFill>
                  </a:tcPr>
                </a:tc>
                <a:tc>
                  <a:txBody>
                    <a:bodyPr wrap="square"/>
                    <a:lstStyle/>
                    <a:p>
                      <a:r>
                        <a:rPr sz="1300" b="0" i="0">
                          <a:solidFill>
                            <a:srgbClr val="222222"/>
                          </a:solidFill>
                          <a:latin typeface="Georgia"/>
                        </a:rPr>
                        <a:t>Implemented; ablation: no measurable gain</a:t>
                      </a:r>
                    </a:p>
                  </a:txBody>
                  <a:tcPr marL="54864" marR="54864" marT="27432" marB="27432" anchor="ctr">
                    <a:solidFill>
                      <a:srgbClr val="FFFFFF"/>
                    </a:solidFill>
                  </a:tcPr>
                </a:tc>
                <a:tc>
                  <a:txBody>
                    <a:bodyPr wrap="square"/>
                    <a:lstStyle/>
                    <a:p>
                      <a:r>
                        <a:rPr sz="1300" b="0" i="0">
                          <a:solidFill>
                            <a:srgbClr val="222222"/>
                          </a:solidFill>
                          <a:latin typeface="Georgia"/>
                        </a:rPr>
                        <a:t>Achieved</a:t>
                      </a:r>
                    </a:p>
                  </a:txBody>
                  <a:tcPr marL="54864" marR="54864" marT="27432" marB="27432" anchor="ctr">
                    <a:solidFill>
                      <a:srgbClr val="EAF4EF"/>
                    </a:solidFill>
                  </a:tcPr>
                </a:tc>
              </a:tr>
              <a:tr h="512064">
                <a:tc>
                  <a:txBody>
                    <a:bodyPr wrap="square"/>
                    <a:lstStyle/>
                    <a:p>
                      <a:r>
                        <a:rPr sz="1300" b="1" i="0">
                          <a:solidFill>
                            <a:srgbClr val="222222"/>
                          </a:solidFill>
                          <a:latin typeface="Georgia"/>
                        </a:rPr>
                        <a:t>O4 Safe operation</a:t>
                      </a:r>
                    </a:p>
                  </a:txBody>
                  <a:tcPr marL="54864" marR="54864" marT="27432" marB="27432" anchor="ctr">
                    <a:solidFill>
                      <a:srgbClr val="FBF1F4"/>
                    </a:solidFill>
                  </a:tcPr>
                </a:tc>
                <a:tc>
                  <a:txBody>
                    <a:bodyPr wrap="square"/>
                    <a:lstStyle/>
                    <a:p>
                      <a:r>
                        <a:rPr sz="1300" b="0" i="0">
                          <a:solidFill>
                            <a:srgbClr val="222222"/>
                          </a:solidFill>
                          <a:latin typeface="Georgia"/>
                        </a:rPr>
                        <a:t>Bounded, exclusive, fallback</a:t>
                      </a:r>
                    </a:p>
                  </a:txBody>
                  <a:tcPr marL="54864" marR="54864" marT="27432" marB="27432" anchor="ctr">
                    <a:solidFill>
                      <a:srgbClr val="FBF1F4"/>
                    </a:solidFill>
                  </a:tcPr>
                </a:tc>
                <a:tc>
                  <a:txBody>
                    <a:bodyPr wrap="square"/>
                    <a:lstStyle/>
                    <a:p>
                      <a:r>
                        <a:rPr sz="1300" b="0" i="0">
                          <a:solidFill>
                            <a:srgbClr val="222222"/>
                          </a:solidFill>
                          <a:latin typeface="Georgia"/>
                        </a:rPr>
                        <a:t>Verified incl. outage and SIGKILL</a:t>
                      </a:r>
                    </a:p>
                  </a:txBody>
                  <a:tcPr marL="54864" marR="54864" marT="27432" marB="27432" anchor="ctr">
                    <a:solidFill>
                      <a:srgbClr val="FBF1F4"/>
                    </a:solidFill>
                  </a:tcPr>
                </a:tc>
                <a:tc>
                  <a:txBody>
                    <a:bodyPr wrap="square"/>
                    <a:lstStyle/>
                    <a:p>
                      <a:r>
                        <a:rPr sz="1300" b="0" i="0">
                          <a:solidFill>
                            <a:srgbClr val="222222"/>
                          </a:solidFill>
                          <a:latin typeface="Georgia"/>
                        </a:rPr>
                        <a:t>Achieved</a:t>
                      </a:r>
                    </a:p>
                  </a:txBody>
                  <a:tcPr marL="54864" marR="54864" marT="27432" marB="27432" anchor="ctr">
                    <a:solidFill>
                      <a:srgbClr val="EAF4EF"/>
                    </a:solidFill>
                  </a:tcPr>
                </a:tc>
              </a:tr>
              <a:tr h="512064">
                <a:tc>
                  <a:txBody>
                    <a:bodyPr wrap="square"/>
                    <a:lstStyle/>
                    <a:p>
                      <a:r>
                        <a:rPr sz="1300" b="1" i="0">
                          <a:solidFill>
                            <a:srgbClr val="222222"/>
                          </a:solidFill>
                          <a:latin typeface="Georgia"/>
                        </a:rPr>
                        <a:t>O5 Fair evaluation</a:t>
                      </a:r>
                    </a:p>
                  </a:txBody>
                  <a:tcPr marL="54864" marR="54864" marT="27432" marB="27432" anchor="ctr">
                    <a:solidFill>
                      <a:srgbClr val="FFFFFF"/>
                    </a:solidFill>
                  </a:tcPr>
                </a:tc>
                <a:tc>
                  <a:txBody>
                    <a:bodyPr wrap="square"/>
                    <a:lstStyle/>
                    <a:p>
                      <a:r>
                        <a:rPr sz="1300" b="0" i="0">
                          <a:solidFill>
                            <a:srgbClr val="222222"/>
                          </a:solidFill>
                          <a:latin typeface="Georgia"/>
                        </a:rPr>
                        <a:t>vs HPA: latency, cost, SLO</a:t>
                      </a:r>
                    </a:p>
                  </a:txBody>
                  <a:tcPr marL="54864" marR="54864" marT="27432" marB="27432" anchor="ctr">
                    <a:solidFill>
                      <a:srgbClr val="FFFFFF"/>
                    </a:solidFill>
                  </a:tcPr>
                </a:tc>
                <a:tc>
                  <a:txBody>
                    <a:bodyPr wrap="square"/>
                    <a:lstStyle/>
                    <a:p>
                      <a:r>
                        <a:rPr sz="1300" b="0" i="0">
                          <a:solidFill>
                            <a:srgbClr val="222222"/>
                          </a:solidFill>
                          <a:latin typeface="Georgia"/>
                        </a:rPr>
                        <a:t>−7.7% vs default; on par vs tuned</a:t>
                      </a:r>
                    </a:p>
                  </a:txBody>
                  <a:tcPr marL="54864" marR="54864" marT="27432" marB="27432" anchor="ctr">
                    <a:solidFill>
                      <a:srgbClr val="FFFFFF"/>
                    </a:solidFill>
                  </a:tcPr>
                </a:tc>
                <a:tc>
                  <a:txBody>
                    <a:bodyPr wrap="square"/>
                    <a:lstStyle/>
                    <a:p>
                      <a:r>
                        <a:rPr sz="1300" b="0" i="0">
                          <a:solidFill>
                            <a:srgbClr val="222222"/>
                          </a:solidFill>
                          <a:latin typeface="Georgia"/>
                        </a:rPr>
                        <a:t>Achieved</a:t>
                      </a:r>
                    </a:p>
                  </a:txBody>
                  <a:tcPr marL="54864" marR="54864" marT="27432" marB="27432" anchor="ctr">
                    <a:solidFill>
                      <a:srgbClr val="EAF4EF"/>
                    </a:solidFill>
                  </a:tcPr>
                </a:tc>
              </a:tr>
              <a:tr h="512064">
                <a:tc>
                  <a:txBody>
                    <a:bodyPr wrap="square"/>
                    <a:lstStyle/>
                    <a:p>
                      <a:r>
                        <a:rPr sz="1300" b="1" i="0">
                          <a:solidFill>
                            <a:srgbClr val="222222"/>
                          </a:solidFill>
                          <a:latin typeface="Georgia"/>
                        </a:rPr>
                        <a:t>O6 Deployment</a:t>
                      </a:r>
                    </a:p>
                  </a:txBody>
                  <a:tcPr marL="54864" marR="54864" marT="27432" marB="27432" anchor="ctr">
                    <a:solidFill>
                      <a:srgbClr val="FBF1F4"/>
                    </a:solidFill>
                  </a:tcPr>
                </a:tc>
                <a:tc>
                  <a:txBody>
                    <a:bodyPr wrap="square"/>
                    <a:lstStyle/>
                    <a:p>
                      <a:r>
                        <a:rPr sz="1300" b="0" i="0">
                          <a:solidFill>
                            <a:srgbClr val="222222"/>
                          </a:solidFill>
                          <a:latin typeface="Georgia"/>
                        </a:rPr>
                        <a:t>Dashboard + Helm</a:t>
                      </a:r>
                    </a:p>
                  </a:txBody>
                  <a:tcPr marL="54864" marR="54864" marT="27432" marB="27432" anchor="ctr">
                    <a:solidFill>
                      <a:srgbClr val="FBF1F4"/>
                    </a:solidFill>
                  </a:tcPr>
                </a:tc>
                <a:tc>
                  <a:txBody>
                    <a:bodyPr wrap="square"/>
                    <a:lstStyle/>
                    <a:p>
                      <a:r>
                        <a:rPr sz="1300" b="0" i="0">
                          <a:solidFill>
                            <a:srgbClr val="222222"/>
                          </a:solidFill>
                          <a:latin typeface="Georgia"/>
                        </a:rPr>
                        <a:t>7-page dashboard; Helm 33/33</a:t>
                      </a:r>
                    </a:p>
                  </a:txBody>
                  <a:tcPr marL="54864" marR="54864" marT="27432" marB="27432" anchor="ctr">
                    <a:solidFill>
                      <a:srgbClr val="FBF1F4"/>
                    </a:solidFill>
                  </a:tcPr>
                </a:tc>
                <a:tc>
                  <a:txBody>
                    <a:bodyPr wrap="square"/>
                    <a:lstStyle/>
                    <a:p>
                      <a:r>
                        <a:rPr sz="1300" b="0" i="0">
                          <a:solidFill>
                            <a:srgbClr val="222222"/>
                          </a:solidFill>
                          <a:latin typeface="Georgia"/>
                        </a:rPr>
                        <a:t>Achieved</a:t>
                      </a:r>
                    </a:p>
                  </a:txBody>
                  <a:tcPr marL="54864" marR="54864" marT="27432" marB="27432" anchor="ctr">
                    <a:solidFill>
                      <a:srgbClr val="EAF4EF"/>
                    </a:solidFill>
                  </a:tcPr>
                </a:tc>
              </a:tr>
            </a:tbl>
          </a:graphicData>
        </a:graphic>
      </p:graphicFrame>
      <p:sp>
        <p:nvSpPr>
          <p:cNvPr id="7" name="Rounded Rectangle 6"/>
          <p:cNvSpPr/>
          <p:nvPr/>
        </p:nvSpPr>
        <p:spPr>
          <a:xfrm>
            <a:off x="10058400" y="1325880"/>
            <a:ext cx="1719072" cy="3584448"/>
          </a:xfrm>
          <a:prstGeom prst="roundRect">
            <a:avLst>
              <a:gd name="adj" fmla="val 6000"/>
            </a:avLst>
          </a:prstGeom>
          <a:solidFill>
            <a:srgbClr val="F7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0" y="1417320"/>
            <a:ext cx="1554480" cy="3383280"/>
          </a:xfrm>
          <a:prstGeom prst="rect">
            <a:avLst/>
          </a:prstGeom>
          <a:noFill/>
        </p:spPr>
        <p:txBody>
          <a:bodyPr wrap="square" anchor="t" lIns="36576" rIns="36576" tIns="36576" bIns="36576">
            <a:spAutoFit/>
          </a:bodyPr>
          <a:lstStyle/>
          <a:p>
            <a:pPr algn="ctr">
              <a:spcAft>
                <a:spcPts val="0"/>
              </a:spcAft>
            </a:pPr>
            <a:r>
              <a:rPr sz="1400" b="1" i="0">
                <a:solidFill>
                  <a:srgbClr val="6E0B2A"/>
                </a:solidFill>
                <a:latin typeface="Georgia"/>
              </a:rPr>
              <a:t>373</a:t>
            </a:r>
          </a:p>
          <a:p>
            <a:pPr algn="ctr">
              <a:spcAft>
                <a:spcPts val="0"/>
              </a:spcAft>
            </a:pPr>
            <a:r>
              <a:rPr sz="1400" b="1" i="0">
                <a:solidFill>
                  <a:srgbClr val="6E0B2A"/>
                </a:solidFill>
                <a:latin typeface="Georgia"/>
              </a:rPr>
              <a:t>tests pass</a:t>
            </a:r>
          </a:p>
          <a:p>
            <a:pPr algn="ctr">
              <a:spcAft>
                <a:spcPts val="0"/>
              </a:spcAft>
            </a:pPr>
          </a:p>
          <a:p>
            <a:pPr algn="ctr">
              <a:spcAft>
                <a:spcPts val="0"/>
              </a:spcAft>
            </a:pPr>
            <a:r>
              <a:rPr sz="1400" b="1" i="0">
                <a:solidFill>
                  <a:srgbClr val="6E0B2A"/>
                </a:solidFill>
                <a:latin typeface="Georgia"/>
              </a:rPr>
              <a:t>46</a:t>
            </a:r>
          </a:p>
          <a:p>
            <a:pPr algn="ctr">
              <a:spcAft>
                <a:spcPts val="0"/>
              </a:spcAft>
            </a:pPr>
            <a:r>
              <a:rPr sz="1400" b="1" i="0">
                <a:solidFill>
                  <a:srgbClr val="6E0B2A"/>
                </a:solidFill>
                <a:latin typeface="Georgia"/>
              </a:rPr>
              <a:t>valid runs</a:t>
            </a:r>
          </a:p>
          <a:p>
            <a:pPr algn="ctr">
              <a:spcAft>
                <a:spcPts val="0"/>
              </a:spcAft>
            </a:pPr>
          </a:p>
          <a:p>
            <a:pPr algn="ctr">
              <a:spcAft>
                <a:spcPts val="0"/>
              </a:spcAft>
            </a:pPr>
            <a:r>
              <a:rPr sz="1400" b="1" i="0">
                <a:solidFill>
                  <a:srgbClr val="6E0B2A"/>
                </a:solidFill>
                <a:latin typeface="Georgia"/>
              </a:rPr>
              <a:t>9</a:t>
            </a:r>
          </a:p>
          <a:p>
            <a:pPr algn="ctr">
              <a:spcAft>
                <a:spcPts val="0"/>
              </a:spcAft>
            </a:pPr>
            <a:r>
              <a:rPr sz="1400" b="1" i="0">
                <a:solidFill>
                  <a:srgbClr val="6E0B2A"/>
                </a:solidFill>
                <a:latin typeface="Georgia"/>
              </a:rPr>
              <a:t>verification runs</a:t>
            </a:r>
          </a:p>
        </p:txBody>
      </p:sp>
      <p:sp>
        <p:nvSpPr>
          <p:cNvPr id="9" name="Rounded Rectangle 8"/>
          <p:cNvSpPr/>
          <p:nvPr/>
        </p:nvSpPr>
        <p:spPr>
          <a:xfrm>
            <a:off x="566928" y="5120640"/>
            <a:ext cx="11210544" cy="105156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166360"/>
            <a:ext cx="10753344" cy="960120"/>
          </a:xfrm>
          <a:prstGeom prst="rect">
            <a:avLst/>
          </a:prstGeom>
          <a:noFill/>
        </p:spPr>
        <p:txBody>
          <a:bodyPr wrap="square" anchor="ctr" lIns="36576" rIns="36576" tIns="36576" bIns="36576">
            <a:spAutoFit/>
          </a:bodyPr>
          <a:lstStyle/>
          <a:p>
            <a:pPr algn="l">
              <a:spcAft>
                <a:spcPts val="400"/>
              </a:spcAft>
            </a:pPr>
            <a:r>
              <a:rPr sz="1600" b="1" i="0">
                <a:solidFill>
                  <a:srgbClr val="222222"/>
                </a:solidFill>
                <a:latin typeface="Georgia"/>
              </a:rPr>
              <a:t>FlexaScale is a working, safe and explainable RL autoscaler. It saves resources against the default HPA and matches, but does not beat, a carefully tuned HPA.</a:t>
            </a:r>
          </a:p>
        </p:txBody>
      </p:sp>
    </p:spTree>
    <p:extLst>
      <p:ext uri="{BB962C8B-B14F-4D97-AF65-F5344CB8AC3E}">
        <p14:creationId xmlns:p14="http://schemas.microsoft.com/office/powerpoint/2010/main" val="2108157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CE052A-0441-EECD-6B31-D027D3928706}"/>
              </a:ext>
            </a:extLst>
          </p:cNvPr>
          <p:cNvSpPr>
            <a:spLocks noGrp="1"/>
          </p:cNvSpPr>
          <p:nvPr>
            <p:ph type="title"/>
          </p:nvPr>
        </p:nvSpPr>
        <p:spPr>
          <a:xfrm>
            <a:off x="566928" y="347472"/>
            <a:ext cx="11210544" cy="466344"/>
          </a:xfrm>
        </p:spPr>
        <p:txBody>
          <a:bodyPr/>
          <a:lstStyle/>
          <a:p>
            <a:r>
              <a:rPr lang="en-IN" dirty="0"/>
              <a:t>Future Work</a:t>
            </a:r>
          </a:p>
        </p:txBody>
      </p:sp>
      <p:sp>
        <p:nvSpPr>
          <p:cNvPr id="4" name="Slide Number Placeholder 3">
            <a:extLst>
              <a:ext uri="{FF2B5EF4-FFF2-40B4-BE49-F238E27FC236}">
                <a16:creationId xmlns:a16="http://schemas.microsoft.com/office/drawing/2014/main" id="{74921331-D3A1-D200-5CEB-5B124D2C8F81}"/>
              </a:ext>
            </a:extLst>
          </p:cNvPr>
          <p:cNvSpPr>
            <a:spLocks noGrp="1"/>
          </p:cNvSpPr>
          <p:nvPr>
            <p:ph type="sldNum" sz="quarter" idx="12"/>
          </p:nvPr>
        </p:nvSpPr>
        <p:spPr/>
        <p:txBody>
          <a:bodyPr/>
          <a:lstStyle/>
          <a:p>
            <a:fld id="{330EA680-D336-4FF7-8B7A-9848BB0A1C32}" type="slidenum">
              <a:rPr lang="en-US" smtClean="0"/>
              <a:pPr/>
              <a:t>15</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S8 phase</a:t>
            </a:r>
          </a:p>
        </p:txBody>
      </p:sp>
      <p:sp>
        <p:nvSpPr>
          <p:cNvPr id="6" name="Rounded Rectangle 5"/>
          <p:cNvSpPr/>
          <p:nvPr/>
        </p:nvSpPr>
        <p:spPr>
          <a:xfrm>
            <a:off x="566928" y="1325880"/>
            <a:ext cx="3611880" cy="219456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527048"/>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1</a:t>
            </a:r>
          </a:p>
        </p:txBody>
      </p:sp>
      <p:sp>
        <p:nvSpPr>
          <p:cNvPr id="8" name="TextBox 7"/>
          <p:cNvSpPr txBox="1"/>
          <p:nvPr/>
        </p:nvSpPr>
        <p:spPr>
          <a:xfrm>
            <a:off x="1344168" y="1508760"/>
            <a:ext cx="2743200" cy="54864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Latency-aware Auto</a:t>
            </a:r>
          </a:p>
        </p:txBody>
      </p:sp>
      <p:sp>
        <p:nvSpPr>
          <p:cNvPr id="9" name="TextBox 8"/>
          <p:cNvSpPr txBox="1"/>
          <p:nvPr/>
        </p:nvSpPr>
        <p:spPr>
          <a:xfrm>
            <a:off x="749808" y="2194560"/>
            <a:ext cx="3291840" cy="11887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Add end-to-end and per-service latency SLOs to the state and SLA-risk rule</a:t>
            </a:r>
          </a:p>
        </p:txBody>
      </p:sp>
      <p:sp>
        <p:nvSpPr>
          <p:cNvPr id="10" name="Rounded Rectangle 9"/>
          <p:cNvSpPr/>
          <p:nvPr/>
        </p:nvSpPr>
        <p:spPr>
          <a:xfrm>
            <a:off x="4361688" y="1325880"/>
            <a:ext cx="3611880" cy="219456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44568" y="1527048"/>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2</a:t>
            </a:r>
          </a:p>
        </p:txBody>
      </p:sp>
      <p:sp>
        <p:nvSpPr>
          <p:cNvPr id="12" name="TextBox 11"/>
          <p:cNvSpPr txBox="1"/>
          <p:nvPr/>
        </p:nvSpPr>
        <p:spPr>
          <a:xfrm>
            <a:off x="5138928" y="1508760"/>
            <a:ext cx="2743200" cy="54864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Per-cluster calibration</a:t>
            </a:r>
          </a:p>
        </p:txBody>
      </p:sp>
      <p:sp>
        <p:nvSpPr>
          <p:cNvPr id="13" name="TextBox 12"/>
          <p:cNvSpPr txBox="1"/>
          <p:nvPr/>
        </p:nvSpPr>
        <p:spPr>
          <a:xfrm>
            <a:off x="4544568" y="2194560"/>
            <a:ext cx="3291840" cy="11887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Derive thresholds and tuned baselines automatically on each cluster</a:t>
            </a:r>
          </a:p>
        </p:txBody>
      </p:sp>
      <p:sp>
        <p:nvSpPr>
          <p:cNvPr id="14" name="Rounded Rectangle 13"/>
          <p:cNvSpPr/>
          <p:nvPr/>
        </p:nvSpPr>
        <p:spPr>
          <a:xfrm>
            <a:off x="8156448" y="1325880"/>
            <a:ext cx="3611880" cy="219456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39327" y="1527048"/>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3</a:t>
            </a:r>
          </a:p>
        </p:txBody>
      </p:sp>
      <p:sp>
        <p:nvSpPr>
          <p:cNvPr id="16" name="TextBox 15"/>
          <p:cNvSpPr txBox="1"/>
          <p:nvPr/>
        </p:nvSpPr>
        <p:spPr>
          <a:xfrm>
            <a:off x="8933688" y="1508760"/>
            <a:ext cx="2743200" cy="54864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Stronger baselines</a:t>
            </a:r>
          </a:p>
        </p:txBody>
      </p:sp>
      <p:sp>
        <p:nvSpPr>
          <p:cNvPr id="17" name="TextBox 16"/>
          <p:cNvSpPr txBox="1"/>
          <p:nvPr/>
        </p:nvSpPr>
        <p:spPr>
          <a:xfrm>
            <a:off x="8339327" y="2194560"/>
            <a:ext cx="3291840" cy="11887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Per-service tuned HPAs, custom-metric HPAs, faster metrics</a:t>
            </a:r>
          </a:p>
        </p:txBody>
      </p:sp>
      <p:sp>
        <p:nvSpPr>
          <p:cNvPr id="18" name="Rounded Rectangle 17"/>
          <p:cNvSpPr/>
          <p:nvPr/>
        </p:nvSpPr>
        <p:spPr>
          <a:xfrm>
            <a:off x="566928" y="3794760"/>
            <a:ext cx="3611880" cy="219456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3995928"/>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4</a:t>
            </a:r>
          </a:p>
        </p:txBody>
      </p:sp>
      <p:sp>
        <p:nvSpPr>
          <p:cNvPr id="20" name="TextBox 19"/>
          <p:cNvSpPr txBox="1"/>
          <p:nvPr/>
        </p:nvSpPr>
        <p:spPr>
          <a:xfrm>
            <a:off x="1344168" y="3977640"/>
            <a:ext cx="2743200" cy="54864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Larger clusters</a:t>
            </a:r>
          </a:p>
        </p:txBody>
      </p:sp>
      <p:sp>
        <p:nvSpPr>
          <p:cNvPr id="21" name="TextBox 20"/>
          <p:cNvSpPr txBox="1"/>
          <p:nvPr/>
        </p:nvSpPr>
        <p:spPr>
          <a:xfrm>
            <a:off x="749808" y="4663440"/>
            <a:ext cx="3291840" cy="11887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Multi-node cluster, heavier and longer workloads</a:t>
            </a:r>
          </a:p>
        </p:txBody>
      </p:sp>
      <p:sp>
        <p:nvSpPr>
          <p:cNvPr id="22" name="Rounded Rectangle 21"/>
          <p:cNvSpPr/>
          <p:nvPr/>
        </p:nvSpPr>
        <p:spPr>
          <a:xfrm>
            <a:off x="4361688" y="3794760"/>
            <a:ext cx="3611880" cy="219456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44568" y="3995928"/>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5</a:t>
            </a:r>
          </a:p>
        </p:txBody>
      </p:sp>
      <p:sp>
        <p:nvSpPr>
          <p:cNvPr id="24" name="TextBox 23"/>
          <p:cNvSpPr txBox="1"/>
          <p:nvPr/>
        </p:nvSpPr>
        <p:spPr>
          <a:xfrm>
            <a:off x="5138928" y="3977640"/>
            <a:ext cx="2743200" cy="54864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Safe online adaptation</a:t>
            </a:r>
          </a:p>
        </p:txBody>
      </p:sp>
      <p:sp>
        <p:nvSpPr>
          <p:cNvPr id="25" name="TextBox 24"/>
          <p:cNvSpPr txBox="1"/>
          <p:nvPr/>
        </p:nvSpPr>
        <p:spPr>
          <a:xfrm>
            <a:off x="4544568" y="4663440"/>
            <a:ext cx="3291840" cy="11887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Fine-tune in shadow mode; deploy only after the gate</a:t>
            </a:r>
          </a:p>
        </p:txBody>
      </p:sp>
      <p:sp>
        <p:nvSpPr>
          <p:cNvPr id="26" name="Rounded Rectangle 25"/>
          <p:cNvSpPr/>
          <p:nvPr/>
        </p:nvSpPr>
        <p:spPr>
          <a:xfrm>
            <a:off x="8156448" y="3794760"/>
            <a:ext cx="3611880" cy="219456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39327" y="3995928"/>
            <a:ext cx="457200" cy="4572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6</a:t>
            </a:r>
          </a:p>
        </p:txBody>
      </p:sp>
      <p:sp>
        <p:nvSpPr>
          <p:cNvPr id="28" name="TextBox 27"/>
          <p:cNvSpPr txBox="1"/>
          <p:nvPr/>
        </p:nvSpPr>
        <p:spPr>
          <a:xfrm>
            <a:off x="8933688" y="3977640"/>
            <a:ext cx="2743200" cy="548640"/>
          </a:xfrm>
          <a:prstGeom prst="rect">
            <a:avLst/>
          </a:prstGeom>
          <a:noFill/>
        </p:spPr>
        <p:txBody>
          <a:bodyPr wrap="square" anchor="ctr" lIns="36576" rIns="36576" tIns="36576" bIns="36576">
            <a:spAutoFit/>
          </a:bodyPr>
          <a:lstStyle/>
          <a:p>
            <a:pPr algn="l">
              <a:spcAft>
                <a:spcPts val="400"/>
              </a:spcAft>
            </a:pPr>
            <a:r>
              <a:rPr sz="1700" b="1" i="0">
                <a:solidFill>
                  <a:srgbClr val="6E0B2A"/>
                </a:solidFill>
                <a:latin typeface="Georgia"/>
              </a:rPr>
              <a:t>Publication</a:t>
            </a:r>
          </a:p>
        </p:txBody>
      </p:sp>
      <p:sp>
        <p:nvSpPr>
          <p:cNvPr id="29" name="TextBox 28"/>
          <p:cNvSpPr txBox="1"/>
          <p:nvPr/>
        </p:nvSpPr>
        <p:spPr>
          <a:xfrm>
            <a:off x="8339327" y="4663440"/>
            <a:ext cx="3291840" cy="1188720"/>
          </a:xfrm>
          <a:prstGeom prst="rect">
            <a:avLst/>
          </a:prstGeom>
          <a:noFill/>
        </p:spPr>
        <p:txBody>
          <a:bodyPr wrap="square" anchor="t" lIns="36576" rIns="36576" tIns="36576" bIns="36576">
            <a:spAutoFit/>
          </a:bodyPr>
          <a:lstStyle/>
          <a:p>
            <a:pPr algn="l">
              <a:spcAft>
                <a:spcPts val="400"/>
              </a:spcAft>
            </a:pPr>
            <a:r>
              <a:rPr sz="1400" b="0" i="0">
                <a:solidFill>
                  <a:srgbClr val="222222"/>
                </a:solidFill>
                <a:latin typeface="Georgia"/>
              </a:rPr>
              <a:t>Paper on fair evaluation of learned autoscalers; final dissertation</a:t>
            </a:r>
          </a:p>
        </p:txBody>
      </p:sp>
    </p:spTree>
    <p:extLst>
      <p:ext uri="{BB962C8B-B14F-4D97-AF65-F5344CB8AC3E}">
        <p14:creationId xmlns:p14="http://schemas.microsoft.com/office/powerpoint/2010/main" val="3328825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427B18-F0B1-2D9B-7EFB-512A903C3DBB}"/>
              </a:ext>
            </a:extLst>
          </p:cNvPr>
          <p:cNvSpPr>
            <a:spLocks noGrp="1"/>
          </p:cNvSpPr>
          <p:nvPr>
            <p:ph type="title"/>
          </p:nvPr>
        </p:nvSpPr>
        <p:spPr>
          <a:xfrm>
            <a:off x="566928" y="347472"/>
            <a:ext cx="11210544" cy="466344"/>
          </a:xfrm>
        </p:spPr>
        <p:txBody>
          <a:bodyPr/>
          <a:lstStyle/>
          <a:p>
            <a:r>
              <a:rPr lang="en-IN" dirty="0"/>
              <a:t>Team Contribution</a:t>
            </a:r>
          </a:p>
        </p:txBody>
      </p:sp>
      <p:sp>
        <p:nvSpPr>
          <p:cNvPr id="4" name="Slide Number Placeholder 3">
            <a:extLst>
              <a:ext uri="{FF2B5EF4-FFF2-40B4-BE49-F238E27FC236}">
                <a16:creationId xmlns:a16="http://schemas.microsoft.com/office/drawing/2014/main" id="{A1E21439-D229-493D-F721-FD50067EFC1B}"/>
              </a:ext>
            </a:extLst>
          </p:cNvPr>
          <p:cNvSpPr>
            <a:spLocks noGrp="1"/>
          </p:cNvSpPr>
          <p:nvPr>
            <p:ph type="sldNum" sz="quarter" idx="12"/>
          </p:nvPr>
        </p:nvSpPr>
        <p:spPr/>
        <p:txBody>
          <a:bodyPr/>
          <a:lstStyle/>
          <a:p>
            <a:fld id="{330EA680-D336-4FF7-8B7A-9848BB0A1C32}" type="slidenum">
              <a:rPr lang="en-US" smtClean="0"/>
              <a:pPr/>
              <a:t>16</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Main areas, from the project's Git history</a:t>
            </a:r>
          </a:p>
        </p:txBody>
      </p:sp>
      <p:sp>
        <p:nvSpPr>
          <p:cNvPr id="6" name="Rounded Rectangle 5"/>
          <p:cNvSpPr/>
          <p:nvPr/>
        </p:nvSpPr>
        <p:spPr>
          <a:xfrm>
            <a:off x="566928" y="1325880"/>
            <a:ext cx="2651760" cy="48463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35607" y="1508760"/>
            <a:ext cx="914400" cy="9144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Georgia"/>
              </a:rPr>
              <a:t>GOA</a:t>
            </a:r>
          </a:p>
        </p:txBody>
      </p:sp>
      <p:sp>
        <p:nvSpPr>
          <p:cNvPr id="8" name="TextBox 7"/>
          <p:cNvSpPr txBox="1"/>
          <p:nvPr/>
        </p:nvSpPr>
        <p:spPr>
          <a:xfrm>
            <a:off x="676656" y="2542032"/>
            <a:ext cx="2432304" cy="640080"/>
          </a:xfrm>
          <a:prstGeom prst="rect">
            <a:avLst/>
          </a:prstGeom>
          <a:noFill/>
        </p:spPr>
        <p:txBody>
          <a:bodyPr wrap="square" anchor="b" lIns="36576" rIns="36576" tIns="36576" bIns="36576">
            <a:spAutoFit/>
          </a:bodyPr>
          <a:lstStyle/>
          <a:p>
            <a:pPr algn="ctr">
              <a:spcAft>
                <a:spcPts val="400"/>
              </a:spcAft>
            </a:pPr>
            <a:r>
              <a:rPr sz="1500" b="1" i="0">
                <a:solidFill>
                  <a:srgbClr val="6E0B2A"/>
                </a:solidFill>
                <a:latin typeface="Georgia"/>
              </a:rPr>
              <a:t>G O Ashwin Praveen</a:t>
            </a:r>
          </a:p>
        </p:txBody>
      </p:sp>
      <p:sp>
        <p:nvSpPr>
          <p:cNvPr id="9" name="TextBox 8"/>
          <p:cNvSpPr txBox="1"/>
          <p:nvPr/>
        </p:nvSpPr>
        <p:spPr>
          <a:xfrm>
            <a:off x="676656" y="3200400"/>
            <a:ext cx="2432304" cy="320040"/>
          </a:xfrm>
          <a:prstGeom prst="rect">
            <a:avLst/>
          </a:prstGeom>
          <a:noFill/>
        </p:spPr>
        <p:txBody>
          <a:bodyPr wrap="square" anchor="t" lIns="36576" rIns="36576" tIns="36576" bIns="36576">
            <a:spAutoFit/>
          </a:bodyPr>
          <a:lstStyle/>
          <a:p>
            <a:pPr algn="ctr">
              <a:spcAft>
                <a:spcPts val="400"/>
              </a:spcAft>
            </a:pPr>
            <a:r>
              <a:rPr sz="1100" b="0" i="0">
                <a:solidFill>
                  <a:srgbClr val="5F6670"/>
                </a:solidFill>
                <a:latin typeface="Georgia"/>
              </a:rPr>
              <a:t>AM.SC.U4CSE23027</a:t>
            </a:r>
          </a:p>
        </p:txBody>
      </p:sp>
      <p:sp>
        <p:nvSpPr>
          <p:cNvPr id="10" name="TextBox 9"/>
          <p:cNvSpPr txBox="1"/>
          <p:nvPr/>
        </p:nvSpPr>
        <p:spPr>
          <a:xfrm>
            <a:off x="749808" y="3657600"/>
            <a:ext cx="2331720" cy="2468880"/>
          </a:xfrm>
          <a:prstGeom prst="rect">
            <a:avLst/>
          </a:prstGeom>
          <a:noFill/>
        </p:spPr>
        <p:txBody>
          <a:bodyPr wrap="square" anchor="t" lIns="36576" rIns="36576" tIns="36576" bIns="36576">
            <a:spAutoFit/>
          </a:bodyPr>
          <a:lstStyle/>
          <a:p>
            <a:pPr algn="l">
              <a:spcAft>
                <a:spcPts val="600"/>
              </a:spcAft>
            </a:pPr>
            <a:r>
              <a:rPr sz="1300" b="1" i="0">
                <a:solidFill>
                  <a:srgbClr val="A4123F"/>
                </a:solidFill>
                <a:latin typeface="Georgia"/>
              </a:rPr>
              <a:t>•  </a:t>
            </a:r>
            <a:r>
              <a:rPr sz="1300" b="0" i="0">
                <a:solidFill>
                  <a:srgbClr val="222222"/>
                </a:solidFill>
                <a:latin typeface="Georgia"/>
              </a:rPr>
              <a:t>System integration and operator</a:t>
            </a:r>
          </a:p>
          <a:p>
            <a:pPr algn="l">
              <a:spcAft>
                <a:spcPts val="600"/>
              </a:spcAft>
            </a:pPr>
            <a:r>
              <a:rPr sz="1300" b="1" i="0">
                <a:solidFill>
                  <a:srgbClr val="A4123F"/>
                </a:solidFill>
                <a:latin typeface="Georgia"/>
              </a:rPr>
              <a:t>•  </a:t>
            </a:r>
            <a:r>
              <a:rPr sz="1300" b="0" i="0">
                <a:solidFill>
                  <a:srgbClr val="222222"/>
                </a:solidFill>
                <a:latin typeface="Georgia"/>
              </a:rPr>
              <a:t>Auto mode and safety layer</a:t>
            </a:r>
          </a:p>
          <a:p>
            <a:pPr algn="l">
              <a:spcAft>
                <a:spcPts val="600"/>
              </a:spcAft>
            </a:pPr>
            <a:r>
              <a:rPr sz="1300" b="1" i="0">
                <a:solidFill>
                  <a:srgbClr val="A4123F"/>
                </a:solidFill>
                <a:latin typeface="Georgia"/>
              </a:rPr>
              <a:t>•  </a:t>
            </a:r>
            <a:r>
              <a:rPr sz="1300" b="0" i="0">
                <a:solidFill>
                  <a:srgbClr val="222222"/>
                </a:solidFill>
                <a:latin typeface="Georgia"/>
              </a:rPr>
              <a:t>Experiment lab and dashboard</a:t>
            </a:r>
          </a:p>
          <a:p>
            <a:pPr algn="l">
              <a:spcAft>
                <a:spcPts val="600"/>
              </a:spcAft>
            </a:pPr>
            <a:r>
              <a:rPr sz="1300" b="1" i="0">
                <a:solidFill>
                  <a:srgbClr val="A4123F"/>
                </a:solidFill>
                <a:latin typeface="Georgia"/>
              </a:rPr>
              <a:t>•  </a:t>
            </a:r>
            <a:r>
              <a:rPr sz="1300" b="0" i="0">
                <a:solidFill>
                  <a:srgbClr val="222222"/>
                </a:solidFill>
                <a:latin typeface="Georgia"/>
              </a:rPr>
              <a:t>Application twin, v7 training</a:t>
            </a:r>
          </a:p>
          <a:p>
            <a:pPr algn="l">
              <a:spcAft>
                <a:spcPts val="600"/>
              </a:spcAft>
            </a:pPr>
            <a:r>
              <a:rPr sz="1300" b="1" i="0">
                <a:solidFill>
                  <a:srgbClr val="A4123F"/>
                </a:solidFill>
                <a:latin typeface="Georgia"/>
              </a:rPr>
              <a:t>•  </a:t>
            </a:r>
            <a:r>
              <a:rPr sz="1300" b="0" i="0">
                <a:solidFill>
                  <a:srgbClr val="222222"/>
                </a:solidFill>
                <a:latin typeface="Georgia"/>
              </a:rPr>
              <a:t>Live verification and Helm</a:t>
            </a:r>
          </a:p>
        </p:txBody>
      </p:sp>
      <p:sp>
        <p:nvSpPr>
          <p:cNvPr id="11" name="Rounded Rectangle 10"/>
          <p:cNvSpPr/>
          <p:nvPr/>
        </p:nvSpPr>
        <p:spPr>
          <a:xfrm>
            <a:off x="3401568" y="1325880"/>
            <a:ext cx="2651760" cy="48463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70248" y="1508760"/>
            <a:ext cx="914400" cy="9144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Georgia"/>
              </a:rPr>
              <a:t>DUD</a:t>
            </a:r>
          </a:p>
        </p:txBody>
      </p:sp>
      <p:sp>
        <p:nvSpPr>
          <p:cNvPr id="13" name="TextBox 12"/>
          <p:cNvSpPr txBox="1"/>
          <p:nvPr/>
        </p:nvSpPr>
        <p:spPr>
          <a:xfrm>
            <a:off x="3511296" y="2542032"/>
            <a:ext cx="2432304" cy="640080"/>
          </a:xfrm>
          <a:prstGeom prst="rect">
            <a:avLst/>
          </a:prstGeom>
          <a:noFill/>
        </p:spPr>
        <p:txBody>
          <a:bodyPr wrap="square" anchor="b" lIns="36576" rIns="36576" tIns="36576" bIns="36576">
            <a:spAutoFit/>
          </a:bodyPr>
          <a:lstStyle/>
          <a:p>
            <a:pPr algn="ctr">
              <a:spcAft>
                <a:spcPts val="400"/>
              </a:spcAft>
            </a:pPr>
            <a:r>
              <a:rPr sz="1500" b="1" i="0">
                <a:solidFill>
                  <a:srgbClr val="6E0B2A"/>
                </a:solidFill>
                <a:latin typeface="Georgia"/>
              </a:rPr>
              <a:t>Dattanand U D</a:t>
            </a:r>
          </a:p>
        </p:txBody>
      </p:sp>
      <p:sp>
        <p:nvSpPr>
          <p:cNvPr id="14" name="TextBox 13"/>
          <p:cNvSpPr txBox="1"/>
          <p:nvPr/>
        </p:nvSpPr>
        <p:spPr>
          <a:xfrm>
            <a:off x="3511296" y="3200400"/>
            <a:ext cx="2432304" cy="320040"/>
          </a:xfrm>
          <a:prstGeom prst="rect">
            <a:avLst/>
          </a:prstGeom>
          <a:noFill/>
        </p:spPr>
        <p:txBody>
          <a:bodyPr wrap="square" anchor="t" lIns="36576" rIns="36576" tIns="36576" bIns="36576">
            <a:spAutoFit/>
          </a:bodyPr>
          <a:lstStyle/>
          <a:p>
            <a:pPr algn="ctr">
              <a:spcAft>
                <a:spcPts val="400"/>
              </a:spcAft>
            </a:pPr>
            <a:r>
              <a:rPr sz="1100" b="0" i="0">
                <a:solidFill>
                  <a:srgbClr val="5F6670"/>
                </a:solidFill>
                <a:latin typeface="Georgia"/>
              </a:rPr>
              <a:t>AM.SC.U4CSE23023</a:t>
            </a:r>
          </a:p>
        </p:txBody>
      </p:sp>
      <p:sp>
        <p:nvSpPr>
          <p:cNvPr id="15" name="TextBox 14"/>
          <p:cNvSpPr txBox="1"/>
          <p:nvPr/>
        </p:nvSpPr>
        <p:spPr>
          <a:xfrm>
            <a:off x="3584448" y="3657600"/>
            <a:ext cx="2331720" cy="2468880"/>
          </a:xfrm>
          <a:prstGeom prst="rect">
            <a:avLst/>
          </a:prstGeom>
          <a:noFill/>
        </p:spPr>
        <p:txBody>
          <a:bodyPr wrap="square" anchor="t" lIns="36576" rIns="36576" tIns="36576" bIns="36576">
            <a:spAutoFit/>
          </a:bodyPr>
          <a:lstStyle/>
          <a:p>
            <a:pPr algn="l">
              <a:spcAft>
                <a:spcPts val="600"/>
              </a:spcAft>
            </a:pPr>
            <a:r>
              <a:rPr sz="1300" b="1" i="0">
                <a:solidFill>
                  <a:srgbClr val="A4123F"/>
                </a:solidFill>
                <a:latin typeface="Georgia"/>
              </a:rPr>
              <a:t>•  </a:t>
            </a:r>
            <a:r>
              <a:rPr sz="1300" b="0" i="0">
                <a:solidFill>
                  <a:srgbClr val="222222"/>
                </a:solidFill>
                <a:latin typeface="Georgia"/>
              </a:rPr>
              <a:t>Minikube cluster and Helm setup</a:t>
            </a:r>
          </a:p>
          <a:p>
            <a:pPr algn="l">
              <a:spcAft>
                <a:spcPts val="600"/>
              </a:spcAft>
            </a:pPr>
            <a:r>
              <a:rPr sz="1300" b="1" i="0">
                <a:solidFill>
                  <a:srgbClr val="A4123F"/>
                </a:solidFill>
                <a:latin typeface="Georgia"/>
              </a:rPr>
              <a:t>•  </a:t>
            </a:r>
            <a:r>
              <a:rPr sz="1300" b="0" i="0">
                <a:solidFill>
                  <a:srgbClr val="222222"/>
                </a:solidFill>
                <a:latin typeface="Georgia"/>
              </a:rPr>
              <a:t>State-vector schema</a:t>
            </a:r>
          </a:p>
          <a:p>
            <a:pPr algn="l">
              <a:spcAft>
                <a:spcPts val="600"/>
              </a:spcAft>
            </a:pPr>
            <a:r>
              <a:rPr sz="1300" b="1" i="0">
                <a:solidFill>
                  <a:srgbClr val="A4123F"/>
                </a:solidFill>
                <a:latin typeface="Georgia"/>
              </a:rPr>
              <a:t>•  </a:t>
            </a:r>
            <a:r>
              <a:rPr sz="1300" b="0" i="0">
                <a:solidFill>
                  <a:srgbClr val="222222"/>
                </a:solidFill>
                <a:latin typeface="Georgia"/>
              </a:rPr>
              <a:t>GNN encoder</a:t>
            </a:r>
          </a:p>
          <a:p>
            <a:pPr algn="l">
              <a:spcAft>
                <a:spcPts val="600"/>
              </a:spcAft>
            </a:pPr>
            <a:r>
              <a:rPr sz="1300" b="1" i="0">
                <a:solidFill>
                  <a:srgbClr val="A4123F"/>
                </a:solidFill>
                <a:latin typeface="Georgia"/>
              </a:rPr>
              <a:t>•  </a:t>
            </a:r>
            <a:r>
              <a:rPr sz="1300" b="0" i="0">
                <a:solidFill>
                  <a:srgbClr val="222222"/>
                </a:solidFill>
                <a:latin typeface="Georgia"/>
              </a:rPr>
              <a:t>v9 GPU training</a:t>
            </a:r>
          </a:p>
          <a:p>
            <a:pPr algn="l">
              <a:spcAft>
                <a:spcPts val="600"/>
              </a:spcAft>
            </a:pPr>
            <a:r>
              <a:rPr sz="1300" b="1" i="0">
                <a:solidFill>
                  <a:srgbClr val="A4123F"/>
                </a:solidFill>
                <a:latin typeface="Georgia"/>
              </a:rPr>
              <a:t>•  </a:t>
            </a:r>
            <a:r>
              <a:rPr sz="1300" b="0" i="0">
                <a:solidFill>
                  <a:srgbClr val="222222"/>
                </a:solidFill>
                <a:latin typeface="Georgia"/>
              </a:rPr>
              <a:t>v9 pre-registered evaluation</a:t>
            </a:r>
          </a:p>
        </p:txBody>
      </p:sp>
      <p:sp>
        <p:nvSpPr>
          <p:cNvPr id="16" name="Rounded Rectangle 15"/>
          <p:cNvSpPr/>
          <p:nvPr/>
        </p:nvSpPr>
        <p:spPr>
          <a:xfrm>
            <a:off x="6236208" y="1325880"/>
            <a:ext cx="2651760" cy="48463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04888" y="1508760"/>
            <a:ext cx="914400" cy="9144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Georgia"/>
              </a:rPr>
              <a:t>AKR</a:t>
            </a:r>
          </a:p>
        </p:txBody>
      </p:sp>
      <p:sp>
        <p:nvSpPr>
          <p:cNvPr id="18" name="TextBox 17"/>
          <p:cNvSpPr txBox="1"/>
          <p:nvPr/>
        </p:nvSpPr>
        <p:spPr>
          <a:xfrm>
            <a:off x="6345936" y="2542032"/>
            <a:ext cx="2432304" cy="640080"/>
          </a:xfrm>
          <a:prstGeom prst="rect">
            <a:avLst/>
          </a:prstGeom>
          <a:noFill/>
        </p:spPr>
        <p:txBody>
          <a:bodyPr wrap="square" anchor="b" lIns="36576" rIns="36576" tIns="36576" bIns="36576">
            <a:spAutoFit/>
          </a:bodyPr>
          <a:lstStyle/>
          <a:p>
            <a:pPr algn="ctr">
              <a:spcAft>
                <a:spcPts val="400"/>
              </a:spcAft>
            </a:pPr>
            <a:r>
              <a:rPr sz="1500" b="1" i="0">
                <a:solidFill>
                  <a:srgbClr val="6E0B2A"/>
                </a:solidFill>
                <a:latin typeface="Georgia"/>
              </a:rPr>
              <a:t>Atmakrishna K Raghavan</a:t>
            </a:r>
          </a:p>
        </p:txBody>
      </p:sp>
      <p:sp>
        <p:nvSpPr>
          <p:cNvPr id="19" name="TextBox 18"/>
          <p:cNvSpPr txBox="1"/>
          <p:nvPr/>
        </p:nvSpPr>
        <p:spPr>
          <a:xfrm>
            <a:off x="6345936" y="3200400"/>
            <a:ext cx="2432304" cy="320040"/>
          </a:xfrm>
          <a:prstGeom prst="rect">
            <a:avLst/>
          </a:prstGeom>
          <a:noFill/>
        </p:spPr>
        <p:txBody>
          <a:bodyPr wrap="square" anchor="t" lIns="36576" rIns="36576" tIns="36576" bIns="36576">
            <a:spAutoFit/>
          </a:bodyPr>
          <a:lstStyle/>
          <a:p>
            <a:pPr algn="ctr">
              <a:spcAft>
                <a:spcPts val="400"/>
              </a:spcAft>
            </a:pPr>
            <a:r>
              <a:rPr sz="1100" b="0" i="0">
                <a:solidFill>
                  <a:srgbClr val="5F6670"/>
                </a:solidFill>
                <a:latin typeface="Georgia"/>
              </a:rPr>
              <a:t>AM.SC.U4CSE23015</a:t>
            </a:r>
          </a:p>
        </p:txBody>
      </p:sp>
      <p:sp>
        <p:nvSpPr>
          <p:cNvPr id="20" name="TextBox 19"/>
          <p:cNvSpPr txBox="1"/>
          <p:nvPr/>
        </p:nvSpPr>
        <p:spPr>
          <a:xfrm>
            <a:off x="6419088" y="3657600"/>
            <a:ext cx="2331720" cy="2468880"/>
          </a:xfrm>
          <a:prstGeom prst="rect">
            <a:avLst/>
          </a:prstGeom>
          <a:noFill/>
        </p:spPr>
        <p:txBody>
          <a:bodyPr wrap="square" anchor="t" lIns="36576" rIns="36576" tIns="36576" bIns="36576">
            <a:spAutoFit/>
          </a:bodyPr>
          <a:lstStyle/>
          <a:p>
            <a:pPr algn="l">
              <a:spcAft>
                <a:spcPts val="600"/>
              </a:spcAft>
            </a:pPr>
            <a:r>
              <a:rPr sz="1300" b="1" i="0">
                <a:solidFill>
                  <a:srgbClr val="A4123F"/>
                </a:solidFill>
                <a:latin typeface="Georgia"/>
              </a:rPr>
              <a:t>•  </a:t>
            </a:r>
            <a:r>
              <a:rPr sz="1300" b="0" i="0">
                <a:solidFill>
                  <a:srgbClr val="222222"/>
                </a:solidFill>
                <a:latin typeface="Georgia"/>
              </a:rPr>
              <a:t>Prometheus and Grafana stack</a:t>
            </a:r>
          </a:p>
          <a:p>
            <a:pPr algn="l">
              <a:spcAft>
                <a:spcPts val="600"/>
              </a:spcAft>
            </a:pPr>
            <a:r>
              <a:rPr sz="1300" b="1" i="0">
                <a:solidFill>
                  <a:srgbClr val="A4123F"/>
                </a:solidFill>
                <a:latin typeface="Georgia"/>
              </a:rPr>
              <a:t>•  </a:t>
            </a:r>
            <a:r>
              <a:rPr sz="1300" b="0" i="0">
                <a:solidFill>
                  <a:srgbClr val="222222"/>
                </a:solidFill>
                <a:latin typeface="Georgia"/>
              </a:rPr>
              <a:t>Metrics client and schema validation</a:t>
            </a:r>
          </a:p>
          <a:p>
            <a:pPr algn="l">
              <a:spcAft>
                <a:spcPts val="600"/>
              </a:spcAft>
            </a:pPr>
            <a:r>
              <a:rPr sz="1300" b="1" i="0">
                <a:solidFill>
                  <a:srgbClr val="A4123F"/>
                </a:solidFill>
                <a:latin typeface="Georgia"/>
              </a:rPr>
              <a:t>•  </a:t>
            </a:r>
            <a:r>
              <a:rPr sz="1300" b="0" i="0">
                <a:solidFill>
                  <a:srgbClr val="222222"/>
                </a:solidFill>
                <a:latin typeface="Georgia"/>
              </a:rPr>
              <a:t>Confidence proxy</a:t>
            </a:r>
          </a:p>
          <a:p>
            <a:pPr algn="l">
              <a:spcAft>
                <a:spcPts val="600"/>
              </a:spcAft>
            </a:pPr>
            <a:r>
              <a:rPr sz="1300" b="1" i="0">
                <a:solidFill>
                  <a:srgbClr val="A4123F"/>
                </a:solidFill>
                <a:latin typeface="Georgia"/>
              </a:rPr>
              <a:t>•  </a:t>
            </a:r>
            <a:r>
              <a:rPr sz="1300" b="0" i="0">
                <a:solidFill>
                  <a:srgbClr val="222222"/>
                </a:solidFill>
                <a:latin typeface="Georgia"/>
              </a:rPr>
              <a:t>HPA vs RL comparison</a:t>
            </a:r>
          </a:p>
        </p:txBody>
      </p:sp>
      <p:sp>
        <p:nvSpPr>
          <p:cNvPr id="21" name="Rounded Rectangle 20"/>
          <p:cNvSpPr/>
          <p:nvPr/>
        </p:nvSpPr>
        <p:spPr>
          <a:xfrm>
            <a:off x="9070848" y="1325880"/>
            <a:ext cx="2651760" cy="4846320"/>
          </a:xfrm>
          <a:prstGeom prst="roundRect">
            <a:avLst>
              <a:gd name="adj" fmla="val 6000"/>
            </a:avLst>
          </a:prstGeom>
          <a:solidFill>
            <a:srgbClr val="FB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39528" y="1508760"/>
            <a:ext cx="914400" cy="914400"/>
          </a:xfrm>
          <a:prstGeom prst="ellipse">
            <a:avLst/>
          </a:prstGeom>
          <a:solidFill>
            <a:srgbClr val="A41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Georgia"/>
              </a:rPr>
              <a:t>GSS</a:t>
            </a:r>
          </a:p>
        </p:txBody>
      </p:sp>
      <p:sp>
        <p:nvSpPr>
          <p:cNvPr id="23" name="TextBox 22"/>
          <p:cNvSpPr txBox="1"/>
          <p:nvPr/>
        </p:nvSpPr>
        <p:spPr>
          <a:xfrm>
            <a:off x="9180576" y="2542032"/>
            <a:ext cx="2432304" cy="640080"/>
          </a:xfrm>
          <a:prstGeom prst="rect">
            <a:avLst/>
          </a:prstGeom>
          <a:noFill/>
        </p:spPr>
        <p:txBody>
          <a:bodyPr wrap="square" anchor="b" lIns="36576" rIns="36576" tIns="36576" bIns="36576">
            <a:spAutoFit/>
          </a:bodyPr>
          <a:lstStyle/>
          <a:p>
            <a:pPr algn="ctr">
              <a:spcAft>
                <a:spcPts val="400"/>
              </a:spcAft>
            </a:pPr>
            <a:r>
              <a:rPr sz="1500" b="1" i="0">
                <a:solidFill>
                  <a:srgbClr val="6E0B2A"/>
                </a:solidFill>
                <a:latin typeface="Georgia"/>
              </a:rPr>
              <a:t>Ghanshyam S Sunil</a:t>
            </a:r>
          </a:p>
        </p:txBody>
      </p:sp>
      <p:sp>
        <p:nvSpPr>
          <p:cNvPr id="24" name="TextBox 23"/>
          <p:cNvSpPr txBox="1"/>
          <p:nvPr/>
        </p:nvSpPr>
        <p:spPr>
          <a:xfrm>
            <a:off x="9180576" y="3200400"/>
            <a:ext cx="2432304" cy="320040"/>
          </a:xfrm>
          <a:prstGeom prst="rect">
            <a:avLst/>
          </a:prstGeom>
          <a:noFill/>
        </p:spPr>
        <p:txBody>
          <a:bodyPr wrap="square" anchor="t" lIns="36576" rIns="36576" tIns="36576" bIns="36576">
            <a:spAutoFit/>
          </a:bodyPr>
          <a:lstStyle/>
          <a:p>
            <a:pPr algn="ctr">
              <a:spcAft>
                <a:spcPts val="400"/>
              </a:spcAft>
            </a:pPr>
            <a:r>
              <a:rPr sz="1100" b="0" i="0">
                <a:solidFill>
                  <a:srgbClr val="5F6670"/>
                </a:solidFill>
                <a:latin typeface="Georgia"/>
              </a:rPr>
              <a:t>AM.SC.U4CSE23029</a:t>
            </a:r>
          </a:p>
        </p:txBody>
      </p:sp>
      <p:sp>
        <p:nvSpPr>
          <p:cNvPr id="25" name="TextBox 24"/>
          <p:cNvSpPr txBox="1"/>
          <p:nvPr/>
        </p:nvSpPr>
        <p:spPr>
          <a:xfrm>
            <a:off x="9253728" y="3657600"/>
            <a:ext cx="2331720" cy="2468880"/>
          </a:xfrm>
          <a:prstGeom prst="rect">
            <a:avLst/>
          </a:prstGeom>
          <a:noFill/>
        </p:spPr>
        <p:txBody>
          <a:bodyPr wrap="square" anchor="t" lIns="36576" rIns="36576" tIns="36576" bIns="36576">
            <a:spAutoFit/>
          </a:bodyPr>
          <a:lstStyle/>
          <a:p>
            <a:pPr algn="l">
              <a:spcAft>
                <a:spcPts val="600"/>
              </a:spcAft>
            </a:pPr>
            <a:r>
              <a:rPr sz="1300" b="1" i="0">
                <a:solidFill>
                  <a:srgbClr val="A4123F"/>
                </a:solidFill>
                <a:latin typeface="Georgia"/>
              </a:rPr>
              <a:t>•  </a:t>
            </a:r>
            <a:r>
              <a:rPr sz="1300" b="0" i="0">
                <a:solidFill>
                  <a:srgbClr val="222222"/>
                </a:solidFill>
                <a:latin typeface="Georgia"/>
              </a:rPr>
              <a:t>Demo microservices</a:t>
            </a:r>
          </a:p>
          <a:p>
            <a:pPr algn="l">
              <a:spcAft>
                <a:spcPts val="600"/>
              </a:spcAft>
            </a:pPr>
            <a:r>
              <a:rPr sz="1300" b="1" i="0">
                <a:solidFill>
                  <a:srgbClr val="A4123F"/>
                </a:solidFill>
                <a:latin typeface="Georgia"/>
              </a:rPr>
              <a:t>•  </a:t>
            </a:r>
            <a:r>
              <a:rPr sz="1300" b="0" i="0">
                <a:solidFill>
                  <a:srgbClr val="222222"/>
                </a:solidFill>
                <a:latin typeface="Georgia"/>
              </a:rPr>
              <a:t>PPO actor-critic training pipeline</a:t>
            </a:r>
          </a:p>
        </p:txBody>
      </p:sp>
    </p:spTree>
    <p:extLst>
      <p:ext uri="{BB962C8B-B14F-4D97-AF65-F5344CB8AC3E}">
        <p14:creationId xmlns:p14="http://schemas.microsoft.com/office/powerpoint/2010/main" val="790917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39B361-F43B-8C21-B490-80AAA9F6D2BD}"/>
              </a:ext>
            </a:extLst>
          </p:cNvPr>
          <p:cNvSpPr>
            <a:spLocks noGrp="1"/>
          </p:cNvSpPr>
          <p:nvPr>
            <p:ph type="title"/>
          </p:nvPr>
        </p:nvSpPr>
        <p:spPr>
          <a:xfrm>
            <a:off x="566928" y="347472"/>
            <a:ext cx="11210544" cy="466344"/>
          </a:xfrm>
        </p:spPr>
        <p:txBody>
          <a:bodyPr/>
          <a:lstStyle/>
          <a:p>
            <a:r>
              <a:rPr lang="en-IN" dirty="0"/>
              <a:t>Appendix A: Code and Demo</a:t>
            </a:r>
          </a:p>
        </p:txBody>
      </p:sp>
      <p:sp>
        <p:nvSpPr>
          <p:cNvPr id="4" name="Slide Number Placeholder 3">
            <a:extLst>
              <a:ext uri="{FF2B5EF4-FFF2-40B4-BE49-F238E27FC236}">
                <a16:creationId xmlns:a16="http://schemas.microsoft.com/office/drawing/2014/main" id="{83AB3012-FE2D-ECD3-68AC-0DD84E12A5AD}"/>
              </a:ext>
            </a:extLst>
          </p:cNvPr>
          <p:cNvSpPr>
            <a:spLocks noGrp="1"/>
          </p:cNvSpPr>
          <p:nvPr>
            <p:ph type="sldNum" sz="quarter" idx="12"/>
          </p:nvPr>
        </p:nvSpPr>
        <p:spPr/>
        <p:txBody>
          <a:bodyPr/>
          <a:lstStyle/>
          <a:p>
            <a:fld id="{330EA680-D336-4FF7-8B7A-9848BB0A1C32}" type="slidenum">
              <a:rPr lang="en-US" smtClean="0"/>
              <a:pPr/>
              <a:t>17</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Repository, commit and how to run</a:t>
            </a:r>
          </a:p>
        </p:txBody>
      </p:sp>
      <p:pic>
        <p:nvPicPr>
          <p:cNvPr id="6" name="Picture 5" descr="qr.png"/>
          <p:cNvPicPr>
            <a:picLocks noChangeAspect="1"/>
          </p:cNvPicPr>
          <p:nvPr/>
        </p:nvPicPr>
        <p:blipFill>
          <a:blip r:embed="rId2"/>
          <a:stretch>
            <a:fillRect/>
          </a:stretch>
        </p:blipFill>
        <p:spPr>
          <a:xfrm>
            <a:off x="566928" y="1371600"/>
            <a:ext cx="2743200" cy="2743200"/>
          </a:xfrm>
          <a:prstGeom prst="rect">
            <a:avLst/>
          </a:prstGeom>
        </p:spPr>
      </p:pic>
      <p:sp>
        <p:nvSpPr>
          <p:cNvPr id="7" name="TextBox 6"/>
          <p:cNvSpPr txBox="1"/>
          <p:nvPr/>
        </p:nvSpPr>
        <p:spPr>
          <a:xfrm>
            <a:off x="566928" y="4206240"/>
            <a:ext cx="2743200" cy="822960"/>
          </a:xfrm>
          <a:prstGeom prst="rect">
            <a:avLst/>
          </a:prstGeom>
          <a:noFill/>
        </p:spPr>
        <p:txBody>
          <a:bodyPr wrap="square" anchor="t" lIns="36576" rIns="36576" tIns="36576" bIns="36576">
            <a:spAutoFit/>
          </a:bodyPr>
          <a:lstStyle/>
          <a:p>
            <a:pPr algn="ctr">
              <a:spcAft>
                <a:spcPts val="400"/>
              </a:spcAft>
            </a:pPr>
            <a:r>
              <a:rPr sz="1200" b="0" i="0">
                <a:solidFill>
                  <a:srgbClr val="5F6670"/>
                </a:solidFill>
                <a:latin typeface="Georgia"/>
              </a:rPr>
              <a:t>Scan for the repository</a:t>
            </a:r>
          </a:p>
        </p:txBody>
      </p:sp>
      <p:sp>
        <p:nvSpPr>
          <p:cNvPr id="8" name="TextBox 7"/>
          <p:cNvSpPr txBox="1"/>
          <p:nvPr/>
        </p:nvSpPr>
        <p:spPr>
          <a:xfrm>
            <a:off x="3657600" y="1371600"/>
            <a:ext cx="8119872" cy="365760"/>
          </a:xfrm>
          <a:prstGeom prst="rect">
            <a:avLst/>
          </a:prstGeom>
          <a:noFill/>
        </p:spPr>
        <p:txBody>
          <a:bodyPr wrap="square" anchor="t" lIns="36576" rIns="36576" tIns="36576" bIns="36576">
            <a:spAutoFit/>
          </a:bodyPr>
          <a:lstStyle/>
          <a:p>
            <a:pPr algn="l">
              <a:spcAft>
                <a:spcPts val="400"/>
              </a:spcAft>
            </a:pPr>
            <a:r>
              <a:rPr sz="1600" b="1" i="0">
                <a:solidFill>
                  <a:srgbClr val="A4123F"/>
                </a:solidFill>
                <a:latin typeface="Georgia"/>
              </a:rPr>
              <a:t>Repository</a:t>
            </a:r>
          </a:p>
        </p:txBody>
      </p:sp>
      <p:sp>
        <p:nvSpPr>
          <p:cNvPr id="9" name="TextBox 8"/>
          <p:cNvSpPr txBox="1"/>
          <p:nvPr/>
        </p:nvSpPr>
        <p:spPr>
          <a:xfrm>
            <a:off x="3657600" y="1783080"/>
            <a:ext cx="8119872" cy="731520"/>
          </a:xfrm>
          <a:prstGeom prst="rect">
            <a:avLst/>
          </a:prstGeom>
          <a:noFill/>
        </p:spPr>
        <p:txBody>
          <a:bodyPr wrap="square" anchor="t" lIns="36576" rIns="36576" tIns="36576" bIns="36576">
            <a:spAutoFit/>
          </a:bodyPr>
          <a:lstStyle/>
          <a:p>
            <a:pPr algn="l">
              <a:spcAft>
                <a:spcPts val="200"/>
              </a:spcAft>
            </a:pPr>
            <a:r>
              <a:rPr sz="1500" b="0" i="0">
                <a:solidFill>
                  <a:srgbClr val="222222"/>
                </a:solidFill>
                <a:latin typeface="Courier New"/>
              </a:rPr>
              <a:t>https://github.com/ashwinpraveengo/flexascale</a:t>
            </a:r>
          </a:p>
          <a:p>
            <a:pPr algn="l">
              <a:spcAft>
                <a:spcPts val="200"/>
              </a:spcAft>
            </a:pPr>
            <a:r>
              <a:rPr sz="1500" b="0" i="0">
                <a:solidFill>
                  <a:srgbClr val="222222"/>
                </a:solidFill>
                <a:latin typeface="Courier New"/>
              </a:rPr>
              <a:t>branch main · commit d8416a2</a:t>
            </a:r>
          </a:p>
        </p:txBody>
      </p:sp>
      <p:sp>
        <p:nvSpPr>
          <p:cNvPr id="10" name="TextBox 9"/>
          <p:cNvSpPr txBox="1"/>
          <p:nvPr/>
        </p:nvSpPr>
        <p:spPr>
          <a:xfrm>
            <a:off x="3657600" y="2697480"/>
            <a:ext cx="8119872" cy="365760"/>
          </a:xfrm>
          <a:prstGeom prst="rect">
            <a:avLst/>
          </a:prstGeom>
          <a:noFill/>
        </p:spPr>
        <p:txBody>
          <a:bodyPr wrap="square" anchor="t" lIns="36576" rIns="36576" tIns="36576" bIns="36576">
            <a:spAutoFit/>
          </a:bodyPr>
          <a:lstStyle/>
          <a:p>
            <a:pPr algn="l">
              <a:spcAft>
                <a:spcPts val="400"/>
              </a:spcAft>
            </a:pPr>
            <a:r>
              <a:rPr sz="1600" b="1" i="0">
                <a:solidFill>
                  <a:srgbClr val="A4123F"/>
                </a:solidFill>
                <a:latin typeface="Georgia"/>
              </a:rPr>
              <a:t>Run the demo</a:t>
            </a:r>
          </a:p>
        </p:txBody>
      </p:sp>
      <p:sp>
        <p:nvSpPr>
          <p:cNvPr id="11" name="Rounded Rectangle 10"/>
          <p:cNvSpPr/>
          <p:nvPr/>
        </p:nvSpPr>
        <p:spPr>
          <a:xfrm>
            <a:off x="3657600" y="3108960"/>
            <a:ext cx="8119872" cy="1600200"/>
          </a:xfrm>
          <a:prstGeom prst="roundRect">
            <a:avLst>
              <a:gd name="adj" fmla="val 6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3200400"/>
            <a:ext cx="7772400" cy="1463040"/>
          </a:xfrm>
          <a:prstGeom prst="rect">
            <a:avLst/>
          </a:prstGeom>
          <a:noFill/>
        </p:spPr>
        <p:txBody>
          <a:bodyPr wrap="square" anchor="t" lIns="36576" rIns="36576" tIns="36576" bIns="36576">
            <a:spAutoFit/>
          </a:bodyPr>
          <a:lstStyle/>
          <a:p>
            <a:pPr algn="l">
              <a:spcAft>
                <a:spcPts val="600"/>
              </a:spcAft>
            </a:pPr>
            <a:r>
              <a:rPr sz="1400" b="0" i="0">
                <a:solidFill>
                  <a:srgbClr val="FFFFFF"/>
                </a:solidFill>
                <a:latin typeface="Courier New"/>
              </a:rPr>
              <a:t>./fsctl start      # cluster, monitoring, shop, dashboard</a:t>
            </a:r>
          </a:p>
          <a:p>
            <a:pPr algn="l">
              <a:spcAft>
                <a:spcPts val="600"/>
              </a:spcAft>
            </a:pPr>
            <a:r>
              <a:rPr sz="1400" b="0" i="0">
                <a:solidFill>
                  <a:srgbClr val="FFFFFF"/>
                </a:solidFill>
                <a:latin typeface="Courier New"/>
              </a:rPr>
              <a:t>open http://127.0.0.1:8090/  → Live lab → Auto → Start</a:t>
            </a:r>
          </a:p>
          <a:p>
            <a:pPr algn="l">
              <a:spcAft>
                <a:spcPts val="600"/>
              </a:spcAft>
            </a:pPr>
            <a:r>
              <a:rPr sz="1400" b="0" i="0">
                <a:solidFill>
                  <a:srgbClr val="FFFFFF"/>
                </a:solidFill>
                <a:latin typeface="Courier New"/>
              </a:rPr>
              <a:t>./fsctl stop       # restore every HPA, verify no Lease</a:t>
            </a:r>
          </a:p>
        </p:txBody>
      </p:sp>
      <p:sp>
        <p:nvSpPr>
          <p:cNvPr id="13" name="TextBox 12"/>
          <p:cNvSpPr txBox="1"/>
          <p:nvPr/>
        </p:nvSpPr>
        <p:spPr>
          <a:xfrm>
            <a:off x="3657600" y="4937760"/>
            <a:ext cx="8119872" cy="1188720"/>
          </a:xfrm>
          <a:prstGeom prst="rect">
            <a:avLst/>
          </a:prstGeom>
          <a:noFill/>
        </p:spPr>
        <p:txBody>
          <a:bodyPr wrap="square" anchor="t" lIns="36576" rIns="36576" tIns="36576" bIns="36576">
            <a:spAutoFit/>
          </a:bodyPr>
          <a:lstStyle/>
          <a:p>
            <a:pPr algn="l">
              <a:spcAft>
                <a:spcPts val="600"/>
              </a:spcAft>
            </a:pPr>
            <a:r>
              <a:rPr sz="1300" b="0" i="0">
                <a:solidFill>
                  <a:srgbClr val="5F6670"/>
                </a:solidFill>
                <a:latin typeface="Georgia"/>
              </a:rPr>
              <a:t>Results: results/RESULTS.md · Verification: results/verification/ · Tests: pytest (373)</a:t>
            </a:r>
          </a:p>
          <a:p>
            <a:pPr algn="l">
              <a:spcAft>
                <a:spcPts val="600"/>
              </a:spcAft>
            </a:pPr>
            <a:r>
              <a:rPr sz="1300" b="0" i="0">
                <a:solidFill>
                  <a:srgbClr val="5F6670"/>
                </a:solidFill>
                <a:latin typeface="Georgia"/>
              </a:rPr>
              <a:t>On the Fedora laptop choose the v7 policy; v9 was fitted to the second laptop.</a:t>
            </a:r>
          </a:p>
        </p:txBody>
      </p:sp>
    </p:spTree>
    <p:extLst>
      <p:ext uri="{BB962C8B-B14F-4D97-AF65-F5344CB8AC3E}">
        <p14:creationId xmlns:p14="http://schemas.microsoft.com/office/powerpoint/2010/main" val="104277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39B361-F43B-8C21-B490-80AAA9F6D2BD}"/>
              </a:ext>
            </a:extLst>
          </p:cNvPr>
          <p:cNvSpPr>
            <a:spLocks noGrp="1"/>
          </p:cNvSpPr>
          <p:nvPr>
            <p:ph type="title"/>
          </p:nvPr>
        </p:nvSpPr>
        <p:spPr>
          <a:xfrm>
            <a:off x="566928" y="347472"/>
            <a:ext cx="11210544" cy="466344"/>
          </a:xfrm>
        </p:spPr>
        <p:txBody>
          <a:bodyPr/>
          <a:lstStyle/>
          <a:p>
            <a:r>
              <a:rPr lang="en-IN" dirty="0"/>
              <a:t>Appendix A: Code and Demo</a:t>
            </a:r>
          </a:p>
        </p:txBody>
      </p:sp>
      <p:sp>
        <p:nvSpPr>
          <p:cNvPr id="4" name="Slide Number Placeholder 3">
            <a:extLst>
              <a:ext uri="{FF2B5EF4-FFF2-40B4-BE49-F238E27FC236}">
                <a16:creationId xmlns:a16="http://schemas.microsoft.com/office/drawing/2014/main" id="{83AB3012-FE2D-ECD3-68AC-0DD84E12A5AD}"/>
              </a:ext>
            </a:extLst>
          </p:cNvPr>
          <p:cNvSpPr>
            <a:spLocks noGrp="1"/>
          </p:cNvSpPr>
          <p:nvPr>
            <p:ph type="sldNum" sz="quarter" idx="12"/>
          </p:nvPr>
        </p:nvSpPr>
        <p:spPr/>
        <p:txBody>
          <a:bodyPr/>
          <a:lstStyle/>
          <a:p>
            <a:fld id="{330EA680-D336-4FF7-8B7A-9848BB0A1C32}" type="slidenum">
              <a:rPr lang="en-US" smtClean="0"/>
              <a:pPr/>
              <a:t>17</a:t>
            </a:fld>
            <a:endParaRPr lang="en-US"/>
          </a:p>
        </p:txBody>
      </p:sp>
      <p:sp>
        <p:nvSpPr>
          <p:cNvPr id="5" name="TextBox 4"/>
          <p:cNvSpPr txBox="1"/>
          <p:nvPr/>
        </p:nvSpPr>
        <p:spPr>
          <a:xfrm>
            <a:off x="566928" y="822960"/>
            <a:ext cx="11210544" cy="384048"/>
          </a:xfrm>
          <a:prstGeom prst="rect">
            <a:avLst/>
          </a:prstGeom>
          <a:noFill/>
        </p:spPr>
        <p:txBody>
          <a:bodyPr wrap="square" anchor="t" lIns="36576" rIns="36576" tIns="36576" bIns="36576">
            <a:spAutoFit/>
          </a:bodyPr>
          <a:lstStyle/>
          <a:p>
            <a:pPr algn="l">
              <a:spcAft>
                <a:spcPts val="400"/>
              </a:spcAft>
            </a:pPr>
            <a:r>
              <a:rPr sz="1500" b="0" i="1">
                <a:solidFill>
                  <a:srgbClr val="5F6670"/>
                </a:solidFill>
                <a:latin typeface="Georgia"/>
              </a:rPr>
              <a:t>Demo screenshots from the control center</a:t>
            </a:r>
          </a:p>
        </p:txBody>
      </p:sp>
      <p:pic>
        <p:nvPicPr>
          <p:cNvPr id="6" name="Picture 5" descr="shot_live_lab.png"/>
          <p:cNvPicPr>
            <a:picLocks noChangeAspect="1"/>
          </p:cNvPicPr>
          <p:nvPr/>
        </p:nvPicPr>
        <p:blipFill>
          <a:blip r:embed="rId2"/>
          <a:stretch>
            <a:fillRect/>
          </a:stretch>
        </p:blipFill>
        <p:spPr>
          <a:xfrm>
            <a:off x="566928" y="1325880"/>
            <a:ext cx="5568188" cy="4434840"/>
          </a:xfrm>
          <a:prstGeom prst="rect">
            <a:avLst/>
          </a:prstGeom>
        </p:spPr>
      </p:pic>
      <p:pic>
        <p:nvPicPr>
          <p:cNvPr id="7" name="Picture 6" descr="shot_auto_page.png"/>
          <p:cNvPicPr>
            <a:picLocks noChangeAspect="1"/>
          </p:cNvPicPr>
          <p:nvPr/>
        </p:nvPicPr>
        <p:blipFill>
          <a:blip r:embed="rId3"/>
          <a:stretch>
            <a:fillRect/>
          </a:stretch>
        </p:blipFill>
        <p:spPr>
          <a:xfrm>
            <a:off x="6263640" y="1325880"/>
            <a:ext cx="5513832" cy="4012226"/>
          </a:xfrm>
          <a:prstGeom prst="rect">
            <a:avLst/>
          </a:prstGeom>
        </p:spPr>
      </p:pic>
      <p:sp>
        <p:nvSpPr>
          <p:cNvPr id="8" name="TextBox 7"/>
          <p:cNvSpPr txBox="1"/>
          <p:nvPr/>
        </p:nvSpPr>
        <p:spPr>
          <a:xfrm>
            <a:off x="566928" y="5833872"/>
            <a:ext cx="5394960" cy="365760"/>
          </a:xfrm>
          <a:prstGeom prst="rect">
            <a:avLst/>
          </a:prstGeom>
          <a:noFill/>
        </p:spPr>
        <p:txBody>
          <a:bodyPr wrap="square" anchor="t" lIns="36576" rIns="36576" tIns="36576" bIns="36576">
            <a:spAutoFit/>
          </a:bodyPr>
          <a:lstStyle/>
          <a:p>
            <a:pPr algn="l">
              <a:spcAft>
                <a:spcPts val="400"/>
              </a:spcAft>
            </a:pPr>
            <a:r>
              <a:rPr sz="1200" b="0" i="1">
                <a:solidFill>
                  <a:srgbClr val="5F6670"/>
                </a:solidFill>
                <a:latin typeface="Georgia"/>
              </a:rPr>
              <a:t>Live lab during an Auto-mode flash sale</a:t>
            </a:r>
          </a:p>
        </p:txBody>
      </p:sp>
      <p:sp>
        <p:nvSpPr>
          <p:cNvPr id="9" name="TextBox 8"/>
          <p:cNvSpPr txBox="1"/>
          <p:nvPr/>
        </p:nvSpPr>
        <p:spPr>
          <a:xfrm>
            <a:off x="6263640" y="5440680"/>
            <a:ext cx="5513832" cy="731520"/>
          </a:xfrm>
          <a:prstGeom prst="rect">
            <a:avLst/>
          </a:prstGeom>
          <a:noFill/>
        </p:spPr>
        <p:txBody>
          <a:bodyPr wrap="square" anchor="t" lIns="36576" rIns="36576" tIns="36576" bIns="36576">
            <a:spAutoFit/>
          </a:bodyPr>
          <a:lstStyle/>
          <a:p>
            <a:pPr algn="l">
              <a:spcAft>
                <a:spcPts val="400"/>
              </a:spcAft>
            </a:pPr>
            <a:r>
              <a:rPr sz="1200" b="0" i="1">
                <a:solidFill>
                  <a:srgbClr val="5F6670"/>
                </a:solidFill>
                <a:latin typeface="Georgia"/>
              </a:rPr>
              <a:t>Auto mode page: owner band, hand-offs and rule usage (SLA risk 7%, efficiency 93%)</a:t>
            </a:r>
          </a:p>
        </p:txBody>
      </p:sp>
    </p:spTree>
    <p:extLst>
      <p:ext uri="{BB962C8B-B14F-4D97-AF65-F5344CB8AC3E}">
        <p14:creationId xmlns:p14="http://schemas.microsoft.com/office/powerpoint/2010/main" val="104277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B20097-9570-C07B-EC8E-2723AA6713A6}"/>
              </a:ext>
            </a:extLst>
          </p:cNvPr>
          <p:cNvSpPr>
            <a:spLocks noGrp="1"/>
          </p:cNvSpPr>
          <p:nvPr>
            <p:ph type="title"/>
          </p:nvPr>
        </p:nvSpPr>
        <p:spPr>
          <a:xfrm>
            <a:off x="566928" y="347472"/>
            <a:ext cx="11210544" cy="466344"/>
          </a:xfrm>
        </p:spPr>
        <p:txBody>
          <a:bodyPr/>
          <a:lstStyle/>
          <a:p>
            <a:r>
              <a:rPr lang="en-IN" dirty="0"/>
              <a:t>Project Time Line</a:t>
            </a:r>
          </a:p>
        </p:txBody>
      </p:sp>
      <p:sp>
        <p:nvSpPr>
          <p:cNvPr id="4" name="Slide Number Placeholder 3">
            <a:extLst>
              <a:ext uri="{FF2B5EF4-FFF2-40B4-BE49-F238E27FC236}">
                <a16:creationId xmlns:a16="http://schemas.microsoft.com/office/drawing/2014/main" id="{9C6B69D5-F527-5AE4-40E8-8D291809394E}"/>
              </a:ext>
            </a:extLst>
          </p:cNvPr>
          <p:cNvSpPr>
            <a:spLocks noGrp="1"/>
          </p:cNvSpPr>
          <p:nvPr>
            <p:ph type="sldNum" sz="quarter" idx="12"/>
          </p:nvPr>
        </p:nvSpPr>
        <p:spPr/>
        <p:txBody>
          <a:bodyPr/>
          <a:lstStyle/>
          <a:p>
            <a:fld id="{330EA680-D336-4FF7-8B7A-9848BB0A1C32}" type="slidenum">
              <a:rPr lang="en-US" smtClean="0"/>
              <a:pPr/>
              <a:t>18</a:t>
            </a:fld>
            <a:endParaRPr lang="en-US"/>
          </a:p>
        </p:txBody>
      </p:sp>
      <p:pic>
        <p:nvPicPr>
          <p:cNvPr id="5" name="Picture 4" descr="fig_timeline.png"/>
          <p:cNvPicPr>
            <a:picLocks noChangeAspect="1"/>
          </p:cNvPicPr>
          <p:nvPr/>
        </p:nvPicPr>
        <p:blipFill>
          <a:blip r:embed="rId2"/>
          <a:stretch>
            <a:fillRect/>
          </a:stretch>
        </p:blipFill>
        <p:spPr>
          <a:xfrm>
            <a:off x="1097280" y="1188720"/>
            <a:ext cx="10257425" cy="4983480"/>
          </a:xfrm>
          <a:prstGeom prst="rect">
            <a:avLst/>
          </a:prstGeom>
        </p:spPr>
      </p:pic>
    </p:spTree>
    <p:extLst>
      <p:ext uri="{BB962C8B-B14F-4D97-AF65-F5344CB8AC3E}">
        <p14:creationId xmlns:p14="http://schemas.microsoft.com/office/powerpoint/2010/main" val="380990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6B3C2A-EBF1-950A-D765-B4B567371BBE}"/>
              </a:ext>
            </a:extLst>
          </p:cNvPr>
          <p:cNvSpPr>
            <a:spLocks noGrp="1"/>
          </p:cNvSpPr>
          <p:nvPr>
            <p:ph type="title"/>
          </p:nvPr>
        </p:nvSpPr>
        <p:spPr>
          <a:xfrm>
            <a:off x="566928" y="347472"/>
            <a:ext cx="11210544" cy="466344"/>
          </a:xfrm>
        </p:spPr>
        <p:txBody>
          <a:bodyPr/>
          <a:lstStyle/>
          <a:p>
            <a:r>
              <a:rPr lang="en-IN" dirty="0"/>
              <a:t>Reference</a:t>
            </a:r>
          </a:p>
        </p:txBody>
      </p:sp>
      <p:sp>
        <p:nvSpPr>
          <p:cNvPr id="4" name="Slide Number Placeholder 3">
            <a:extLst>
              <a:ext uri="{FF2B5EF4-FFF2-40B4-BE49-F238E27FC236}">
                <a16:creationId xmlns:a16="http://schemas.microsoft.com/office/drawing/2014/main" id="{C237873F-F900-8517-16FC-11485716321A}"/>
              </a:ext>
            </a:extLst>
          </p:cNvPr>
          <p:cNvSpPr>
            <a:spLocks noGrp="1"/>
          </p:cNvSpPr>
          <p:nvPr>
            <p:ph type="sldNum" sz="quarter" idx="12"/>
          </p:nvPr>
        </p:nvSpPr>
        <p:spPr/>
        <p:txBody>
          <a:bodyPr/>
          <a:lstStyle/>
          <a:p>
            <a:fld id="{330EA680-D336-4FF7-8B7A-9848BB0A1C32}" type="slidenum">
              <a:rPr lang="en-US" smtClean="0"/>
              <a:pPr/>
              <a:t>19</a:t>
            </a:fld>
            <a:endParaRPr lang="en-US"/>
          </a:p>
        </p:txBody>
      </p:sp>
      <p:sp>
        <p:nvSpPr>
          <p:cNvPr id="5" name="TextBox 4"/>
          <p:cNvSpPr txBox="1"/>
          <p:nvPr/>
        </p:nvSpPr>
        <p:spPr>
          <a:xfrm>
            <a:off x="566928" y="1188720"/>
            <a:ext cx="5486400" cy="5029200"/>
          </a:xfrm>
          <a:prstGeom prst="rect">
            <a:avLst/>
          </a:prstGeom>
          <a:noFill/>
        </p:spPr>
        <p:txBody>
          <a:bodyPr wrap="square" anchor="t" lIns="36576" rIns="36576" tIns="36576" bIns="36576">
            <a:spAutoFit/>
          </a:bodyPr>
          <a:lstStyle/>
          <a:p>
            <a:pPr algn="l">
              <a:spcAft>
                <a:spcPts val="900"/>
              </a:spcAft>
            </a:pPr>
            <a:r>
              <a:rPr sz="1250" b="0" i="0">
                <a:solidFill>
                  <a:srgbClr val="222222"/>
                </a:solidFill>
                <a:latin typeface="Georgia"/>
              </a:rPr>
              <a:t>[1] J. Santos et al., “Gwydion: Efficient auto-scaling for complex containerized applications in Kubernetes through RL,” JNCA, vol. 234, 2025.</a:t>
            </a:r>
          </a:p>
          <a:p>
            <a:pPr algn="l">
              <a:spcAft>
                <a:spcPts val="900"/>
              </a:spcAft>
            </a:pPr>
            <a:r>
              <a:rPr sz="1250" b="0" i="0">
                <a:solidFill>
                  <a:srgbClr val="222222"/>
                </a:solidFill>
                <a:latin typeface="Georgia"/>
              </a:rPr>
              <a:t>[2] H. Ahmad et al., “Towards resource-efficient reactive and proactive auto-scaling for microservice architectures,” JSS, vol. 225, 2025.</a:t>
            </a:r>
          </a:p>
          <a:p>
            <a:pPr algn="l">
              <a:spcAft>
                <a:spcPts val="900"/>
              </a:spcAft>
            </a:pPr>
            <a:r>
              <a:rPr sz="1250" b="0" i="0">
                <a:solidFill>
                  <a:srgbClr val="222222"/>
                </a:solidFill>
                <a:latin typeface="Georgia"/>
              </a:rPr>
              <a:t>[3] V. Pandey, “RL-based autoscaling for cost and performance optimization in Kubernetes clusters,” 2025.</a:t>
            </a:r>
          </a:p>
          <a:p>
            <a:pPr algn="l">
              <a:spcAft>
                <a:spcPts val="900"/>
              </a:spcAft>
            </a:pPr>
            <a:r>
              <a:rPr sz="1250" b="0" i="0">
                <a:solidFill>
                  <a:srgbClr val="222222"/>
                </a:solidFill>
                <a:latin typeface="Georgia"/>
              </a:rPr>
              <a:t>[4] Y. Shi et al., “AdaptScale: An adaptive data scaling controller …,” FGCS, vol. 105, pp. 814-823, 2020.</a:t>
            </a:r>
          </a:p>
          <a:p>
            <a:pPr algn="l">
              <a:spcAft>
                <a:spcPts val="900"/>
              </a:spcAft>
            </a:pPr>
            <a:r>
              <a:rPr sz="1250" b="0" i="0">
                <a:solidFill>
                  <a:srgbClr val="222222"/>
                </a:solidFill>
                <a:latin typeface="Georgia"/>
              </a:rPr>
              <a:t>[5] G. El Haj Ahmed et al., “KubCG: A dynamic Kubernetes scheduler for heterogeneous clusters,” SPE, vol. 51, no. 2, 2021.</a:t>
            </a:r>
          </a:p>
          <a:p>
            <a:pPr algn="l">
              <a:spcAft>
                <a:spcPts val="900"/>
              </a:spcAft>
            </a:pPr>
            <a:r>
              <a:rPr sz="1250" b="0" i="0">
                <a:solidFill>
                  <a:srgbClr val="222222"/>
                </a:solidFill>
                <a:latin typeface="Georgia"/>
              </a:rPr>
              <a:t>[6] F. Rossi et al., “Horizontal and vertical scaling of container-based applications using RL,” IEEE CLOUD, 2019.</a:t>
            </a:r>
          </a:p>
          <a:p>
            <a:pPr algn="l">
              <a:spcAft>
                <a:spcPts val="900"/>
              </a:spcAft>
            </a:pPr>
            <a:r>
              <a:rPr sz="1250" b="0" i="0">
                <a:solidFill>
                  <a:srgbClr val="222222"/>
                </a:solidFill>
                <a:latin typeface="Georgia"/>
              </a:rPr>
              <a:t>[7] H. Qiu et al., “FIRM: An intelligent fine-grained resource management framework for SLO-oriented microservices,” OSDI, 2020.</a:t>
            </a:r>
          </a:p>
          <a:p>
            <a:pPr algn="l">
              <a:spcAft>
                <a:spcPts val="900"/>
              </a:spcAft>
            </a:pPr>
            <a:r>
              <a:rPr sz="1250" b="0" i="0">
                <a:solidFill>
                  <a:srgbClr val="222222"/>
                </a:solidFill>
                <a:latin typeface="Georgia"/>
              </a:rPr>
              <a:t>[8] K. Rzadca et al., “Autopilot: Workload autoscaling at Google,” EuroSys, 2020.</a:t>
            </a:r>
          </a:p>
        </p:txBody>
      </p:sp>
      <p:sp>
        <p:nvSpPr>
          <p:cNvPr id="6" name="TextBox 5"/>
          <p:cNvSpPr txBox="1"/>
          <p:nvPr/>
        </p:nvSpPr>
        <p:spPr>
          <a:xfrm>
            <a:off x="6291072" y="1188720"/>
            <a:ext cx="5486400" cy="5029200"/>
          </a:xfrm>
          <a:prstGeom prst="rect">
            <a:avLst/>
          </a:prstGeom>
          <a:noFill/>
        </p:spPr>
        <p:txBody>
          <a:bodyPr wrap="square" anchor="t" lIns="36576" rIns="36576" tIns="36576" bIns="36576">
            <a:spAutoFit/>
          </a:bodyPr>
          <a:lstStyle/>
          <a:p>
            <a:pPr algn="l">
              <a:spcAft>
                <a:spcPts val="900"/>
              </a:spcAft>
            </a:pPr>
            <a:r>
              <a:rPr sz="1250" b="0" i="0">
                <a:solidFill>
                  <a:srgbClr val="222222"/>
                </a:solidFill>
                <a:latin typeface="Georgia"/>
              </a:rPr>
              <a:t>[9] Y. Zhang et al., “Sinan: ML-based and QoS-aware resource management for cloud microservices,” ASPLOS, 2021.</a:t>
            </a:r>
          </a:p>
          <a:p>
            <a:pPr algn="l">
              <a:spcAft>
                <a:spcPts val="900"/>
              </a:spcAft>
            </a:pPr>
            <a:r>
              <a:rPr sz="1250" b="0" i="0">
                <a:solidFill>
                  <a:srgbClr val="222222"/>
                </a:solidFill>
                <a:latin typeface="Georgia"/>
              </a:rPr>
              <a:t>[10] J. Park et al., “GRAF: A GNN based proactive resource allocation framework for SLO-oriented microservices,” CoNEXT, 2021.</a:t>
            </a:r>
          </a:p>
          <a:p>
            <a:pPr algn="l">
              <a:spcAft>
                <a:spcPts val="900"/>
              </a:spcAft>
            </a:pPr>
            <a:r>
              <a:rPr sz="1250" b="0" i="0">
                <a:solidFill>
                  <a:srgbClr val="222222"/>
                </a:solidFill>
                <a:latin typeface="Georgia"/>
              </a:rPr>
              <a:t>[11] S. Luo et al., “Characterizing microservice dependency and performance: Alibaba trace analysis,” SoCC, 2021.</a:t>
            </a:r>
          </a:p>
          <a:p>
            <a:pPr algn="l">
              <a:spcAft>
                <a:spcPts val="900"/>
              </a:spcAft>
            </a:pPr>
            <a:r>
              <a:rPr sz="1250" b="0" i="0">
                <a:solidFill>
                  <a:srgbClr val="222222"/>
                </a:solidFill>
                <a:latin typeface="Georgia"/>
              </a:rPr>
              <a:t>[12] Y. Gan et al., “An open-source benchmark suite for microservices …,” ASPLOS, 2019.</a:t>
            </a:r>
          </a:p>
          <a:p>
            <a:pPr algn="l">
              <a:spcAft>
                <a:spcPts val="900"/>
              </a:spcAft>
            </a:pPr>
            <a:r>
              <a:rPr sz="1250" b="0" i="0">
                <a:solidFill>
                  <a:srgbClr val="222222"/>
                </a:solidFill>
                <a:latin typeface="Georgia"/>
              </a:rPr>
              <a:t>[13] J. Schulman et al., “Proximal policy optimization algorithms,” arXiv:1707.06347, 2017.</a:t>
            </a:r>
          </a:p>
          <a:p>
            <a:pPr algn="l">
              <a:spcAft>
                <a:spcPts val="900"/>
              </a:spcAft>
            </a:pPr>
            <a:r>
              <a:rPr sz="1250" b="0" i="0">
                <a:solidFill>
                  <a:srgbClr val="222222"/>
                </a:solidFill>
                <a:latin typeface="Georgia"/>
              </a:rPr>
              <a:t>[15] A. Raffin et al., “Stable-Baselines3: Reliable RL implementations,” JMLR, vol. 22, 2021.</a:t>
            </a:r>
          </a:p>
          <a:p>
            <a:pPr algn="l">
              <a:spcAft>
                <a:spcPts val="900"/>
              </a:spcAft>
            </a:pPr>
            <a:r>
              <a:rPr sz="1250" b="0" i="0">
                <a:solidFill>
                  <a:srgbClr val="222222"/>
                </a:solidFill>
                <a:latin typeface="Georgia"/>
              </a:rPr>
              <a:t>[19] Kubernetes Authors, “Horizontal Pod Autoscaling,” kubernetes.io documentation, 2026.</a:t>
            </a:r>
          </a:p>
        </p:txBody>
      </p:sp>
    </p:spTree>
    <p:extLst>
      <p:ext uri="{BB962C8B-B14F-4D97-AF65-F5344CB8AC3E}">
        <p14:creationId xmlns:p14="http://schemas.microsoft.com/office/powerpoint/2010/main" val="1506729678"/>
      </p:ext>
    </p:extLst>
  </p:cSld>
  <p:clrMapOvr>
    <a:masterClrMapping/>
  </p:clrMapOvr>
</p:sld>
</file>

<file path=ppt/theme/theme1.xml><?xml version="1.0" encoding="utf-8"?>
<a:theme xmlns:a="http://schemas.openxmlformats.org/drawingml/2006/main" name="AlignmentVTI">
  <a:themeElements>
    <a:clrScheme name="AnalogousFromLightSeed_2SEEDS">
      <a:dk1>
        <a:srgbClr val="000000"/>
      </a:dk1>
      <a:lt1>
        <a:srgbClr val="FFFFFF"/>
      </a:lt1>
      <a:dk2>
        <a:srgbClr val="243741"/>
      </a:dk2>
      <a:lt2>
        <a:srgbClr val="E2E5E8"/>
      </a:lt2>
      <a:accent1>
        <a:srgbClr val="BB9D7E"/>
      </a:accent1>
      <a:accent2>
        <a:srgbClr val="C59791"/>
      </a:accent2>
      <a:accent3>
        <a:srgbClr val="A5A27B"/>
      </a:accent3>
      <a:accent4>
        <a:srgbClr val="74ADA7"/>
      </a:accent4>
      <a:accent5>
        <a:srgbClr val="7EA7BB"/>
      </a:accent5>
      <a:accent6>
        <a:srgbClr val="7E8DBB"/>
      </a:accent6>
      <a:hlink>
        <a:srgbClr val="6184A9"/>
      </a:hlink>
      <a:folHlink>
        <a:srgbClr val="7F7F7F"/>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2199</TotalTime>
  <Words>254</Words>
  <Application>Microsoft Office PowerPoint</Application>
  <PresentationFormat>Widescreen</PresentationFormat>
  <Paragraphs>83</Paragraphs>
  <Slides>19</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19</vt:i4>
      </vt:variant>
    </vt:vector>
  </HeadingPairs>
  <TitlesOfParts>
    <vt:vector size="31" baseType="lpstr">
      <vt:lpstr>Batang</vt:lpstr>
      <vt:lpstr>Aptos</vt:lpstr>
      <vt:lpstr>Aptos Display</vt:lpstr>
      <vt:lpstr>Arial</vt:lpstr>
      <vt:lpstr>Arial Narrow</vt:lpstr>
      <vt:lpstr>Avenir Next LT Pro Light</vt:lpstr>
      <vt:lpstr>Calibri</vt:lpstr>
      <vt:lpstr>Georgia</vt:lpstr>
      <vt:lpstr>Segoe UI</vt:lpstr>
      <vt:lpstr>Times New Roman</vt:lpstr>
      <vt:lpstr>AlignmentVTI</vt:lpstr>
      <vt:lpstr>office theme</vt:lpstr>
      <vt:lpstr>PowerPoint Presentation</vt:lpstr>
      <vt:lpstr>Outline</vt:lpstr>
      <vt:lpstr>INTRODUCTION</vt:lpstr>
      <vt:lpstr>Problem Definition</vt:lpstr>
      <vt:lpstr>Objectives</vt:lpstr>
      <vt:lpstr>Literature Review  </vt:lpstr>
      <vt:lpstr>Research Gap</vt:lpstr>
      <vt:lpstr>Datasets, Platforms, and Implementation Tools</vt:lpstr>
      <vt:lpstr>Proposed Methodology</vt:lpstr>
      <vt:lpstr>Proposed Approach</vt:lpstr>
      <vt:lpstr>Evaluation Setup and Criteria</vt:lpstr>
      <vt:lpstr>Results and Analysis</vt:lpstr>
      <vt:lpstr>Discussion and Limitations</vt:lpstr>
      <vt:lpstr>Conclusion</vt:lpstr>
      <vt:lpstr>Future Work</vt:lpstr>
      <vt:lpstr>Team Contribution</vt:lpstr>
      <vt:lpstr>Appendix A: Code and Demo</vt:lpstr>
      <vt:lpstr>Project Time Line</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Sunitha EV</dc:creator>
  <cp:lastModifiedBy>Dr. Divya Udayan J</cp:lastModifiedBy>
  <cp:revision>494</cp:revision>
  <dcterms:created xsi:type="dcterms:W3CDTF">2025-02-06T04:27:38Z</dcterms:created>
  <dcterms:modified xsi:type="dcterms:W3CDTF">2026-10-18T03:36:07Z</dcterms:modified>
</cp:coreProperties>
</file>